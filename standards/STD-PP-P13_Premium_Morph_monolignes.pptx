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738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3657600" cy="3657600"/>
          </a:xfrm>
          <a:prstGeom prst="ellipse">
            <a:avLst/>
          </a:prstGeom>
          <a:solidFill>
            <a:srgbClr val="1F3A5F"/>
          </a:solidFill>
          <a:ln w="2540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/home/claude/icons/p13_hero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784" y="2615184"/>
            <a:ext cx="1536192" cy="1536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241280" y="320040"/>
            <a:ext cx="137160" cy="137160"/>
          </a:xfrm>
          <a:prstGeom prst="ellips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2"/>
          <p:cNvSpPr/>
          <p:nvPr/>
        </p:nvSpPr>
        <p:spPr>
          <a:xfrm>
            <a:off x="10561320" y="320040"/>
            <a:ext cx="137160" cy="137160"/>
          </a:xfrm>
          <a:prstGeom prst="ellips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3"/>
          <p:cNvSpPr/>
          <p:nvPr/>
        </p:nvSpPr>
        <p:spPr>
          <a:xfrm>
            <a:off x="10881360" y="320040"/>
            <a:ext cx="137160" cy="137160"/>
          </a:xfrm>
          <a:prstGeom prst="ellips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4"/>
          <p:cNvSpPr/>
          <p:nvPr/>
        </p:nvSpPr>
        <p:spPr>
          <a:xfrm>
            <a:off x="4114800" y="640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1100" kern="0" spc="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REXEL FRANCE     •     CLR CHAMPIGNEULLES</a:t>
            </a:r>
            <a:endParaRPr lang="fr-FR" sz="1100" noProof="0" dirty="0"/>
          </a:p>
        </p:txBody>
      </p:sp>
      <p:sp>
        <p:nvSpPr>
          <p:cNvPr id="8" name="Shape 5"/>
          <p:cNvSpPr/>
          <p:nvPr/>
        </p:nvSpPr>
        <p:spPr>
          <a:xfrm>
            <a:off x="5029200" y="1371600"/>
            <a:ext cx="2377440" cy="50292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5029200" y="1371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300" b="1" kern="0" spc="600" noProof="0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P13</a:t>
            </a:r>
            <a:endParaRPr lang="fr-FR" sz="1300" noProof="0" dirty="0"/>
          </a:p>
        </p:txBody>
      </p:sp>
      <p:sp>
        <p:nvSpPr>
          <p:cNvPr id="10" name="Text 7"/>
          <p:cNvSpPr/>
          <p:nvPr/>
        </p:nvSpPr>
        <p:spPr>
          <a:xfrm>
            <a:off x="5029200" y="210312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6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fr-FR" sz="6400" noProof="0" dirty="0"/>
          </a:p>
        </p:txBody>
      </p:sp>
      <p:sp>
        <p:nvSpPr>
          <p:cNvPr id="11" name="Text 8"/>
          <p:cNvSpPr/>
          <p:nvPr/>
        </p:nvSpPr>
        <p:spPr>
          <a:xfrm>
            <a:off x="5029200" y="301752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6400" b="1" i="1" noProof="0" dirty="0" err="1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monolignes</a:t>
            </a:r>
            <a:r>
              <a:rPr lang="fr-FR" sz="6400" b="1" i="1" noProof="0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fr-FR" sz="6400" noProof="0" dirty="0"/>
          </a:p>
        </p:txBody>
      </p:sp>
      <p:sp>
        <p:nvSpPr>
          <p:cNvPr id="12" name="Text 9"/>
          <p:cNvSpPr/>
          <p:nvPr/>
        </p:nvSpPr>
        <p:spPr>
          <a:xfrm>
            <a:off x="5029200" y="4160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800" i="1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étiquette, un article, un C16.</a:t>
            </a:r>
            <a:endParaRPr lang="fr-FR" sz="1800" noProof="0" dirty="0"/>
          </a:p>
        </p:txBody>
      </p:sp>
      <p:sp>
        <p:nvSpPr>
          <p:cNvPr id="13" name="Text 10"/>
          <p:cNvSpPr/>
          <p:nvPr/>
        </p:nvSpPr>
        <p:spPr>
          <a:xfrm>
            <a:off x="5029200" y="4937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100" kern="0" spc="400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STD-PP-P13     •     Février 2026     •     Formation opérateur</a:t>
            </a:r>
            <a:endParaRPr lang="fr-FR" sz="1100" noProof="0" dirty="0"/>
          </a:p>
        </p:txBody>
      </p:sp>
      <p:sp>
        <p:nvSpPr>
          <p:cNvPr id="14" name="Text 11"/>
          <p:cNvSpPr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kern="0" spc="600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Pack  —  Document contrôlé  —  Usage interne</a:t>
            </a:r>
            <a:endParaRPr lang="fr-FR" sz="1000" noProof="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18304" y="640080"/>
            <a:ext cx="2743200" cy="2743200"/>
          </a:xfrm>
          <a:prstGeom prst="ellipse">
            <a:avLst/>
          </a:prstGeom>
          <a:solidFill>
            <a:srgbClr val="1F3A5F"/>
          </a:solidFill>
          <a:ln w="2540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/home/claude/icons/p13_hero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1435608"/>
            <a:ext cx="1152144" cy="1152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9319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3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1 étiquette, 1 article,</a:t>
            </a:r>
            <a:endParaRPr lang="fr-FR" sz="3800" noProof="0" dirty="0"/>
          </a:p>
        </p:txBody>
      </p:sp>
      <p:sp>
        <p:nvSpPr>
          <p:cNvPr id="5" name="Text 2"/>
          <p:cNvSpPr/>
          <p:nvPr/>
        </p:nvSpPr>
        <p:spPr>
          <a:xfrm>
            <a:off x="457200" y="4663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3800" b="1" i="1" noProof="0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C16. »</a:t>
            </a:r>
            <a:endParaRPr lang="fr-FR" sz="3800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300" kern="0" spc="1200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FONDATEUR</a:t>
            </a:r>
            <a:endParaRPr lang="fr-FR" sz="1300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0A1F3D"/>
          </a:solidFill>
          <a:ln w="3175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/home/claude/icons/p13_section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3891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Étiquettes d'expédition</a:t>
            </a:r>
            <a:endParaRPr lang="fr-FR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141732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300" i="1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d'étiquette de prélèvement — étiquette d'expédition seule</a:t>
            </a:r>
            <a:endParaRPr lang="fr-FR" sz="1300" noProof="0" dirty="0"/>
          </a:p>
        </p:txBody>
      </p:sp>
      <p:sp>
        <p:nvSpPr>
          <p:cNvPr id="6" name="Text 3"/>
          <p:cNvSpPr/>
          <p:nvPr/>
        </p:nvSpPr>
        <p:spPr>
          <a:xfrm>
            <a:off x="9601200" y="502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1800" b="1" kern="0" spc="800" noProof="0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03</a:t>
            </a:r>
            <a:endParaRPr lang="fr-FR" sz="1800" noProof="0" dirty="0"/>
          </a:p>
        </p:txBody>
      </p:sp>
      <p:sp>
        <p:nvSpPr>
          <p:cNvPr id="7" name="Shape 4"/>
          <p:cNvSpPr/>
          <p:nvPr/>
        </p:nvSpPr>
        <p:spPr>
          <a:xfrm>
            <a:off x="10241280" y="868680"/>
            <a:ext cx="1417320" cy="0"/>
          </a:xfrm>
          <a:prstGeom prst="line">
            <a:avLst/>
          </a:prstGeom>
          <a:noFill/>
          <a:ln w="2540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48640" y="1746504"/>
            <a:ext cx="3566160" cy="73152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35661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1691640" y="2194560"/>
            <a:ext cx="1280160" cy="1280160"/>
          </a:xfrm>
          <a:prstGeom prst="ellipse">
            <a:avLst/>
          </a:prstGeom>
          <a:solidFill>
            <a:srgbClr val="EEF1F8"/>
          </a:solidFill>
          <a:ln w="19050">
            <a:solidFill>
              <a:srgbClr val="0A1F3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/home/claude/icons/p13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8820" y="2491740"/>
            <a:ext cx="685800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36576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</a:t>
            </a:r>
            <a:endParaRPr lang="fr-FR" sz="2200" noProof="0" dirty="0"/>
          </a:p>
        </p:txBody>
      </p:sp>
      <p:sp>
        <p:nvSpPr>
          <p:cNvPr id="13" name="Text 9"/>
          <p:cNvSpPr/>
          <p:nvPr/>
        </p:nvSpPr>
        <p:spPr>
          <a:xfrm>
            <a:off x="731520" y="4206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fr-FR" sz="1300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 la tournée de </a:t>
            </a:r>
            <a:r>
              <a:rPr lang="fr-FR" sz="1300" noProof="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monolignes</a:t>
            </a:r>
            <a:r>
              <a:rPr lang="fr-FR" sz="1300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 algn="ctr">
              <a:buNone/>
            </a:pPr>
            <a:endParaRPr lang="fr-FR" sz="1300" noProof="0" dirty="0"/>
          </a:p>
        </p:txBody>
      </p:sp>
      <p:sp>
        <p:nvSpPr>
          <p:cNvPr id="14" name="Shape 10"/>
          <p:cNvSpPr/>
          <p:nvPr/>
        </p:nvSpPr>
        <p:spPr>
          <a:xfrm>
            <a:off x="4315968" y="1746504"/>
            <a:ext cx="3566160" cy="73152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1"/>
          <p:cNvSpPr/>
          <p:nvPr/>
        </p:nvSpPr>
        <p:spPr>
          <a:xfrm>
            <a:off x="4315968" y="1783080"/>
            <a:ext cx="35661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2"/>
          <p:cNvSpPr/>
          <p:nvPr/>
        </p:nvSpPr>
        <p:spPr>
          <a:xfrm>
            <a:off x="5458968" y="2194560"/>
            <a:ext cx="1280160" cy="1280160"/>
          </a:xfrm>
          <a:prstGeom prst="ellipse">
            <a:avLst/>
          </a:prstGeom>
          <a:solidFill>
            <a:srgbClr val="EEF1F8"/>
          </a:solidFill>
          <a:ln w="19050">
            <a:solidFill>
              <a:srgbClr val="0A1F3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7" name="Image 2" descr="/home/claude/icons/p13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6148" y="2491740"/>
            <a:ext cx="685800" cy="685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15968" y="36576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</a:t>
            </a:r>
            <a:endParaRPr lang="fr-FR" sz="2200" noProof="0" dirty="0"/>
          </a:p>
        </p:txBody>
      </p:sp>
      <p:sp>
        <p:nvSpPr>
          <p:cNvPr id="19" name="Text 14"/>
          <p:cNvSpPr/>
          <p:nvPr/>
        </p:nvSpPr>
        <p:spPr>
          <a:xfrm>
            <a:off x="4498848" y="4206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fr-FR" sz="1300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article + quantité </a:t>
            </a:r>
            <a:r>
              <a:rPr lang="fr-FR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</a:t>
            </a:r>
            <a:r>
              <a:rPr lang="fr-FR" sz="1300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C16.</a:t>
            </a:r>
            <a:endParaRPr lang="fr-FR" sz="1300" noProof="0" dirty="0"/>
          </a:p>
        </p:txBody>
      </p:sp>
      <p:sp>
        <p:nvSpPr>
          <p:cNvPr id="20" name="Shape 15"/>
          <p:cNvSpPr/>
          <p:nvPr/>
        </p:nvSpPr>
        <p:spPr>
          <a:xfrm>
            <a:off x="8083296" y="1746504"/>
            <a:ext cx="3566160" cy="73152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6"/>
          <p:cNvSpPr/>
          <p:nvPr/>
        </p:nvSpPr>
        <p:spPr>
          <a:xfrm>
            <a:off x="8083296" y="1783080"/>
            <a:ext cx="35661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7"/>
          <p:cNvSpPr/>
          <p:nvPr/>
        </p:nvSpPr>
        <p:spPr>
          <a:xfrm>
            <a:off x="9226296" y="2194560"/>
            <a:ext cx="1280160" cy="1280160"/>
          </a:xfrm>
          <a:prstGeom prst="ellipse">
            <a:avLst/>
          </a:prstGeom>
          <a:solidFill>
            <a:srgbClr val="EEF1F8"/>
          </a:solidFill>
          <a:ln w="19050">
            <a:solidFill>
              <a:srgbClr val="0A1F3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3" descr="/home/claude/icons/p13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3476" y="2491740"/>
            <a:ext cx="685800" cy="6858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83296" y="36576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</a:t>
            </a:r>
            <a:endParaRPr lang="fr-FR" sz="2200" noProof="0" dirty="0"/>
          </a:p>
        </p:txBody>
      </p:sp>
      <p:sp>
        <p:nvSpPr>
          <p:cNvPr id="25" name="Text 19"/>
          <p:cNvSpPr/>
          <p:nvPr/>
        </p:nvSpPr>
        <p:spPr>
          <a:xfrm>
            <a:off x="8266176" y="4206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fr-FR" sz="1300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Code-barres lisible, non plié, non abîmé.</a:t>
            </a:r>
            <a:endParaRPr lang="fr-FR" sz="1300" noProof="0" dirty="0"/>
          </a:p>
        </p:txBody>
      </p:sp>
      <p:sp>
        <p:nvSpPr>
          <p:cNvPr id="26" name="Shape 20"/>
          <p:cNvSpPr/>
          <p:nvPr/>
        </p:nvSpPr>
        <p:spPr>
          <a:xfrm>
            <a:off x="457200" y="5852160"/>
            <a:ext cx="11274552" cy="59436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7" name="Image 4" descr="icons/warn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961888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88720" y="58521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d'étiquettes = nombre de C16 à préparer. Ne pas coller les étiquettes expéditions sur les contenants avant de partir en préparation.</a:t>
            </a:r>
            <a:endParaRPr lang="fr-FR" sz="1400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0A1F3D"/>
          </a:solidFill>
          <a:ln w="3175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/home/claude/icons/p13_section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3891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Prélèvement &amp; contenant</a:t>
            </a:r>
            <a:endParaRPr lang="fr-FR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141732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300" i="1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gestes qui garantissent le zéro mélange</a:t>
            </a:r>
            <a:endParaRPr lang="fr-FR" sz="1300" noProof="0" dirty="0"/>
          </a:p>
        </p:txBody>
      </p:sp>
      <p:sp>
        <p:nvSpPr>
          <p:cNvPr id="6" name="Text 3"/>
          <p:cNvSpPr/>
          <p:nvPr/>
        </p:nvSpPr>
        <p:spPr>
          <a:xfrm>
            <a:off x="9601200" y="502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1800" b="1" kern="0" spc="800" noProof="0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03</a:t>
            </a:r>
            <a:endParaRPr lang="fr-FR" sz="1800" noProof="0" dirty="0"/>
          </a:p>
        </p:txBody>
      </p:sp>
      <p:sp>
        <p:nvSpPr>
          <p:cNvPr id="7" name="Shape 4"/>
          <p:cNvSpPr/>
          <p:nvPr/>
        </p:nvSpPr>
        <p:spPr>
          <a:xfrm>
            <a:off x="10241280" y="868680"/>
            <a:ext cx="1417320" cy="0"/>
          </a:xfrm>
          <a:prstGeom prst="line">
            <a:avLst/>
          </a:prstGeom>
          <a:noFill/>
          <a:ln w="2540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02920" y="1783080"/>
            <a:ext cx="109728" cy="3931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612648" y="1783080"/>
            <a:ext cx="5285232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822960" y="2075688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8"/>
          <p:cNvSpPr/>
          <p:nvPr/>
        </p:nvSpPr>
        <p:spPr>
          <a:xfrm>
            <a:off x="822960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2200" noProof="0" dirty="0"/>
          </a:p>
        </p:txBody>
      </p:sp>
      <p:sp>
        <p:nvSpPr>
          <p:cNvPr id="12" name="Text 9"/>
          <p:cNvSpPr/>
          <p:nvPr/>
        </p:nvSpPr>
        <p:spPr>
          <a:xfrm>
            <a:off x="1417320" y="2103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000" b="1" kern="0" spc="800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fr-FR" sz="2000" noProof="0" dirty="0"/>
          </a:p>
        </p:txBody>
      </p:sp>
      <p:sp>
        <p:nvSpPr>
          <p:cNvPr id="13" name="Shape 10"/>
          <p:cNvSpPr/>
          <p:nvPr/>
        </p:nvSpPr>
        <p:spPr>
          <a:xfrm>
            <a:off x="868680" y="28803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1"/>
          <p:cNvSpPr/>
          <p:nvPr/>
        </p:nvSpPr>
        <p:spPr>
          <a:xfrm>
            <a:off x="86868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400" noProof="0" dirty="0"/>
          </a:p>
        </p:txBody>
      </p:sp>
      <p:sp>
        <p:nvSpPr>
          <p:cNvPr id="15" name="Text 12"/>
          <p:cNvSpPr/>
          <p:nvPr/>
        </p:nvSpPr>
        <p:spPr>
          <a:xfrm>
            <a:off x="1417320" y="284378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500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Prélever 1 article exact par étiquette</a:t>
            </a:r>
            <a:endParaRPr lang="fr-FR" sz="1500" noProof="0" dirty="0"/>
          </a:p>
        </p:txBody>
      </p:sp>
      <p:sp>
        <p:nvSpPr>
          <p:cNvPr id="16" name="Shape 13"/>
          <p:cNvSpPr/>
          <p:nvPr/>
        </p:nvSpPr>
        <p:spPr>
          <a:xfrm>
            <a:off x="868680" y="37490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4"/>
          <p:cNvSpPr/>
          <p:nvPr/>
        </p:nvSpPr>
        <p:spPr>
          <a:xfrm>
            <a:off x="86868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400" noProof="0" dirty="0"/>
          </a:p>
        </p:txBody>
      </p:sp>
      <p:sp>
        <p:nvSpPr>
          <p:cNvPr id="18" name="Text 15"/>
          <p:cNvSpPr/>
          <p:nvPr/>
        </p:nvSpPr>
        <p:spPr>
          <a:xfrm>
            <a:off x="1417320" y="371246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500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désignation (référence) avant de placer</a:t>
            </a:r>
            <a:endParaRPr lang="fr-FR" sz="1500" noProof="0" dirty="0"/>
          </a:p>
        </p:txBody>
      </p:sp>
      <p:sp>
        <p:nvSpPr>
          <p:cNvPr id="19" name="Shape 16"/>
          <p:cNvSpPr/>
          <p:nvPr/>
        </p:nvSpPr>
        <p:spPr>
          <a:xfrm>
            <a:off x="868680" y="461772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7"/>
          <p:cNvSpPr/>
          <p:nvPr/>
        </p:nvSpPr>
        <p:spPr>
          <a:xfrm>
            <a:off x="868680" y="4617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400" noProof="0" dirty="0"/>
          </a:p>
        </p:txBody>
      </p:sp>
      <p:sp>
        <p:nvSpPr>
          <p:cNvPr id="21" name="Text 18"/>
          <p:cNvSpPr/>
          <p:nvPr/>
        </p:nvSpPr>
        <p:spPr>
          <a:xfrm>
            <a:off x="1417320" y="458114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500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Placer dans un C16 vide et propre</a:t>
            </a:r>
            <a:endParaRPr lang="fr-FR" sz="1500" noProof="0" dirty="0"/>
          </a:p>
        </p:txBody>
      </p:sp>
      <p:sp>
        <p:nvSpPr>
          <p:cNvPr id="22" name="Shape 19"/>
          <p:cNvSpPr/>
          <p:nvPr/>
        </p:nvSpPr>
        <p:spPr>
          <a:xfrm>
            <a:off x="6291072" y="1783080"/>
            <a:ext cx="109728" cy="3931920"/>
          </a:xfrm>
          <a:prstGeom prst="rect">
            <a:avLst/>
          </a:prstGeom>
          <a:solidFill>
            <a:srgbClr val="D63239"/>
          </a:solidFill>
          <a:ln w="12700">
            <a:solidFill>
              <a:srgbClr val="D6323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0"/>
          <p:cNvSpPr/>
          <p:nvPr/>
        </p:nvSpPr>
        <p:spPr>
          <a:xfrm>
            <a:off x="6400800" y="1783080"/>
            <a:ext cx="5285232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Shape 21"/>
          <p:cNvSpPr/>
          <p:nvPr/>
        </p:nvSpPr>
        <p:spPr>
          <a:xfrm>
            <a:off x="6611112" y="2075688"/>
            <a:ext cx="457200" cy="457200"/>
          </a:xfrm>
          <a:prstGeom prst="ellipse">
            <a:avLst/>
          </a:prstGeom>
          <a:solidFill>
            <a:srgbClr val="D63239"/>
          </a:solidFill>
          <a:ln w="12700">
            <a:solidFill>
              <a:srgbClr val="D6323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Text 22"/>
          <p:cNvSpPr/>
          <p:nvPr/>
        </p:nvSpPr>
        <p:spPr>
          <a:xfrm>
            <a:off x="6611112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</a:t>
            </a:r>
            <a:endParaRPr lang="fr-FR" sz="2200" noProof="0" dirty="0"/>
          </a:p>
        </p:txBody>
      </p:sp>
      <p:sp>
        <p:nvSpPr>
          <p:cNvPr id="26" name="Text 23"/>
          <p:cNvSpPr/>
          <p:nvPr/>
        </p:nvSpPr>
        <p:spPr>
          <a:xfrm>
            <a:off x="7205472" y="2103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000" b="1" kern="0" spc="800" noProof="0" dirty="0">
                <a:solidFill>
                  <a:srgbClr val="D6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</a:t>
            </a:r>
            <a:endParaRPr lang="fr-FR" sz="2000" noProof="0" dirty="0"/>
          </a:p>
        </p:txBody>
      </p:sp>
      <p:sp>
        <p:nvSpPr>
          <p:cNvPr id="27" name="Shape 24"/>
          <p:cNvSpPr/>
          <p:nvPr/>
        </p:nvSpPr>
        <p:spPr>
          <a:xfrm>
            <a:off x="6656832" y="2880360"/>
            <a:ext cx="411480" cy="411480"/>
          </a:xfrm>
          <a:prstGeom prst="ellipse">
            <a:avLst/>
          </a:prstGeom>
          <a:solidFill>
            <a:srgbClr val="D63239"/>
          </a:solidFill>
          <a:ln w="12700">
            <a:solidFill>
              <a:srgbClr val="D6323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5"/>
          <p:cNvSpPr/>
          <p:nvPr/>
        </p:nvSpPr>
        <p:spPr>
          <a:xfrm>
            <a:off x="6656832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600" noProof="0" dirty="0"/>
          </a:p>
        </p:txBody>
      </p:sp>
      <p:sp>
        <p:nvSpPr>
          <p:cNvPr id="29" name="Text 26"/>
          <p:cNvSpPr/>
          <p:nvPr/>
        </p:nvSpPr>
        <p:spPr>
          <a:xfrm>
            <a:off x="7205472" y="284378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500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 articles dans le même C16</a:t>
            </a:r>
            <a:endParaRPr lang="fr-FR" sz="1500" noProof="0" dirty="0"/>
          </a:p>
        </p:txBody>
      </p:sp>
      <p:sp>
        <p:nvSpPr>
          <p:cNvPr id="30" name="Shape 27"/>
          <p:cNvSpPr/>
          <p:nvPr/>
        </p:nvSpPr>
        <p:spPr>
          <a:xfrm>
            <a:off x="6656832" y="3749040"/>
            <a:ext cx="411480" cy="411480"/>
          </a:xfrm>
          <a:prstGeom prst="ellipse">
            <a:avLst/>
          </a:prstGeom>
          <a:solidFill>
            <a:srgbClr val="D63239"/>
          </a:solidFill>
          <a:ln w="12700">
            <a:solidFill>
              <a:srgbClr val="D6323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8"/>
          <p:cNvSpPr/>
          <p:nvPr/>
        </p:nvSpPr>
        <p:spPr>
          <a:xfrm>
            <a:off x="6656832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600" noProof="0" dirty="0"/>
          </a:p>
        </p:txBody>
      </p:sp>
      <p:sp>
        <p:nvSpPr>
          <p:cNvPr id="32" name="Text 29"/>
          <p:cNvSpPr/>
          <p:nvPr/>
        </p:nvSpPr>
        <p:spPr>
          <a:xfrm>
            <a:off x="7205472" y="371246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500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D'intervertir les étiquettes d'expédition</a:t>
            </a:r>
            <a:endParaRPr lang="fr-FR" sz="1500" noProof="0" dirty="0"/>
          </a:p>
        </p:txBody>
      </p:sp>
      <p:sp>
        <p:nvSpPr>
          <p:cNvPr id="33" name="Shape 30"/>
          <p:cNvSpPr/>
          <p:nvPr/>
        </p:nvSpPr>
        <p:spPr>
          <a:xfrm>
            <a:off x="6656832" y="4617720"/>
            <a:ext cx="411480" cy="411480"/>
          </a:xfrm>
          <a:prstGeom prst="ellipse">
            <a:avLst/>
          </a:prstGeom>
          <a:solidFill>
            <a:srgbClr val="D63239"/>
          </a:solidFill>
          <a:ln w="12700">
            <a:solidFill>
              <a:srgbClr val="D6323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31"/>
          <p:cNvSpPr/>
          <p:nvPr/>
        </p:nvSpPr>
        <p:spPr>
          <a:xfrm>
            <a:off x="6656832" y="4617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600" noProof="0" dirty="0"/>
          </a:p>
        </p:txBody>
      </p:sp>
      <p:sp>
        <p:nvSpPr>
          <p:cNvPr id="35" name="Text 32"/>
          <p:cNvSpPr/>
          <p:nvPr/>
        </p:nvSpPr>
        <p:spPr>
          <a:xfrm>
            <a:off x="7205472" y="458114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500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coller sans vérifier la correspondance</a:t>
            </a:r>
            <a:endParaRPr lang="fr-FR" sz="1500" noProof="0" dirty="0"/>
          </a:p>
        </p:txBody>
      </p:sp>
      <p:sp>
        <p:nvSpPr>
          <p:cNvPr id="36" name="Text 33"/>
          <p:cNvSpPr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b="1" i="1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article. Un C16. Pas de mélange.</a:t>
            </a:r>
            <a:endParaRPr lang="fr-FR" sz="1800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0A1F3D"/>
          </a:solidFill>
          <a:ln w="3175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/home/claude/icons/p13_section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3891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Étiquetage &amp; contrôle final</a:t>
            </a:r>
            <a:endParaRPr lang="fr-FR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141732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300" i="1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fermer : 3 actions obligatoires</a:t>
            </a:r>
            <a:endParaRPr lang="fr-FR" sz="1300" noProof="0" dirty="0"/>
          </a:p>
        </p:txBody>
      </p:sp>
      <p:sp>
        <p:nvSpPr>
          <p:cNvPr id="6" name="Text 3"/>
          <p:cNvSpPr/>
          <p:nvPr/>
        </p:nvSpPr>
        <p:spPr>
          <a:xfrm>
            <a:off x="9601200" y="502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1800" b="1" kern="0" spc="800" noProof="0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03</a:t>
            </a:r>
            <a:endParaRPr lang="fr-FR" sz="1800" noProof="0" dirty="0"/>
          </a:p>
        </p:txBody>
      </p:sp>
      <p:sp>
        <p:nvSpPr>
          <p:cNvPr id="7" name="Shape 4"/>
          <p:cNvSpPr/>
          <p:nvPr/>
        </p:nvSpPr>
        <p:spPr>
          <a:xfrm>
            <a:off x="10241280" y="868680"/>
            <a:ext cx="1417320" cy="0"/>
          </a:xfrm>
          <a:prstGeom prst="line">
            <a:avLst/>
          </a:prstGeom>
          <a:noFill/>
          <a:ln w="2540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640080" y="1783080"/>
            <a:ext cx="34747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310896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D8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6000" noProof="0" dirty="0"/>
          </a:p>
        </p:txBody>
      </p:sp>
      <p:sp>
        <p:nvSpPr>
          <p:cNvPr id="10" name="Shape 7"/>
          <p:cNvSpPr/>
          <p:nvPr/>
        </p:nvSpPr>
        <p:spPr>
          <a:xfrm>
            <a:off x="1051560" y="2240280"/>
            <a:ext cx="1143000" cy="114300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/home/claude/icons/p13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51460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3611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200" b="1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Coller</a:t>
            </a:r>
            <a:endParaRPr lang="fr-FR" sz="2200" noProof="0" dirty="0"/>
          </a:p>
        </p:txBody>
      </p:sp>
      <p:sp>
        <p:nvSpPr>
          <p:cNvPr id="13" name="Text 9"/>
          <p:cNvSpPr/>
          <p:nvPr/>
        </p:nvSpPr>
        <p:spPr>
          <a:xfrm>
            <a:off x="1005840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200" b="1" i="1" noProof="0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l'étiquette</a:t>
            </a:r>
            <a:endParaRPr lang="fr-FR" sz="2200" noProof="0" dirty="0"/>
          </a:p>
        </p:txBody>
      </p:sp>
      <p:sp>
        <p:nvSpPr>
          <p:cNvPr id="14" name="Shape 10"/>
          <p:cNvSpPr/>
          <p:nvPr/>
        </p:nvSpPr>
        <p:spPr>
          <a:xfrm>
            <a:off x="1005840" y="4572000"/>
            <a:ext cx="411480" cy="0"/>
          </a:xfrm>
          <a:prstGeom prst="line">
            <a:avLst/>
          </a:prstGeom>
          <a:noFill/>
          <a:ln w="1905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1"/>
          <p:cNvSpPr/>
          <p:nvPr/>
        </p:nvSpPr>
        <p:spPr>
          <a:xfrm>
            <a:off x="1005840" y="4709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C16 correspondant. Code-barres lisible.</a:t>
            </a:r>
            <a:endParaRPr lang="fr-FR" sz="1200" noProof="0" dirty="0"/>
          </a:p>
        </p:txBody>
      </p:sp>
      <p:sp>
        <p:nvSpPr>
          <p:cNvPr id="16" name="Shape 12"/>
          <p:cNvSpPr/>
          <p:nvPr/>
        </p:nvSpPr>
        <p:spPr>
          <a:xfrm>
            <a:off x="4119372" y="3337560"/>
            <a:ext cx="237744" cy="365760"/>
          </a:xfrm>
          <a:prstGeom prst="chevron">
            <a:avLst/>
          </a:prstGeom>
          <a:solidFill>
            <a:srgbClr val="C8CFDC"/>
          </a:solidFill>
          <a:ln w="12700">
            <a:solidFill>
              <a:srgbClr val="C8CFD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3"/>
          <p:cNvSpPr/>
          <p:nvPr/>
        </p:nvSpPr>
        <p:spPr>
          <a:xfrm>
            <a:off x="4361688" y="1783080"/>
            <a:ext cx="34747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4"/>
          <p:cNvSpPr/>
          <p:nvPr/>
        </p:nvSpPr>
        <p:spPr>
          <a:xfrm>
            <a:off x="6830568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D8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6000" noProof="0" dirty="0"/>
          </a:p>
        </p:txBody>
      </p:sp>
      <p:sp>
        <p:nvSpPr>
          <p:cNvPr id="19" name="Shape 15"/>
          <p:cNvSpPr/>
          <p:nvPr/>
        </p:nvSpPr>
        <p:spPr>
          <a:xfrm>
            <a:off x="4773168" y="2240280"/>
            <a:ext cx="1143000" cy="114300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0" name="Image 2" descr="/home/claude/icons/p13_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2514600"/>
            <a:ext cx="594360" cy="5943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27448" y="3611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200" b="1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</a:t>
            </a:r>
            <a:endParaRPr lang="fr-FR" sz="2200" noProof="0" dirty="0"/>
          </a:p>
        </p:txBody>
      </p:sp>
      <p:sp>
        <p:nvSpPr>
          <p:cNvPr id="22" name="Text 17"/>
          <p:cNvSpPr/>
          <p:nvPr/>
        </p:nvSpPr>
        <p:spPr>
          <a:xfrm>
            <a:off x="4727448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200" b="1" i="1" noProof="0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correspondance</a:t>
            </a:r>
            <a:endParaRPr lang="fr-FR" sz="2200" noProof="0" dirty="0"/>
          </a:p>
        </p:txBody>
      </p:sp>
      <p:sp>
        <p:nvSpPr>
          <p:cNvPr id="23" name="Shape 18"/>
          <p:cNvSpPr/>
          <p:nvPr/>
        </p:nvSpPr>
        <p:spPr>
          <a:xfrm>
            <a:off x="4727448" y="4572000"/>
            <a:ext cx="411480" cy="0"/>
          </a:xfrm>
          <a:prstGeom prst="line">
            <a:avLst/>
          </a:prstGeom>
          <a:noFill/>
          <a:ln w="1905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19"/>
          <p:cNvSpPr/>
          <p:nvPr/>
        </p:nvSpPr>
        <p:spPr>
          <a:xfrm>
            <a:off x="4727448" y="4709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= étiquette. Un doute : vérifier.</a:t>
            </a:r>
            <a:endParaRPr lang="fr-FR" sz="1200" noProof="0" dirty="0"/>
          </a:p>
        </p:txBody>
      </p:sp>
      <p:sp>
        <p:nvSpPr>
          <p:cNvPr id="25" name="Shape 20"/>
          <p:cNvSpPr/>
          <p:nvPr/>
        </p:nvSpPr>
        <p:spPr>
          <a:xfrm>
            <a:off x="7840980" y="3337560"/>
            <a:ext cx="237744" cy="365760"/>
          </a:xfrm>
          <a:prstGeom prst="chevron">
            <a:avLst/>
          </a:prstGeom>
          <a:solidFill>
            <a:srgbClr val="C8CFDC"/>
          </a:solidFill>
          <a:ln w="12700">
            <a:solidFill>
              <a:srgbClr val="C8CFD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1"/>
          <p:cNvSpPr/>
          <p:nvPr/>
        </p:nvSpPr>
        <p:spPr>
          <a:xfrm>
            <a:off x="8083296" y="1783080"/>
            <a:ext cx="34747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2"/>
          <p:cNvSpPr/>
          <p:nvPr/>
        </p:nvSpPr>
        <p:spPr>
          <a:xfrm>
            <a:off x="10552176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D8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6000" noProof="0" dirty="0"/>
          </a:p>
        </p:txBody>
      </p:sp>
      <p:sp>
        <p:nvSpPr>
          <p:cNvPr id="28" name="Shape 23"/>
          <p:cNvSpPr/>
          <p:nvPr/>
        </p:nvSpPr>
        <p:spPr>
          <a:xfrm>
            <a:off x="8494776" y="2240280"/>
            <a:ext cx="1143000" cy="114300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9" name="Image 3" descr="/home/claude/icons/p13_ha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9096" y="2514600"/>
            <a:ext cx="594360" cy="5943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449056" y="3611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200" b="1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Ranger</a:t>
            </a:r>
            <a:endParaRPr lang="fr-FR" sz="2200" noProof="0" dirty="0"/>
          </a:p>
        </p:txBody>
      </p:sp>
      <p:sp>
        <p:nvSpPr>
          <p:cNvPr id="31" name="Text 25"/>
          <p:cNvSpPr/>
          <p:nvPr/>
        </p:nvSpPr>
        <p:spPr>
          <a:xfrm>
            <a:off x="8449056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200" b="1" i="1" noProof="0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l'emplacement</a:t>
            </a:r>
            <a:endParaRPr lang="fr-FR" sz="2200" noProof="0" dirty="0"/>
          </a:p>
        </p:txBody>
      </p:sp>
      <p:sp>
        <p:nvSpPr>
          <p:cNvPr id="32" name="Shape 26"/>
          <p:cNvSpPr/>
          <p:nvPr/>
        </p:nvSpPr>
        <p:spPr>
          <a:xfrm>
            <a:off x="8449056" y="4572000"/>
            <a:ext cx="411480" cy="0"/>
          </a:xfrm>
          <a:prstGeom prst="line">
            <a:avLst/>
          </a:prstGeom>
          <a:noFill/>
          <a:ln w="1905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27"/>
          <p:cNvSpPr/>
          <p:nvPr/>
        </p:nvSpPr>
        <p:spPr>
          <a:xfrm>
            <a:off x="8449056" y="4709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Propre après prélèvement. Prêt pour le suivant.</a:t>
            </a:r>
            <a:endParaRPr lang="fr-FR" sz="1200" noProof="0" dirty="0"/>
          </a:p>
        </p:txBody>
      </p:sp>
      <p:sp>
        <p:nvSpPr>
          <p:cNvPr id="34" name="Text 28"/>
          <p:cNvSpPr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600" i="1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= étiquette  •  Code-barres lisible  •  Emplacement rangé</a:t>
            </a:r>
            <a:endParaRPr lang="fr-FR" sz="1600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b="1" kern="0" spc="1200" noProof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RISQUES RÉELS</a:t>
            </a:r>
            <a:endParaRPr lang="fr-FR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arrive si on saute les règles </a:t>
            </a:r>
            <a:r>
              <a:rPr lang="fr-FR" sz="30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monolignes</a:t>
            </a:r>
            <a:endParaRPr lang="fr-F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02920" cy="0"/>
          </a:xfrm>
          <a:prstGeom prst="line">
            <a:avLst/>
          </a:prstGeom>
          <a:noFill/>
          <a:ln w="3175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1883664"/>
            <a:ext cx="3611880" cy="731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3611880" cy="3931920"/>
          </a:xfrm>
          <a:prstGeom prst="rect">
            <a:avLst/>
          </a:prstGeom>
          <a:solidFill>
            <a:srgbClr val="15294E"/>
          </a:solidFill>
          <a:ln w="12700">
            <a:solidFill>
              <a:srgbClr val="1529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7" name="Image 0" descr="icons/risk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86000"/>
            <a:ext cx="59436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9718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</a:t>
            </a:r>
            <a:endParaRPr lang="fr-FR" sz="3000" noProof="0" dirty="0"/>
          </a:p>
        </p:txBody>
      </p:sp>
      <p:sp>
        <p:nvSpPr>
          <p:cNvPr id="9" name="Text 6"/>
          <p:cNvSpPr/>
          <p:nvPr/>
        </p:nvSpPr>
        <p:spPr>
          <a:xfrm>
            <a:off x="1005840" y="3474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 C16</a:t>
            </a:r>
            <a:endParaRPr lang="fr-FR" sz="1400" noProof="0" dirty="0"/>
          </a:p>
        </p:txBody>
      </p:sp>
      <p:sp>
        <p:nvSpPr>
          <p:cNvPr id="10" name="Text 7"/>
          <p:cNvSpPr/>
          <p:nvPr/>
        </p:nvSpPr>
        <p:spPr>
          <a:xfrm>
            <a:off x="1005840" y="40690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50" noProof="0" dirty="0">
                <a:solidFill>
                  <a:srgbClr val="C8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articles différents placés dans 1 seul colis</a:t>
            </a:r>
            <a:endParaRPr lang="fr-FR" sz="1250" noProof="0" dirty="0"/>
          </a:p>
          <a:p>
            <a:pPr marL="0" indent="0" algn="l">
              <a:buNone/>
            </a:pPr>
            <a:r>
              <a:rPr lang="fr-FR" sz="1250" noProof="0" dirty="0">
                <a:solidFill>
                  <a:srgbClr val="C8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inattention au moment du tri.</a:t>
            </a:r>
            <a:endParaRPr lang="fr-FR" sz="1250" noProof="0" dirty="0"/>
          </a:p>
        </p:txBody>
      </p:sp>
      <p:sp>
        <p:nvSpPr>
          <p:cNvPr id="11" name="Text 8"/>
          <p:cNvSpPr/>
          <p:nvPr/>
        </p:nvSpPr>
        <p:spPr>
          <a:xfrm>
            <a:off x="1005840" y="5212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b="1" noProof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Double litige client</a:t>
            </a:r>
            <a:endParaRPr lang="fr-FR" sz="1400" noProof="0" dirty="0"/>
          </a:p>
        </p:txBody>
      </p:sp>
      <p:sp>
        <p:nvSpPr>
          <p:cNvPr id="12" name="Shape 9"/>
          <p:cNvSpPr/>
          <p:nvPr/>
        </p:nvSpPr>
        <p:spPr>
          <a:xfrm>
            <a:off x="4297680" y="1883664"/>
            <a:ext cx="3611880" cy="731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0"/>
          <p:cNvSpPr/>
          <p:nvPr/>
        </p:nvSpPr>
        <p:spPr>
          <a:xfrm>
            <a:off x="4297680" y="1920240"/>
            <a:ext cx="3611880" cy="3931920"/>
          </a:xfrm>
          <a:prstGeom prst="rect">
            <a:avLst/>
          </a:prstGeom>
          <a:solidFill>
            <a:srgbClr val="15294E"/>
          </a:solidFill>
          <a:ln w="12700">
            <a:solidFill>
              <a:srgbClr val="1529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4" name="Image 1" descr="icons/risk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286000"/>
            <a:ext cx="59436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09160" y="29718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</a:t>
            </a:r>
            <a:endParaRPr lang="fr-FR" sz="3000" noProof="0" dirty="0"/>
          </a:p>
        </p:txBody>
      </p:sp>
      <p:sp>
        <p:nvSpPr>
          <p:cNvPr id="16" name="Text 12"/>
          <p:cNvSpPr/>
          <p:nvPr/>
        </p:nvSpPr>
        <p:spPr>
          <a:xfrm>
            <a:off x="4709160" y="3474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d'étiquettes</a:t>
            </a:r>
            <a:endParaRPr lang="fr-FR" sz="1400" noProof="0" dirty="0"/>
          </a:p>
        </p:txBody>
      </p:sp>
      <p:sp>
        <p:nvSpPr>
          <p:cNvPr id="17" name="Text 13"/>
          <p:cNvSpPr/>
          <p:nvPr/>
        </p:nvSpPr>
        <p:spPr>
          <a:xfrm>
            <a:off x="4709160" y="40690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50" noProof="0" dirty="0">
                <a:solidFill>
                  <a:srgbClr val="C8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Étiquettes interverties au collage</a:t>
            </a:r>
            <a:endParaRPr lang="fr-FR" sz="1250" noProof="0" dirty="0"/>
          </a:p>
          <a:p>
            <a:pPr marL="0" indent="0" algn="l">
              <a:buNone/>
            </a:pPr>
            <a:r>
              <a:rPr lang="fr-FR" sz="1250" noProof="0" dirty="0">
                <a:solidFill>
                  <a:srgbClr val="C8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mauvais destinataire livré.</a:t>
            </a:r>
            <a:endParaRPr lang="fr-FR" sz="1250" noProof="0" dirty="0"/>
          </a:p>
        </p:txBody>
      </p:sp>
      <p:sp>
        <p:nvSpPr>
          <p:cNvPr id="18" name="Text 14"/>
          <p:cNvSpPr/>
          <p:nvPr/>
        </p:nvSpPr>
        <p:spPr>
          <a:xfrm>
            <a:off x="4709160" y="5212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b="1" noProof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Retour + réexpédition</a:t>
            </a:r>
            <a:endParaRPr lang="fr-FR" sz="1400" noProof="0" dirty="0"/>
          </a:p>
        </p:txBody>
      </p:sp>
      <p:sp>
        <p:nvSpPr>
          <p:cNvPr id="19" name="Shape 15"/>
          <p:cNvSpPr/>
          <p:nvPr/>
        </p:nvSpPr>
        <p:spPr>
          <a:xfrm>
            <a:off x="8001000" y="1883664"/>
            <a:ext cx="3611880" cy="731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6"/>
          <p:cNvSpPr/>
          <p:nvPr/>
        </p:nvSpPr>
        <p:spPr>
          <a:xfrm>
            <a:off x="8001000" y="1920240"/>
            <a:ext cx="3611880" cy="3931920"/>
          </a:xfrm>
          <a:prstGeom prst="rect">
            <a:avLst/>
          </a:prstGeom>
          <a:solidFill>
            <a:srgbClr val="15294E"/>
          </a:solidFill>
          <a:ln w="12700">
            <a:solidFill>
              <a:srgbClr val="15294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1" name="Image 2" descr="icons/risk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286000"/>
            <a:ext cx="59436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29718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</a:t>
            </a:r>
            <a:endParaRPr lang="fr-FR" sz="3000" noProof="0" dirty="0"/>
          </a:p>
        </p:txBody>
      </p:sp>
      <p:sp>
        <p:nvSpPr>
          <p:cNvPr id="23" name="Text 18"/>
          <p:cNvSpPr/>
          <p:nvPr/>
        </p:nvSpPr>
        <p:spPr>
          <a:xfrm>
            <a:off x="8412480" y="3474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référence</a:t>
            </a:r>
            <a:endParaRPr lang="fr-FR" sz="1400" noProof="0" dirty="0"/>
          </a:p>
        </p:txBody>
      </p:sp>
      <p:sp>
        <p:nvSpPr>
          <p:cNvPr id="24" name="Text 19"/>
          <p:cNvSpPr/>
          <p:nvPr/>
        </p:nvSpPr>
        <p:spPr>
          <a:xfrm>
            <a:off x="8412480" y="40690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50" noProof="0" dirty="0">
                <a:solidFill>
                  <a:srgbClr val="C8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 article prélevé,</a:t>
            </a:r>
            <a:endParaRPr lang="fr-FR" sz="1250" noProof="0" dirty="0"/>
          </a:p>
          <a:p>
            <a:pPr marL="0" indent="0" algn="l">
              <a:buNone/>
            </a:pPr>
            <a:r>
              <a:rPr lang="fr-FR" sz="1250" noProof="0" dirty="0">
                <a:solidFill>
                  <a:srgbClr val="C8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désignation non contrôlée.</a:t>
            </a:r>
            <a:endParaRPr lang="fr-FR" sz="1250" noProof="0" dirty="0"/>
          </a:p>
        </p:txBody>
      </p:sp>
      <p:sp>
        <p:nvSpPr>
          <p:cNvPr id="25" name="Text 20"/>
          <p:cNvSpPr/>
          <p:nvPr/>
        </p:nvSpPr>
        <p:spPr>
          <a:xfrm>
            <a:off x="8412480" y="5212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b="1" noProof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Litige, coût de reprise</a:t>
            </a:r>
            <a:endParaRPr lang="fr-FR" sz="1400" noProof="0" dirty="0"/>
          </a:p>
        </p:txBody>
      </p:sp>
      <p:sp>
        <p:nvSpPr>
          <p:cNvPr id="26" name="Text 21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i="1" noProof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rigueur </a:t>
            </a:r>
            <a:r>
              <a:rPr lang="fr-FR" sz="1400" i="1" noProof="0" dirty="0" err="1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monoligne</a:t>
            </a:r>
            <a:r>
              <a:rPr lang="fr-FR" sz="1400" i="1" noProof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supprime ces risques à la source.</a:t>
            </a:r>
            <a:endParaRPr lang="fr-FR" sz="1400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777240"/>
          </a:xfrm>
          <a:prstGeom prst="ellipse">
            <a:avLst/>
          </a:prstGeom>
          <a:solidFill>
            <a:srgbClr val="0A1F3D"/>
          </a:solidFill>
          <a:ln w="3175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/home/claude/icons/p13_section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3891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&amp; responsabilités</a:t>
            </a:r>
            <a:endParaRPr lang="fr-FR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141732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300" i="1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fait quoi, sur chaque commande </a:t>
            </a:r>
            <a:r>
              <a:rPr lang="fr-FR" sz="1300" i="1" noProof="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monoligne</a:t>
            </a:r>
            <a:endParaRPr lang="fr-FR" sz="1300" noProof="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5394960" cy="64008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4"/>
          <p:cNvSpPr/>
          <p:nvPr/>
        </p:nvSpPr>
        <p:spPr>
          <a:xfrm>
            <a:off x="731520" y="1947672"/>
            <a:ext cx="320040" cy="320040"/>
          </a:xfrm>
          <a:prstGeom prst="ellipse">
            <a:avLst/>
          </a:prstGeom>
          <a:solidFill>
            <a:srgbClr val="0A1F3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5"/>
          <p:cNvSpPr/>
          <p:nvPr/>
        </p:nvSpPr>
        <p:spPr>
          <a:xfrm>
            <a:off x="731520" y="1947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400" noProof="0" dirty="0"/>
          </a:p>
        </p:txBody>
      </p:sp>
      <p:sp>
        <p:nvSpPr>
          <p:cNvPr id="9" name="Text 6"/>
          <p:cNvSpPr/>
          <p:nvPr/>
        </p:nvSpPr>
        <p:spPr>
          <a:xfrm>
            <a:off x="1188720" y="1783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700" b="1" kern="0" spc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CHECKLIST</a:t>
            </a:r>
            <a:endParaRPr lang="fr-FR" sz="1700" noProof="0" dirty="0"/>
          </a:p>
        </p:txBody>
      </p:sp>
      <p:sp>
        <p:nvSpPr>
          <p:cNvPr id="10" name="Shape 7"/>
          <p:cNvSpPr/>
          <p:nvPr/>
        </p:nvSpPr>
        <p:spPr>
          <a:xfrm>
            <a:off x="502920" y="2423160"/>
            <a:ext cx="5394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8"/>
          <p:cNvSpPr/>
          <p:nvPr/>
        </p:nvSpPr>
        <p:spPr>
          <a:xfrm>
            <a:off x="868680" y="26974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6F7EE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9"/>
          <p:cNvSpPr/>
          <p:nvPr/>
        </p:nvSpPr>
        <p:spPr>
          <a:xfrm>
            <a:off x="86868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500" noProof="0" dirty="0"/>
          </a:p>
        </p:txBody>
      </p:sp>
      <p:sp>
        <p:nvSpPr>
          <p:cNvPr id="13" name="Text 10"/>
          <p:cNvSpPr/>
          <p:nvPr/>
        </p:nvSpPr>
        <p:spPr>
          <a:xfrm>
            <a:off x="1417320" y="266090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50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étiquettes = nb de C16 préparés</a:t>
            </a:r>
            <a:endParaRPr lang="fr-FR" sz="1350" noProof="0" dirty="0"/>
          </a:p>
        </p:txBody>
      </p:sp>
      <p:sp>
        <p:nvSpPr>
          <p:cNvPr id="14" name="Shape 11"/>
          <p:cNvSpPr/>
          <p:nvPr/>
        </p:nvSpPr>
        <p:spPr>
          <a:xfrm>
            <a:off x="868680" y="317296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6F7EE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2"/>
          <p:cNvSpPr/>
          <p:nvPr/>
        </p:nvSpPr>
        <p:spPr>
          <a:xfrm>
            <a:off x="86868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500" noProof="0" dirty="0"/>
          </a:p>
        </p:txBody>
      </p:sp>
      <p:sp>
        <p:nvSpPr>
          <p:cNvPr id="16" name="Text 13"/>
          <p:cNvSpPr/>
          <p:nvPr/>
        </p:nvSpPr>
        <p:spPr>
          <a:xfrm>
            <a:off x="1417320" y="313639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50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seul article par C16</a:t>
            </a:r>
            <a:endParaRPr lang="fr-FR" sz="1350" noProof="0" dirty="0"/>
          </a:p>
        </p:txBody>
      </p:sp>
      <p:sp>
        <p:nvSpPr>
          <p:cNvPr id="17" name="Shape 14"/>
          <p:cNvSpPr/>
          <p:nvPr/>
        </p:nvSpPr>
        <p:spPr>
          <a:xfrm>
            <a:off x="868680" y="364845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6F7EE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5"/>
          <p:cNvSpPr/>
          <p:nvPr/>
        </p:nvSpPr>
        <p:spPr>
          <a:xfrm>
            <a:off x="868680" y="3648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500" noProof="0" dirty="0"/>
          </a:p>
        </p:txBody>
      </p:sp>
      <p:sp>
        <p:nvSpPr>
          <p:cNvPr id="19" name="Text 16"/>
          <p:cNvSpPr/>
          <p:nvPr/>
        </p:nvSpPr>
        <p:spPr>
          <a:xfrm>
            <a:off x="1417320" y="36118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50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Correspondance étiquette / article OK</a:t>
            </a:r>
            <a:endParaRPr lang="fr-FR" sz="1350" noProof="0" dirty="0"/>
          </a:p>
        </p:txBody>
      </p:sp>
      <p:sp>
        <p:nvSpPr>
          <p:cNvPr id="20" name="Shape 17"/>
          <p:cNvSpPr/>
          <p:nvPr/>
        </p:nvSpPr>
        <p:spPr>
          <a:xfrm>
            <a:off x="868680" y="412394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6F7EE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8"/>
          <p:cNvSpPr/>
          <p:nvPr/>
        </p:nvSpPr>
        <p:spPr>
          <a:xfrm>
            <a:off x="868680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500" noProof="0" dirty="0"/>
          </a:p>
        </p:txBody>
      </p:sp>
      <p:sp>
        <p:nvSpPr>
          <p:cNvPr id="22" name="Text 19"/>
          <p:cNvSpPr/>
          <p:nvPr/>
        </p:nvSpPr>
        <p:spPr>
          <a:xfrm>
            <a:off x="1417320" y="40873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50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Code-barres lisible</a:t>
            </a:r>
            <a:endParaRPr lang="fr-FR" sz="1350" noProof="0" dirty="0"/>
          </a:p>
        </p:txBody>
      </p:sp>
      <p:sp>
        <p:nvSpPr>
          <p:cNvPr id="23" name="Shape 20"/>
          <p:cNvSpPr/>
          <p:nvPr/>
        </p:nvSpPr>
        <p:spPr>
          <a:xfrm>
            <a:off x="868680" y="459943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6F7EE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1"/>
          <p:cNvSpPr/>
          <p:nvPr/>
        </p:nvSpPr>
        <p:spPr>
          <a:xfrm>
            <a:off x="868680" y="4599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500" noProof="0" dirty="0"/>
          </a:p>
        </p:txBody>
      </p:sp>
      <p:sp>
        <p:nvSpPr>
          <p:cNvPr id="25" name="Text 22"/>
          <p:cNvSpPr/>
          <p:nvPr/>
        </p:nvSpPr>
        <p:spPr>
          <a:xfrm>
            <a:off x="1417320" y="456285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50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Emplacement rangé après prélèvement</a:t>
            </a:r>
            <a:endParaRPr lang="fr-FR" sz="1350" noProof="0" dirty="0"/>
          </a:p>
        </p:txBody>
      </p:sp>
      <p:sp>
        <p:nvSpPr>
          <p:cNvPr id="26" name="Shape 23"/>
          <p:cNvSpPr/>
          <p:nvPr/>
        </p:nvSpPr>
        <p:spPr>
          <a:xfrm>
            <a:off x="868680" y="50749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6F7EE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4"/>
          <p:cNvSpPr/>
          <p:nvPr/>
        </p:nvSpPr>
        <p:spPr>
          <a:xfrm>
            <a:off x="868680" y="5074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500" noProof="0" dirty="0"/>
          </a:p>
        </p:txBody>
      </p:sp>
      <p:sp>
        <p:nvSpPr>
          <p:cNvPr id="28" name="Text 25"/>
          <p:cNvSpPr/>
          <p:nvPr/>
        </p:nvSpPr>
        <p:spPr>
          <a:xfrm>
            <a:off x="1417320" y="503834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50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Totalité des colis préparés en fin de commande</a:t>
            </a:r>
            <a:endParaRPr lang="fr-FR" sz="1350" noProof="0" dirty="0"/>
          </a:p>
        </p:txBody>
      </p:sp>
      <p:sp>
        <p:nvSpPr>
          <p:cNvPr id="29" name="Shape 26"/>
          <p:cNvSpPr/>
          <p:nvPr/>
        </p:nvSpPr>
        <p:spPr>
          <a:xfrm>
            <a:off x="6172200" y="1783080"/>
            <a:ext cx="109728" cy="12801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7"/>
          <p:cNvSpPr/>
          <p:nvPr/>
        </p:nvSpPr>
        <p:spPr>
          <a:xfrm>
            <a:off x="6281928" y="1783080"/>
            <a:ext cx="5422392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8"/>
          <p:cNvSpPr/>
          <p:nvPr/>
        </p:nvSpPr>
        <p:spPr>
          <a:xfrm>
            <a:off x="6492240" y="192024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500" b="1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</a:t>
            </a:r>
            <a:endParaRPr lang="fr-FR" sz="1500" noProof="0" dirty="0"/>
          </a:p>
        </p:txBody>
      </p:sp>
      <p:sp>
        <p:nvSpPr>
          <p:cNvPr id="32" name="Text 29"/>
          <p:cNvSpPr/>
          <p:nvPr/>
        </p:nvSpPr>
        <p:spPr>
          <a:xfrm>
            <a:off x="6492240" y="233172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 la totalité des C16 demandé.</a:t>
            </a:r>
            <a:r>
              <a:rPr lang="fr-FR" sz="1250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Prélève, place 1 article par C16, colle, contrôle. Autocontrôle.</a:t>
            </a:r>
            <a:endParaRPr lang="fr-FR" sz="1250" noProof="0" dirty="0"/>
          </a:p>
        </p:txBody>
      </p:sp>
      <p:sp>
        <p:nvSpPr>
          <p:cNvPr id="33" name="Shape 30"/>
          <p:cNvSpPr/>
          <p:nvPr/>
        </p:nvSpPr>
        <p:spPr>
          <a:xfrm>
            <a:off x="6172200" y="3200400"/>
            <a:ext cx="109728" cy="12801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Shape 31"/>
          <p:cNvSpPr/>
          <p:nvPr/>
        </p:nvSpPr>
        <p:spPr>
          <a:xfrm>
            <a:off x="6281928" y="3200400"/>
            <a:ext cx="5422392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32"/>
          <p:cNvSpPr/>
          <p:nvPr/>
        </p:nvSpPr>
        <p:spPr>
          <a:xfrm>
            <a:off x="6492240" y="333756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500" b="1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</a:t>
            </a:r>
            <a:endParaRPr lang="fr-FR" sz="1500" noProof="0" dirty="0"/>
          </a:p>
        </p:txBody>
      </p:sp>
      <p:sp>
        <p:nvSpPr>
          <p:cNvPr id="36" name="Text 33"/>
          <p:cNvSpPr/>
          <p:nvPr/>
        </p:nvSpPr>
        <p:spPr>
          <a:xfrm>
            <a:off x="6492240" y="374904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250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Forment sur la spécificité </a:t>
            </a:r>
            <a:r>
              <a:rPr lang="fr-FR" sz="1250" noProof="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monoligne</a:t>
            </a:r>
            <a:r>
              <a:rPr lang="fr-FR" sz="1250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Analysent les erreurs. Contrôlent par sondage.</a:t>
            </a:r>
            <a:endParaRPr lang="fr-FR" sz="1250" noProof="0" dirty="0"/>
          </a:p>
        </p:txBody>
      </p:sp>
      <p:sp>
        <p:nvSpPr>
          <p:cNvPr id="37" name="Shape 34"/>
          <p:cNvSpPr/>
          <p:nvPr/>
        </p:nvSpPr>
        <p:spPr>
          <a:xfrm>
            <a:off x="6172200" y="4617720"/>
            <a:ext cx="109728" cy="12801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Shape 35"/>
          <p:cNvSpPr/>
          <p:nvPr/>
        </p:nvSpPr>
        <p:spPr>
          <a:xfrm>
            <a:off x="6281928" y="4617720"/>
            <a:ext cx="5422392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Text 36"/>
          <p:cNvSpPr/>
          <p:nvPr/>
        </p:nvSpPr>
        <p:spPr>
          <a:xfrm>
            <a:off x="6492240" y="475488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500" b="1" noProof="0" dirty="0">
                <a:solidFill>
                  <a:srgbClr val="102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&amp; Superviseur</a:t>
            </a:r>
            <a:endParaRPr lang="fr-FR" sz="1500" noProof="0" dirty="0"/>
          </a:p>
        </p:txBody>
      </p:sp>
      <p:sp>
        <p:nvSpPr>
          <p:cNvPr id="40" name="Text 37"/>
          <p:cNvSpPr/>
          <p:nvPr/>
        </p:nvSpPr>
        <p:spPr>
          <a:xfrm>
            <a:off x="6492240" y="516636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250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Pilotent le taux d'erreur </a:t>
            </a:r>
            <a:r>
              <a:rPr lang="fr-FR" sz="1250" noProof="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monolignes</a:t>
            </a:r>
            <a:r>
              <a:rPr lang="fr-FR" sz="1250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Actions correctives. Garantissent la dispo des C16.</a:t>
            </a:r>
            <a:endParaRPr lang="fr-FR" sz="1250" noProof="0" dirty="0"/>
          </a:p>
        </p:txBody>
      </p:sp>
      <p:sp>
        <p:nvSpPr>
          <p:cNvPr id="41" name="Text 38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kern="0" spc="600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STD-PP-P13  •  Préparation </a:t>
            </a:r>
            <a:r>
              <a:rPr lang="fr-FR" sz="1000" kern="0" spc="600" noProof="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monolignes</a:t>
            </a:r>
            <a:r>
              <a:rPr lang="fr-FR" sz="1000" kern="0" spc="600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CLR Champigneulles</a:t>
            </a:r>
            <a:endParaRPr lang="fr-FR" sz="1000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18304" y="822960"/>
            <a:ext cx="2743200" cy="2743200"/>
          </a:xfrm>
          <a:prstGeom prst="ellipse">
            <a:avLst/>
          </a:prstGeom>
          <a:solidFill>
            <a:srgbClr val="1F3A5F"/>
          </a:solidFill>
          <a:ln w="25400">
            <a:solidFill>
              <a:srgbClr val="F2A5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/home/claude/icons/p13_hero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1618488"/>
            <a:ext cx="1152144" cy="1152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4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étiquette,</a:t>
            </a:r>
            <a:endParaRPr lang="fr-FR" sz="4200" noProof="0" dirty="0"/>
          </a:p>
        </p:txBody>
      </p:sp>
      <p:sp>
        <p:nvSpPr>
          <p:cNvPr id="5" name="Text 2"/>
          <p:cNvSpPr/>
          <p:nvPr/>
        </p:nvSpPr>
        <p:spPr>
          <a:xfrm>
            <a:off x="457200" y="4892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4200" b="1" i="1" noProof="0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article, un C16.</a:t>
            </a:r>
            <a:endParaRPr lang="fr-FR" sz="4200" noProof="0" dirty="0"/>
          </a:p>
        </p:txBody>
      </p:sp>
      <p:sp>
        <p:nvSpPr>
          <p:cNvPr id="6" name="Text 3"/>
          <p:cNvSpPr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kern="0" spc="600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P13     •     PRÉPARATION MONOLIGNES     •     REXEL CLR CHAMPIGNEULLES</a:t>
            </a:r>
            <a:endParaRPr lang="fr-FR" sz="1100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458</Words>
  <Application>Microsoft Office PowerPoint</Application>
  <PresentationFormat>Grand écran</PresentationFormat>
  <Paragraphs>108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STD-PP-P13</dc:title>
  <dc:subject>PptxGenJS Presentation</dc:subject>
  <dc:creator>Rexel CLR Champigneulles</dc:creator>
  <cp:lastModifiedBy>Georges, Charlene</cp:lastModifiedBy>
  <cp:revision>2</cp:revision>
  <dcterms:created xsi:type="dcterms:W3CDTF">2026-05-12T09:52:27Z</dcterms:created>
  <dcterms:modified xsi:type="dcterms:W3CDTF">2026-06-03T13:41:47Z</dcterms:modified>
</cp:coreProperties>
</file>