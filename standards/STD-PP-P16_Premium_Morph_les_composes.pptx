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6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777240" y="1600200"/>
            <a:ext cx="3657600" cy="36576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7944" y="2660904"/>
            <a:ext cx="1536192" cy="15361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69848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2"/>
          <p:cNvSpPr/>
          <p:nvPr/>
        </p:nvSpPr>
        <p:spPr>
          <a:xfrm>
            <a:off x="1106424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3"/>
          <p:cNvSpPr/>
          <p:nvPr/>
        </p:nvSpPr>
        <p:spPr>
          <a:xfrm>
            <a:off x="11430000" y="502920"/>
            <a:ext cx="164592" cy="164592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4"/>
          <p:cNvSpPr/>
          <p:nvPr/>
        </p:nvSpPr>
        <p:spPr>
          <a:xfrm>
            <a:off x="521208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kern="0" spc="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REXEL FRANCE  •  CLR CHAMPIGNEULLES</a:t>
            </a:r>
            <a:endParaRPr lang="fr-FR" sz="1200" noProof="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5212080" y="1371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kern="0" spc="400" noProof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P16</a:t>
            </a:r>
            <a:endParaRPr lang="fr-FR" sz="1300" noProof="0" dirty="0"/>
          </a:p>
        </p:txBody>
      </p:sp>
      <p:sp>
        <p:nvSpPr>
          <p:cNvPr id="10" name="Text 7"/>
          <p:cNvSpPr/>
          <p:nvPr/>
        </p:nvSpPr>
        <p:spPr>
          <a:xfrm>
            <a:off x="5120640" y="2011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6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</a:t>
            </a:r>
            <a:endParaRPr lang="fr-FR" sz="6000" noProof="0" dirty="0"/>
          </a:p>
        </p:txBody>
      </p:sp>
      <p:sp>
        <p:nvSpPr>
          <p:cNvPr id="11" name="Text 8"/>
          <p:cNvSpPr/>
          <p:nvPr/>
        </p:nvSpPr>
        <p:spPr>
          <a:xfrm>
            <a:off x="5120640" y="306324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6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composés.</a:t>
            </a:r>
            <a:endParaRPr lang="fr-FR" sz="6000" noProof="0" dirty="0"/>
          </a:p>
        </p:txBody>
      </p:sp>
      <p:sp>
        <p:nvSpPr>
          <p:cNvPr id="12" name="Text 9"/>
          <p:cNvSpPr/>
          <p:nvPr/>
        </p:nvSpPr>
        <p:spPr>
          <a:xfrm>
            <a:off x="5212080" y="4343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700" i="1" noProof="0" dirty="0">
                <a:solidFill>
                  <a:srgbClr val="BFCB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les composés avec précision en allée 11.</a:t>
            </a:r>
            <a:endParaRPr lang="fr-FR" sz="1700" noProof="0" dirty="0"/>
          </a:p>
        </p:txBody>
      </p:sp>
      <p:sp>
        <p:nvSpPr>
          <p:cNvPr id="13" name="Text 10"/>
          <p:cNvSpPr/>
          <p:nvPr/>
        </p:nvSpPr>
        <p:spPr>
          <a:xfrm>
            <a:off x="5212080" y="5074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kern="0" spc="300" noProof="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STD-PP-P16   •   Février 2026   •   Formation opérateur</a:t>
            </a:r>
            <a:endParaRPr lang="fr-F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4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Pack  —  Document contrôlé  —  Usage interne</a:t>
            </a:r>
            <a:endParaRPr lang="fr-FR" sz="1100" noProof="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724248" y="822960"/>
            <a:ext cx="2743200" cy="274320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19776" y="1618488"/>
            <a:ext cx="1152144" cy="1152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4348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Une image,</a:t>
            </a:r>
            <a:endParaRPr lang="fr-FR" sz="3600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507492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composé exact. »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kern="0" spc="8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FONDATEUR</a:t>
            </a:r>
            <a:endParaRPr lang="fr-FR" sz="12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Prélèvement des composés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allée 11 — fin d'allée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95234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95234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198104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78228" y="240030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5234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113522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Adressage, réf, quantité</a:t>
            </a:r>
            <a:endParaRPr lang="fr-FR" sz="1300" noProof="0" dirty="0"/>
          </a:p>
        </p:txBody>
      </p:sp>
      <p:sp>
        <p:nvSpPr>
          <p:cNvPr id="14" name="Shape 10"/>
          <p:cNvSpPr/>
          <p:nvPr/>
        </p:nvSpPr>
        <p:spPr>
          <a:xfrm>
            <a:off x="447278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447278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2"/>
          <p:cNvSpPr/>
          <p:nvPr/>
        </p:nvSpPr>
        <p:spPr>
          <a:xfrm>
            <a:off x="550148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8668" y="240030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47278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fr-FR" sz="2200" noProof="0" dirty="0"/>
          </a:p>
        </p:txBody>
      </p:sp>
      <p:sp>
        <p:nvSpPr>
          <p:cNvPr id="19" name="Text 14"/>
          <p:cNvSpPr/>
          <p:nvPr/>
        </p:nvSpPr>
        <p:spPr>
          <a:xfrm>
            <a:off x="465566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l'emplacement = nb éléments</a:t>
            </a:r>
            <a:endParaRPr lang="fr-FR" sz="1300" noProof="0" dirty="0"/>
          </a:p>
        </p:txBody>
      </p:sp>
      <p:sp>
        <p:nvSpPr>
          <p:cNvPr id="20" name="Shape 15"/>
          <p:cNvSpPr/>
          <p:nvPr/>
        </p:nvSpPr>
        <p:spPr>
          <a:xfrm>
            <a:off x="7993228" y="1691640"/>
            <a:ext cx="3246120" cy="9144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6"/>
          <p:cNvSpPr/>
          <p:nvPr/>
        </p:nvSpPr>
        <p:spPr>
          <a:xfrm>
            <a:off x="7993228" y="1783080"/>
            <a:ext cx="3246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7"/>
          <p:cNvSpPr/>
          <p:nvPr/>
        </p:nvSpPr>
        <p:spPr>
          <a:xfrm>
            <a:off x="9021928" y="2103120"/>
            <a:ext cx="1188720" cy="1188720"/>
          </a:xfrm>
          <a:prstGeom prst="ellipse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9108" y="2400300"/>
            <a:ext cx="594360" cy="5943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93228" y="36118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Composé</a:t>
            </a:r>
            <a:endParaRPr lang="fr-FR" sz="2200" noProof="0" dirty="0"/>
          </a:p>
        </p:txBody>
      </p:sp>
      <p:sp>
        <p:nvSpPr>
          <p:cNvPr id="25" name="Text 19"/>
          <p:cNvSpPr/>
          <p:nvPr/>
        </p:nvSpPr>
        <p:spPr>
          <a:xfrm>
            <a:off x="8176108" y="41605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13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1 vis + 1 écrou + 1 rondelle= 1 </a:t>
            </a:r>
            <a:r>
              <a:rPr lang="fr-FR" sz="1300" noProof="0" dirty="0" err="1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piéce</a:t>
            </a:r>
            <a:endParaRPr lang="fr-FR" sz="1300" noProof="0" dirty="0"/>
          </a:p>
        </p:txBody>
      </p:sp>
      <p:sp>
        <p:nvSpPr>
          <p:cNvPr id="26" name="Shape 20"/>
          <p:cNvSpPr/>
          <p:nvPr/>
        </p:nvSpPr>
        <p:spPr>
          <a:xfrm>
            <a:off x="457200" y="5989320"/>
            <a:ext cx="11277295" cy="50292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" y="61264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05840" y="5989320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lire l'image = composé exact</a:t>
            </a:r>
            <a:endParaRPr lang="fr-FR" sz="14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Composés non référencés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le composé n'est pas en fin d'allée 11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1691640"/>
            <a:ext cx="91440" cy="4023360"/>
          </a:xfrm>
          <a:prstGeom prst="rect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731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960120" y="1920240"/>
            <a:ext cx="502920" cy="50292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5850" y="204597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800" b="1" kern="0" spc="600" noProof="0" dirty="0">
                <a:solidFill>
                  <a:srgbClr val="21A5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fr-FR" sz="1800" noProof="0" dirty="0"/>
          </a:p>
        </p:txBody>
      </p:sp>
      <p:sp>
        <p:nvSpPr>
          <p:cNvPr id="13" name="Shape 9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0"/>
          <p:cNvSpPr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400" noProof="0" dirty="0"/>
          </a:p>
        </p:txBody>
      </p:sp>
      <p:sp>
        <p:nvSpPr>
          <p:cNvPr id="15" name="Text 11"/>
          <p:cNvSpPr/>
          <p:nvPr/>
        </p:nvSpPr>
        <p:spPr>
          <a:xfrm>
            <a:off x="1463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Relever la référence du produit</a:t>
            </a:r>
            <a:endParaRPr lang="fr-FR" sz="1400" noProof="0" dirty="0"/>
          </a:p>
        </p:txBody>
      </p:sp>
      <p:sp>
        <p:nvSpPr>
          <p:cNvPr id="16" name="Shape 12"/>
          <p:cNvSpPr/>
          <p:nvPr/>
        </p:nvSpPr>
        <p:spPr>
          <a:xfrm>
            <a:off x="960120" y="356616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3"/>
          <p:cNvSpPr/>
          <p:nvPr/>
        </p:nvSpPr>
        <p:spPr>
          <a:xfrm>
            <a:off x="96012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400" noProof="0" dirty="0"/>
          </a:p>
        </p:txBody>
      </p:sp>
      <p:sp>
        <p:nvSpPr>
          <p:cNvPr id="18" name="Text 14"/>
          <p:cNvSpPr/>
          <p:nvPr/>
        </p:nvSpPr>
        <p:spPr>
          <a:xfrm>
            <a:off x="1463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Communiquer aux pilotes</a:t>
            </a:r>
            <a:endParaRPr lang="fr-FR" sz="1400" noProof="0" dirty="0"/>
          </a:p>
        </p:txBody>
      </p:sp>
      <p:sp>
        <p:nvSpPr>
          <p:cNvPr id="19" name="Shape 15"/>
          <p:cNvSpPr/>
          <p:nvPr/>
        </p:nvSpPr>
        <p:spPr>
          <a:xfrm>
            <a:off x="960120" y="4343400"/>
            <a:ext cx="365760" cy="365760"/>
          </a:xfrm>
          <a:prstGeom prst="ellipse">
            <a:avLst/>
          </a:prstGeom>
          <a:solidFill>
            <a:srgbClr val="21A567"/>
          </a:solidFill>
          <a:ln w="1270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6"/>
          <p:cNvSpPr/>
          <p:nvPr/>
        </p:nvSpPr>
        <p:spPr>
          <a:xfrm>
            <a:off x="96012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400" noProof="0" dirty="0"/>
          </a:p>
        </p:txBody>
      </p:sp>
      <p:sp>
        <p:nvSpPr>
          <p:cNvPr id="21" name="Text 17"/>
          <p:cNvSpPr/>
          <p:nvPr/>
        </p:nvSpPr>
        <p:spPr>
          <a:xfrm>
            <a:off x="1463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la création d'emplacement</a:t>
            </a:r>
            <a:endParaRPr lang="fr-FR" sz="1400" noProof="0" dirty="0"/>
          </a:p>
        </p:txBody>
      </p:sp>
      <p:sp>
        <p:nvSpPr>
          <p:cNvPr id="22" name="Shape 18"/>
          <p:cNvSpPr/>
          <p:nvPr/>
        </p:nvSpPr>
        <p:spPr>
          <a:xfrm>
            <a:off x="6355080" y="1691640"/>
            <a:ext cx="91440" cy="402336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19"/>
          <p:cNvSpPr/>
          <p:nvPr/>
        </p:nvSpPr>
        <p:spPr>
          <a:xfrm>
            <a:off x="6446520" y="1691640"/>
            <a:ext cx="534924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Shape 20"/>
          <p:cNvSpPr/>
          <p:nvPr/>
        </p:nvSpPr>
        <p:spPr>
          <a:xfrm>
            <a:off x="6675120" y="1920240"/>
            <a:ext cx="502920" cy="50292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0850" y="2045970"/>
            <a:ext cx="251460" cy="2514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315200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800" b="1" kern="0" spc="600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</a:t>
            </a:r>
            <a:endParaRPr lang="fr-FR" sz="1800" noProof="0" dirty="0"/>
          </a:p>
        </p:txBody>
      </p:sp>
      <p:sp>
        <p:nvSpPr>
          <p:cNvPr id="27" name="Shape 22"/>
          <p:cNvSpPr/>
          <p:nvPr/>
        </p:nvSpPr>
        <p:spPr>
          <a:xfrm>
            <a:off x="6675120" y="278892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2862072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178040" y="27432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composé sans image de référence</a:t>
            </a:r>
            <a:endParaRPr lang="fr-FR" sz="1400" noProof="0" dirty="0"/>
          </a:p>
        </p:txBody>
      </p:sp>
      <p:sp>
        <p:nvSpPr>
          <p:cNvPr id="30" name="Shape 24"/>
          <p:cNvSpPr/>
          <p:nvPr/>
        </p:nvSpPr>
        <p:spPr>
          <a:xfrm>
            <a:off x="6675120" y="356616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3639312"/>
            <a:ext cx="219456" cy="21945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78040" y="35204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prélèvement hors emplacement</a:t>
            </a:r>
            <a:endParaRPr lang="fr-FR" sz="1400" noProof="0" dirty="0"/>
          </a:p>
        </p:txBody>
      </p:sp>
      <p:sp>
        <p:nvSpPr>
          <p:cNvPr id="33" name="Shape 26"/>
          <p:cNvSpPr/>
          <p:nvPr/>
        </p:nvSpPr>
        <p:spPr>
          <a:xfrm>
            <a:off x="6675120" y="4343400"/>
            <a:ext cx="365760" cy="365760"/>
          </a:xfrm>
          <a:prstGeom prst="ellipse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48272" y="4416552"/>
            <a:ext cx="219456" cy="219456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178040" y="429768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pièce en trop dans le composé</a:t>
            </a:r>
            <a:endParaRPr lang="fr-FR" sz="1400" noProof="0" dirty="0"/>
          </a:p>
        </p:txBody>
      </p:sp>
      <p:sp>
        <p:nvSpPr>
          <p:cNvPr id="36" name="Text 28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i="1" noProof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Composé identifié  =  composé conforme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à surveiller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 avec exactitude</a:t>
            </a:r>
            <a:endParaRPr lang="fr-F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10332720" y="457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600" b="1" kern="0" spc="400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fr-FR" sz="1600" noProof="0" dirty="0"/>
          </a:p>
        </p:txBody>
      </p:sp>
      <p:sp>
        <p:nvSpPr>
          <p:cNvPr id="7" name="Shape 4"/>
          <p:cNvSpPr/>
          <p:nvPr/>
        </p:nvSpPr>
        <p:spPr>
          <a:xfrm>
            <a:off x="10332720" y="868680"/>
            <a:ext cx="1371600" cy="0"/>
          </a:xfrm>
          <a:prstGeom prst="line">
            <a:avLst/>
          </a:prstGeom>
          <a:noFill/>
          <a:ln w="1905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5"/>
          <p:cNvSpPr/>
          <p:nvPr/>
        </p:nvSpPr>
        <p:spPr>
          <a:xfrm>
            <a:off x="81518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6"/>
          <p:cNvSpPr/>
          <p:nvPr/>
        </p:nvSpPr>
        <p:spPr>
          <a:xfrm>
            <a:off x="296402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6400" noProof="0" dirty="0"/>
          </a:p>
        </p:txBody>
      </p:sp>
      <p:sp>
        <p:nvSpPr>
          <p:cNvPr id="10" name="Shape 7"/>
          <p:cNvSpPr/>
          <p:nvPr/>
        </p:nvSpPr>
        <p:spPr>
          <a:xfrm>
            <a:off x="122666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66698" y="243459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094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</a:t>
            </a:r>
            <a:endParaRPr lang="fr-FR" sz="2200" noProof="0" dirty="0"/>
          </a:p>
        </p:txBody>
      </p:sp>
      <p:sp>
        <p:nvSpPr>
          <p:cNvPr id="13" name="Text 9"/>
          <p:cNvSpPr/>
          <p:nvPr/>
        </p:nvSpPr>
        <p:spPr>
          <a:xfrm>
            <a:off x="118094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l'image</a:t>
            </a:r>
            <a:endParaRPr lang="fr-FR" sz="2000" noProof="0" dirty="0"/>
          </a:p>
        </p:txBody>
      </p:sp>
      <p:sp>
        <p:nvSpPr>
          <p:cNvPr id="14" name="Shape 10"/>
          <p:cNvSpPr/>
          <p:nvPr/>
        </p:nvSpPr>
        <p:spPr>
          <a:xfrm>
            <a:off x="118094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1"/>
          <p:cNvSpPr/>
          <p:nvPr/>
        </p:nvSpPr>
        <p:spPr>
          <a:xfrm>
            <a:off x="118094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produit composé à l'emplacement</a:t>
            </a:r>
            <a:endParaRPr lang="fr-FR" sz="1200" noProof="0" dirty="0"/>
          </a:p>
        </p:txBody>
      </p:sp>
      <p:sp>
        <p:nvSpPr>
          <p:cNvPr id="16" name="Text 12"/>
          <p:cNvSpPr/>
          <p:nvPr/>
        </p:nvSpPr>
        <p:spPr>
          <a:xfrm>
            <a:off x="398815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800" noProof="0" dirty="0"/>
          </a:p>
        </p:txBody>
      </p:sp>
      <p:sp>
        <p:nvSpPr>
          <p:cNvPr id="17" name="Shape 13"/>
          <p:cNvSpPr/>
          <p:nvPr/>
        </p:nvSpPr>
        <p:spPr>
          <a:xfrm>
            <a:off x="442706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4"/>
          <p:cNvSpPr/>
          <p:nvPr/>
        </p:nvSpPr>
        <p:spPr>
          <a:xfrm>
            <a:off x="657590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6400" noProof="0" dirty="0"/>
          </a:p>
        </p:txBody>
      </p:sp>
      <p:sp>
        <p:nvSpPr>
          <p:cNvPr id="19" name="Shape 15"/>
          <p:cNvSpPr/>
          <p:nvPr/>
        </p:nvSpPr>
        <p:spPr>
          <a:xfrm>
            <a:off x="483854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78578" y="2434590"/>
            <a:ext cx="480060" cy="480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9282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Prélever</a:t>
            </a:r>
            <a:endParaRPr lang="fr-FR" sz="2200" noProof="0" dirty="0"/>
          </a:p>
        </p:txBody>
      </p:sp>
      <p:sp>
        <p:nvSpPr>
          <p:cNvPr id="22" name="Text 17"/>
          <p:cNvSpPr/>
          <p:nvPr/>
        </p:nvSpPr>
        <p:spPr>
          <a:xfrm>
            <a:off x="479282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</a:t>
            </a:r>
            <a:endParaRPr lang="fr-FR" sz="2000" noProof="0" dirty="0"/>
          </a:p>
        </p:txBody>
      </p:sp>
      <p:sp>
        <p:nvSpPr>
          <p:cNvPr id="23" name="Shape 18"/>
          <p:cNvSpPr/>
          <p:nvPr/>
        </p:nvSpPr>
        <p:spPr>
          <a:xfrm>
            <a:off x="479282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19"/>
          <p:cNvSpPr/>
          <p:nvPr/>
        </p:nvSpPr>
        <p:spPr>
          <a:xfrm>
            <a:off x="479282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d'éléments pour la pièce</a:t>
            </a:r>
            <a:endParaRPr lang="fr-FR" sz="1200" noProof="0" dirty="0"/>
          </a:p>
        </p:txBody>
      </p:sp>
      <p:sp>
        <p:nvSpPr>
          <p:cNvPr id="25" name="Text 20"/>
          <p:cNvSpPr/>
          <p:nvPr/>
        </p:nvSpPr>
        <p:spPr>
          <a:xfrm>
            <a:off x="7600036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C5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fr-FR" sz="2800" noProof="0" dirty="0"/>
          </a:p>
        </p:txBody>
      </p:sp>
      <p:sp>
        <p:nvSpPr>
          <p:cNvPr id="26" name="Shape 21"/>
          <p:cNvSpPr/>
          <p:nvPr/>
        </p:nvSpPr>
        <p:spPr>
          <a:xfrm>
            <a:off x="8038948" y="1828800"/>
            <a:ext cx="333756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2"/>
          <p:cNvSpPr/>
          <p:nvPr/>
        </p:nvSpPr>
        <p:spPr>
          <a:xfrm>
            <a:off x="10187788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6400" b="1" noProof="0" dirty="0">
                <a:solidFill>
                  <a:srgbClr val="E1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6400" noProof="0" dirty="0"/>
          </a:p>
        </p:txBody>
      </p:sp>
      <p:sp>
        <p:nvSpPr>
          <p:cNvPr id="28" name="Shape 23"/>
          <p:cNvSpPr/>
          <p:nvPr/>
        </p:nvSpPr>
        <p:spPr>
          <a:xfrm>
            <a:off x="8450428" y="2194560"/>
            <a:ext cx="960120" cy="96012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90458" y="2434590"/>
            <a:ext cx="480060" cy="4800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404708" y="33832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2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</a:t>
            </a:r>
            <a:endParaRPr lang="fr-FR" sz="2200" noProof="0" dirty="0"/>
          </a:p>
        </p:txBody>
      </p:sp>
      <p:sp>
        <p:nvSpPr>
          <p:cNvPr id="31" name="Text 25"/>
          <p:cNvSpPr/>
          <p:nvPr/>
        </p:nvSpPr>
        <p:spPr>
          <a:xfrm>
            <a:off x="8404708" y="3840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0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l'adressage</a:t>
            </a:r>
            <a:endParaRPr lang="fr-FR" sz="2000" noProof="0" dirty="0"/>
          </a:p>
        </p:txBody>
      </p:sp>
      <p:sp>
        <p:nvSpPr>
          <p:cNvPr id="32" name="Shape 26"/>
          <p:cNvSpPr/>
          <p:nvPr/>
        </p:nvSpPr>
        <p:spPr>
          <a:xfrm>
            <a:off x="8404708" y="4434840"/>
            <a:ext cx="548640" cy="0"/>
          </a:xfrm>
          <a:prstGeom prst="line">
            <a:avLst/>
          </a:prstGeom>
          <a:noFill/>
          <a:ln w="19050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7"/>
          <p:cNvSpPr/>
          <p:nvPr/>
        </p:nvSpPr>
        <p:spPr>
          <a:xfrm>
            <a:off x="8404708" y="4572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au-dessus ni en-dessous ni à côté</a:t>
            </a:r>
            <a:endParaRPr lang="fr-FR" sz="1200" noProof="0" dirty="0"/>
          </a:p>
        </p:txBody>
      </p:sp>
      <p:sp>
        <p:nvSpPr>
          <p:cNvPr id="34" name="Text 28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i="1" noProof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image  •  Un nombre exact  •  Un adressage validé</a:t>
            </a:r>
            <a:endParaRPr lang="fr-FR" sz="15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b="1" kern="0" spc="800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fr-FR" sz="13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arrive en cas d'erreur de prélèvement</a:t>
            </a:r>
            <a:endParaRPr lang="fr-F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94360" cy="4572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8658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58658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8068" y="24231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9806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</a:t>
            </a:r>
            <a:endParaRPr lang="fr-FR" sz="2800" noProof="0" dirty="0"/>
          </a:p>
        </p:txBody>
      </p:sp>
      <p:sp>
        <p:nvSpPr>
          <p:cNvPr id="9" name="Text 6"/>
          <p:cNvSpPr/>
          <p:nvPr/>
        </p:nvSpPr>
        <p:spPr>
          <a:xfrm>
            <a:off x="99806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produit</a:t>
            </a:r>
            <a:endParaRPr lang="fr-F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99806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de préparation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génère un composé incomplet.</a:t>
            </a:r>
            <a:endParaRPr lang="fr-FR" sz="1300" noProof="0" dirty="0"/>
          </a:p>
        </p:txBody>
      </p:sp>
      <p:sp>
        <p:nvSpPr>
          <p:cNvPr id="11" name="Text 8"/>
          <p:cNvSpPr/>
          <p:nvPr/>
        </p:nvSpPr>
        <p:spPr>
          <a:xfrm>
            <a:off x="99806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Erreur agence/client</a:t>
            </a:r>
            <a:endParaRPr lang="fr-FR" sz="1400" noProof="0" dirty="0"/>
          </a:p>
        </p:txBody>
      </p:sp>
      <p:sp>
        <p:nvSpPr>
          <p:cNvPr id="12" name="Shape 9"/>
          <p:cNvSpPr/>
          <p:nvPr/>
        </p:nvSpPr>
        <p:spPr>
          <a:xfrm>
            <a:off x="433562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433562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108" y="24231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4710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Litige</a:t>
            </a:r>
            <a:endParaRPr lang="fr-FR" sz="2800" noProof="0" dirty="0"/>
          </a:p>
        </p:txBody>
      </p:sp>
      <p:sp>
        <p:nvSpPr>
          <p:cNvPr id="16" name="Text 12"/>
          <p:cNvSpPr/>
          <p:nvPr/>
        </p:nvSpPr>
        <p:spPr>
          <a:xfrm>
            <a:off x="474710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fr-FR" sz="1400" noProof="0" dirty="0"/>
          </a:p>
        </p:txBody>
      </p:sp>
      <p:sp>
        <p:nvSpPr>
          <p:cNvPr id="17" name="Text 13"/>
          <p:cNvSpPr/>
          <p:nvPr/>
        </p:nvSpPr>
        <p:spPr>
          <a:xfrm>
            <a:off x="474710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 manquante ou en trop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reçue par le client final.</a:t>
            </a:r>
            <a:endParaRPr lang="fr-FR" sz="1300" noProof="0" dirty="0"/>
          </a:p>
        </p:txBody>
      </p:sp>
      <p:sp>
        <p:nvSpPr>
          <p:cNvPr id="18" name="Text 14"/>
          <p:cNvSpPr/>
          <p:nvPr/>
        </p:nvSpPr>
        <p:spPr>
          <a:xfrm>
            <a:off x="474710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Réclamation</a:t>
            </a:r>
            <a:endParaRPr lang="fr-FR" sz="1400" noProof="0" dirty="0"/>
          </a:p>
        </p:txBody>
      </p:sp>
      <p:sp>
        <p:nvSpPr>
          <p:cNvPr id="19" name="Shape 15"/>
          <p:cNvSpPr/>
          <p:nvPr/>
        </p:nvSpPr>
        <p:spPr>
          <a:xfrm>
            <a:off x="8084668" y="2057400"/>
            <a:ext cx="3520440" cy="91440"/>
          </a:xfrm>
          <a:prstGeom prst="rect">
            <a:avLst/>
          </a:prstGeom>
          <a:solidFill>
            <a:srgbClr val="D63B3B"/>
          </a:solidFill>
          <a:ln w="12700">
            <a:solidFill>
              <a:srgbClr val="D63B3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6"/>
          <p:cNvSpPr/>
          <p:nvPr/>
        </p:nvSpPr>
        <p:spPr>
          <a:xfrm>
            <a:off x="8084668" y="2148840"/>
            <a:ext cx="3520440" cy="4023360"/>
          </a:xfrm>
          <a:prstGeom prst="rect">
            <a:avLst/>
          </a:prstGeom>
          <a:solidFill>
            <a:srgbClr val="162338"/>
          </a:solidFill>
          <a:ln w="6350">
            <a:solidFill>
              <a:srgbClr val="1F2D45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96148" y="24231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96148" y="31089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</a:t>
            </a:r>
            <a:endParaRPr lang="fr-FR" sz="2800" noProof="0" dirty="0"/>
          </a:p>
        </p:txBody>
      </p:sp>
      <p:sp>
        <p:nvSpPr>
          <p:cNvPr id="23" name="Text 18"/>
          <p:cNvSpPr/>
          <p:nvPr/>
        </p:nvSpPr>
        <p:spPr>
          <a:xfrm>
            <a:off x="8496148" y="36576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stock</a:t>
            </a:r>
            <a:endParaRPr lang="fr-FR" sz="1400" noProof="0" dirty="0"/>
          </a:p>
        </p:txBody>
      </p:sp>
      <p:sp>
        <p:nvSpPr>
          <p:cNvPr id="24" name="Text 19"/>
          <p:cNvSpPr/>
          <p:nvPr/>
        </p:nvSpPr>
        <p:spPr>
          <a:xfrm>
            <a:off x="8496148" y="42062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Prélèvement de pièce composée</a:t>
            </a:r>
            <a:endParaRPr lang="fr-FR" sz="1300" noProof="0" dirty="0"/>
          </a:p>
          <a:p>
            <a:pPr marL="0" indent="0" algn="l">
              <a:buNone/>
            </a:pPr>
            <a:r>
              <a:rPr lang="fr-FR" sz="1300" noProof="0" dirty="0">
                <a:solidFill>
                  <a:srgbClr val="D4D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trop par rapport à l'image.</a:t>
            </a:r>
            <a:endParaRPr lang="fr-FR" sz="1300" noProof="0" dirty="0"/>
          </a:p>
        </p:txBody>
      </p:sp>
      <p:sp>
        <p:nvSpPr>
          <p:cNvPr id="25" name="Text 20"/>
          <p:cNvSpPr/>
          <p:nvPr/>
        </p:nvSpPr>
        <p:spPr>
          <a:xfrm>
            <a:off x="8496148" y="57607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b="1" noProof="0" dirty="0">
                <a:solidFill>
                  <a:srgbClr val="D6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Inventaire faussé</a:t>
            </a:r>
            <a:endParaRPr lang="fr-FR" sz="1400" noProof="0" dirty="0"/>
          </a:p>
        </p:txBody>
      </p:sp>
      <p:sp>
        <p:nvSpPr>
          <p:cNvPr id="26" name="Text 2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i="1" noProof="0" dirty="0">
                <a:solidFill>
                  <a:srgbClr val="A5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prélèvement rigoureux des composés protège la qualité agence.</a:t>
            </a:r>
            <a:endParaRPr lang="fr-FR" sz="13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502920" y="411480"/>
            <a:ext cx="640080" cy="64008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543" y="597103"/>
            <a:ext cx="268834" cy="2688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28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&amp; responsabilités</a:t>
            </a:r>
            <a:endParaRPr lang="fr-FR" sz="2800" noProof="0" dirty="0"/>
          </a:p>
        </p:txBody>
      </p:sp>
      <p:sp>
        <p:nvSpPr>
          <p:cNvPr id="5" name="Text 2"/>
          <p:cNvSpPr/>
          <p:nvPr/>
        </p:nvSpPr>
        <p:spPr>
          <a:xfrm>
            <a:off x="13716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400" i="1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prélèvement de composé</a:t>
            </a:r>
            <a:endParaRPr lang="fr-FR" sz="1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600200"/>
            <a:ext cx="548640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4"/>
          <p:cNvSpPr/>
          <p:nvPr/>
        </p:nvSpPr>
        <p:spPr>
          <a:xfrm>
            <a:off x="822960" y="1737360"/>
            <a:ext cx="320040" cy="320040"/>
          </a:xfrm>
          <a:prstGeom prst="ellipse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970" y="1817370"/>
            <a:ext cx="160020" cy="1600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kern="0" spc="8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CHECKLIST</a:t>
            </a:r>
            <a:endParaRPr lang="fr-FR" sz="1600" noProof="0" dirty="0"/>
          </a:p>
        </p:txBody>
      </p:sp>
      <p:sp>
        <p:nvSpPr>
          <p:cNvPr id="10" name="Shape 6"/>
          <p:cNvSpPr/>
          <p:nvPr/>
        </p:nvSpPr>
        <p:spPr>
          <a:xfrm>
            <a:off x="640080" y="2194560"/>
            <a:ext cx="54864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7"/>
          <p:cNvSpPr/>
          <p:nvPr/>
        </p:nvSpPr>
        <p:spPr>
          <a:xfrm>
            <a:off x="914400" y="25146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2560320"/>
            <a:ext cx="182880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780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 lue (adressage + réf + qté)</a:t>
            </a:r>
            <a:endParaRPr lang="fr-FR" sz="1300" noProof="0" dirty="0"/>
          </a:p>
        </p:txBody>
      </p:sp>
      <p:sp>
        <p:nvSpPr>
          <p:cNvPr id="14" name="Shape 9"/>
          <p:cNvSpPr/>
          <p:nvPr/>
        </p:nvSpPr>
        <p:spPr>
          <a:xfrm>
            <a:off x="914400" y="30632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108960"/>
            <a:ext cx="182880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02666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du composé regardée</a:t>
            </a:r>
            <a:endParaRPr lang="fr-FR" sz="1300" noProof="0" dirty="0"/>
          </a:p>
        </p:txBody>
      </p:sp>
      <p:sp>
        <p:nvSpPr>
          <p:cNvPr id="17" name="Shape 11"/>
          <p:cNvSpPr/>
          <p:nvPr/>
        </p:nvSpPr>
        <p:spPr>
          <a:xfrm>
            <a:off x="914400" y="36118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3657600"/>
            <a:ext cx="182880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71600" y="357530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exact d'éléments prélevé</a:t>
            </a:r>
            <a:endParaRPr lang="fr-FR" sz="1300" noProof="0" dirty="0"/>
          </a:p>
        </p:txBody>
      </p:sp>
      <p:sp>
        <p:nvSpPr>
          <p:cNvPr id="20" name="Shape 13"/>
          <p:cNvSpPr/>
          <p:nvPr/>
        </p:nvSpPr>
        <p:spPr>
          <a:xfrm>
            <a:off x="914400" y="41605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206240"/>
            <a:ext cx="182880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371600" y="412394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 vérifié (ni au-dessus, ni en-dessous)</a:t>
            </a:r>
            <a:endParaRPr lang="fr-FR" sz="1300" noProof="0" dirty="0"/>
          </a:p>
        </p:txBody>
      </p:sp>
      <p:sp>
        <p:nvSpPr>
          <p:cNvPr id="23" name="Shape 15"/>
          <p:cNvSpPr/>
          <p:nvPr/>
        </p:nvSpPr>
        <p:spPr>
          <a:xfrm>
            <a:off x="914400" y="470916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4754880"/>
            <a:ext cx="182880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371600" y="467258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relevée si pa</a:t>
            </a:r>
            <a:r>
              <a:rPr lang="fr-FR" sz="130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d’emplacement attitré</a:t>
            </a:r>
            <a:endParaRPr lang="fr-FR" sz="1300" noProof="0" dirty="0"/>
          </a:p>
        </p:txBody>
      </p:sp>
      <p:sp>
        <p:nvSpPr>
          <p:cNvPr id="26" name="Shape 17"/>
          <p:cNvSpPr/>
          <p:nvPr/>
        </p:nvSpPr>
        <p:spPr>
          <a:xfrm>
            <a:off x="914400" y="52578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21A567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4" y="5303520"/>
            <a:ext cx="182880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371600" y="5221224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300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informés des manques</a:t>
            </a:r>
            <a:endParaRPr lang="fr-FR" sz="1300" noProof="0" dirty="0"/>
          </a:p>
        </p:txBody>
      </p:sp>
      <p:sp>
        <p:nvSpPr>
          <p:cNvPr id="29" name="Shape 19"/>
          <p:cNvSpPr/>
          <p:nvPr/>
        </p:nvSpPr>
        <p:spPr>
          <a:xfrm>
            <a:off x="6400800" y="1600200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0"/>
          <p:cNvSpPr/>
          <p:nvPr/>
        </p:nvSpPr>
        <p:spPr>
          <a:xfrm>
            <a:off x="6492240" y="1600200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1"/>
          <p:cNvSpPr/>
          <p:nvPr/>
        </p:nvSpPr>
        <p:spPr>
          <a:xfrm>
            <a:off x="6720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fr-FR" sz="1600" noProof="0" dirty="0"/>
          </a:p>
        </p:txBody>
      </p:sp>
      <p:sp>
        <p:nvSpPr>
          <p:cNvPr id="32" name="Text 22"/>
          <p:cNvSpPr/>
          <p:nvPr/>
        </p:nvSpPr>
        <p:spPr>
          <a:xfrm>
            <a:off x="6720840" y="210312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l'étiquette, regarde l'image, prélève le nombre exact. Signale les composés non emplacés.</a:t>
            </a:r>
            <a:endParaRPr lang="fr-FR" sz="1200" noProof="0" dirty="0"/>
          </a:p>
        </p:txBody>
      </p:sp>
      <p:sp>
        <p:nvSpPr>
          <p:cNvPr id="33" name="Shape 23"/>
          <p:cNvSpPr/>
          <p:nvPr/>
        </p:nvSpPr>
        <p:spPr>
          <a:xfrm>
            <a:off x="6400800" y="3090672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24"/>
          <p:cNvSpPr/>
          <p:nvPr/>
        </p:nvSpPr>
        <p:spPr>
          <a:xfrm>
            <a:off x="6492240" y="3090672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25"/>
          <p:cNvSpPr/>
          <p:nvPr/>
        </p:nvSpPr>
        <p:spPr>
          <a:xfrm>
            <a:off x="6720840" y="32278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Pilotes &amp; Superviseur</a:t>
            </a:r>
            <a:endParaRPr lang="fr-FR" sz="1600" noProof="0" dirty="0"/>
          </a:p>
        </p:txBody>
      </p:sp>
      <p:sp>
        <p:nvSpPr>
          <p:cNvPr id="36" name="Text 26"/>
          <p:cNvSpPr/>
          <p:nvPr/>
        </p:nvSpPr>
        <p:spPr>
          <a:xfrm>
            <a:off x="6720840" y="359359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Reçoivent les références non emplacées. Demandent la création ou crées </a:t>
            </a:r>
            <a:r>
              <a:rPr lang="fr-FR" sz="120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'emplacement avec image.</a:t>
            </a:r>
            <a:endParaRPr lang="fr-FR" sz="1200" noProof="0" dirty="0"/>
          </a:p>
        </p:txBody>
      </p:sp>
      <p:sp>
        <p:nvSpPr>
          <p:cNvPr id="37" name="Shape 27"/>
          <p:cNvSpPr/>
          <p:nvPr/>
        </p:nvSpPr>
        <p:spPr>
          <a:xfrm>
            <a:off x="6400800" y="4581144"/>
            <a:ext cx="91440" cy="1325880"/>
          </a:xfrm>
          <a:prstGeom prst="rect">
            <a:avLst/>
          </a:prstGeom>
          <a:solidFill>
            <a:srgbClr val="E89B2C"/>
          </a:solidFill>
          <a:ln w="127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28"/>
          <p:cNvSpPr/>
          <p:nvPr/>
        </p:nvSpPr>
        <p:spPr>
          <a:xfrm>
            <a:off x="6492240" y="4581144"/>
            <a:ext cx="5120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29"/>
          <p:cNvSpPr/>
          <p:nvPr/>
        </p:nvSpPr>
        <p:spPr>
          <a:xfrm>
            <a:off x="6720840" y="4718304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1600" b="1" noProof="0" dirty="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 QSE</a:t>
            </a:r>
            <a:endParaRPr lang="fr-FR" sz="1600" noProof="0" dirty="0"/>
          </a:p>
        </p:txBody>
      </p:sp>
      <p:sp>
        <p:nvSpPr>
          <p:cNvPr id="40" name="Text 30"/>
          <p:cNvSpPr/>
          <p:nvPr/>
        </p:nvSpPr>
        <p:spPr>
          <a:xfrm>
            <a:off x="6720840" y="508406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les indicateurs qualité composée. Suit les litiges agence et écarts de stock.</a:t>
            </a:r>
            <a:endParaRPr lang="fr-FR" sz="1200" noProof="0" dirty="0"/>
          </a:p>
        </p:txBody>
      </p:sp>
      <p:sp>
        <p:nvSpPr>
          <p:cNvPr id="41" name="Text 31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4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STD-PP-P16  •  Les composés  •  CLR Champigneulles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Icon"/>
          <p:cNvSpPr/>
          <p:nvPr/>
        </p:nvSpPr>
        <p:spPr>
          <a:xfrm>
            <a:off x="4907128" y="1280160"/>
            <a:ext cx="2377440" cy="2377440"/>
          </a:xfrm>
          <a:prstGeom prst="ellipse">
            <a:avLst/>
          </a:prstGeom>
          <a:solidFill>
            <a:srgbClr val="1E2A44"/>
          </a:solidFill>
          <a:ln w="25400">
            <a:solidFill>
              <a:srgbClr val="E89B2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6585" y="1969618"/>
            <a:ext cx="998525" cy="9985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420624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composé,</a:t>
            </a:r>
            <a:endParaRPr lang="fr-FR" sz="4400" noProof="0" dirty="0"/>
          </a:p>
        </p:txBody>
      </p:sp>
      <p:sp>
        <p:nvSpPr>
          <p:cNvPr id="5" name="Text 2"/>
          <p:cNvSpPr/>
          <p:nvPr/>
        </p:nvSpPr>
        <p:spPr>
          <a:xfrm>
            <a:off x="914400" y="493776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400" b="1" i="1" noProof="0" dirty="0">
                <a:solidFill>
                  <a:srgbClr val="E89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prélevé.</a:t>
            </a:r>
            <a:endParaRPr lang="fr-FR" sz="4400" noProof="0" dirty="0"/>
          </a:p>
        </p:txBody>
      </p:sp>
      <p:sp>
        <p:nvSpPr>
          <p:cNvPr id="6" name="Text 3"/>
          <p:cNvSpPr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kern="0" spc="600" noProof="0" dirty="0">
                <a:solidFill>
                  <a:srgbClr val="7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P16   •   LES COMPOSÉS   •   REXEL CLR CHAMPIGNEULLES</a:t>
            </a:r>
            <a:endParaRPr lang="fr-FR" sz="1100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394</Words>
  <Application>Microsoft Office PowerPoint</Application>
  <PresentationFormat>Grand écran</PresentationFormat>
  <Paragraphs>98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Rexel France — CLR Champigneulles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STD-PP-P16 — COMPOSÉS</dc:title>
  <dc:subject>PptxGenJS Presentation</dc:subject>
  <dc:creator>PptxGenJS</dc:creator>
  <cp:lastModifiedBy>Georges, Charlene</cp:lastModifiedBy>
  <cp:revision>2</cp:revision>
  <dcterms:created xsi:type="dcterms:W3CDTF">2026-05-12T08:00:30Z</dcterms:created>
  <dcterms:modified xsi:type="dcterms:W3CDTF">2026-06-03T14:29:42Z</dcterms:modified>
</cp:coreProperties>
</file>