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E1083F-D730-1448-A731-61B61F751B13}" type="datetimeFigureOut">
              <a:rPr lang="fr-FR" smtClean="0"/>
              <a:t>03/06/2026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048339-4D43-0D4B-A1F1-61FCCF76F17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91532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1"/>
          <p:cNvSpPr/>
          <p:nvPr/>
        </p:nvSpPr>
        <p:spPr>
          <a:xfrm>
            <a:off x="8138160" y="365760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" name="Shape 2"/>
          <p:cNvSpPr/>
          <p:nvPr/>
        </p:nvSpPr>
        <p:spPr>
          <a:xfrm>
            <a:off x="8503920" y="365760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2926080" cy="2926080"/>
          </a:xfrm>
          <a:prstGeom prst="ellipse">
            <a:avLst/>
          </a:prstGeom>
          <a:solidFill>
            <a:srgbClr val="1E3A5F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828800"/>
            <a:ext cx="1463040" cy="1463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931920" y="4572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b="1" kern="0" spc="6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REXEL FRANCE  •  CLR CHAMPIGNEULLES</a:t>
            </a:r>
            <a:endParaRPr lang="fr-FR" sz="1000" noProof="0" dirty="0"/>
          </a:p>
        </p:txBody>
      </p:sp>
      <p:sp>
        <p:nvSpPr>
          <p:cNvPr id="8" name="Shape 5"/>
          <p:cNvSpPr/>
          <p:nvPr/>
        </p:nvSpPr>
        <p:spPr>
          <a:xfrm>
            <a:off x="3931920" y="1005840"/>
            <a:ext cx="1600200" cy="3200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9" name="Text 6"/>
          <p:cNvSpPr/>
          <p:nvPr/>
        </p:nvSpPr>
        <p:spPr>
          <a:xfrm>
            <a:off x="3931920" y="10058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kern="0" spc="300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P4</a:t>
            </a:r>
            <a:endParaRPr lang="fr-FR" sz="1100" noProof="0" dirty="0"/>
          </a:p>
        </p:txBody>
      </p:sp>
      <p:sp>
        <p:nvSpPr>
          <p:cNvPr id="10" name="Text 7"/>
          <p:cNvSpPr/>
          <p:nvPr/>
        </p:nvSpPr>
        <p:spPr>
          <a:xfrm>
            <a:off x="3931920" y="141732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6000" b="1" noProof="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Préparation</a:t>
            </a:r>
            <a:endParaRPr lang="fr-FR" sz="6000" noProof="0" dirty="0"/>
          </a:p>
        </p:txBody>
      </p:sp>
      <p:sp>
        <p:nvSpPr>
          <p:cNvPr id="11" name="Text 8"/>
          <p:cNvSpPr/>
          <p:nvPr/>
        </p:nvSpPr>
        <p:spPr>
          <a:xfrm>
            <a:off x="3931920" y="214884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6000" b="1" i="1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détail.</a:t>
            </a:r>
            <a:endParaRPr lang="fr-FR" sz="6000" noProof="0" dirty="0"/>
          </a:p>
        </p:txBody>
      </p:sp>
      <p:sp>
        <p:nvSpPr>
          <p:cNvPr id="12" name="Text 9"/>
          <p:cNvSpPr/>
          <p:nvPr/>
        </p:nvSpPr>
        <p:spPr>
          <a:xfrm>
            <a:off x="3931920" y="30632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500" i="1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 lire, bien prélever, bien coller.</a:t>
            </a:r>
            <a:endParaRPr lang="fr-FR" sz="1500" noProof="0" dirty="0"/>
          </a:p>
        </p:txBody>
      </p:sp>
      <p:sp>
        <p:nvSpPr>
          <p:cNvPr id="13" name="Shape 10"/>
          <p:cNvSpPr/>
          <p:nvPr/>
        </p:nvSpPr>
        <p:spPr>
          <a:xfrm>
            <a:off x="3931920" y="3657600"/>
            <a:ext cx="548640" cy="2743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Text 11"/>
          <p:cNvSpPr/>
          <p:nvPr/>
        </p:nvSpPr>
        <p:spPr>
          <a:xfrm>
            <a:off x="3931920" y="3840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kern="0" spc="2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STD-PP-P4   •   Mai 2026   •   Formation opérateur</a:t>
            </a:r>
            <a:endParaRPr lang="fr-FR" sz="1000" noProof="0" dirty="0"/>
          </a:p>
        </p:txBody>
      </p:sp>
      <p:sp>
        <p:nvSpPr>
          <p:cNvPr id="15" name="Text 12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850" kern="0" spc="30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&amp; Pack  —  Document contrôlé  —  Usage interne</a:t>
            </a:r>
            <a:endParaRPr lang="fr-FR" sz="850" noProof="0" dirty="0"/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0" y="274320"/>
            <a:ext cx="3108960" cy="3108960"/>
          </a:xfrm>
          <a:prstGeom prst="ellipse">
            <a:avLst/>
          </a:prstGeom>
          <a:solidFill>
            <a:srgbClr val="1E3A5F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1097280"/>
            <a:ext cx="1463040" cy="1463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657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3800" b="1" noProof="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Jamais d'étiquette</a:t>
            </a:r>
            <a:endParaRPr lang="fr-FR" sz="3800" noProof="0" dirty="0"/>
          </a:p>
        </p:txBody>
      </p:sp>
      <p:sp>
        <p:nvSpPr>
          <p:cNvPr id="5" name="Text 2"/>
          <p:cNvSpPr/>
          <p:nvPr/>
        </p:nvSpPr>
        <p:spPr>
          <a:xfrm>
            <a:off x="548640" y="4160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3800" b="1" i="1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la référence. »</a:t>
            </a:r>
            <a:endParaRPr lang="fr-FR" sz="3800" noProof="0" dirty="0"/>
          </a:p>
        </p:txBody>
      </p:sp>
      <p:sp>
        <p:nvSpPr>
          <p:cNvPr id="6" name="Text 3"/>
          <p:cNvSpPr/>
          <p:nvPr/>
        </p:nvSpPr>
        <p:spPr>
          <a:xfrm>
            <a:off x="54864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b="1" kern="0" spc="8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FONDATEUR</a:t>
            </a:r>
            <a:endParaRPr lang="fr-FR" sz="90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E3A5F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612648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57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400" b="1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l'étiquette</a:t>
            </a:r>
            <a:endParaRPr lang="fr-FR" sz="2400" noProof="0" dirty="0"/>
          </a:p>
        </p:txBody>
      </p:sp>
      <p:sp>
        <p:nvSpPr>
          <p:cNvPr id="5" name="Text 2"/>
          <p:cNvSpPr/>
          <p:nvPr/>
        </p:nvSpPr>
        <p:spPr>
          <a:xfrm>
            <a:off x="1188720" y="8686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i="1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informations à vérifier avant tout prélèvement</a:t>
            </a:r>
            <a:endParaRPr lang="fr-FR" sz="1100" noProof="0" dirty="0"/>
          </a:p>
        </p:txBody>
      </p:sp>
      <p:sp>
        <p:nvSpPr>
          <p:cNvPr id="6" name="Text 3"/>
          <p:cNvSpPr/>
          <p:nvPr/>
        </p:nvSpPr>
        <p:spPr>
          <a:xfrm>
            <a:off x="7772400" y="502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100" b="1" kern="0" spc="400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03</a:t>
            </a:r>
            <a:endParaRPr lang="fr-FR" sz="1100" noProof="0" dirty="0"/>
          </a:p>
        </p:txBody>
      </p:sp>
      <p:sp>
        <p:nvSpPr>
          <p:cNvPr id="7" name="Shape 4"/>
          <p:cNvSpPr/>
          <p:nvPr/>
        </p:nvSpPr>
        <p:spPr>
          <a:xfrm>
            <a:off x="7772400" y="822960"/>
            <a:ext cx="914400" cy="2743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8" name="Shape 5"/>
          <p:cNvSpPr/>
          <p:nvPr/>
        </p:nvSpPr>
        <p:spPr>
          <a:xfrm>
            <a:off x="502920" y="1417320"/>
            <a:ext cx="25603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9" name="Shape 6"/>
          <p:cNvSpPr/>
          <p:nvPr/>
        </p:nvSpPr>
        <p:spPr>
          <a:xfrm>
            <a:off x="502920" y="1417320"/>
            <a:ext cx="2560320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Shape 7"/>
          <p:cNvSpPr/>
          <p:nvPr/>
        </p:nvSpPr>
        <p:spPr>
          <a:xfrm>
            <a:off x="1280160" y="1783080"/>
            <a:ext cx="1005840" cy="1005840"/>
          </a:xfrm>
          <a:prstGeom prst="ellipse">
            <a:avLst/>
          </a:prstGeom>
          <a:solidFill>
            <a:srgbClr val="F5F7FA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8760" y="201168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85800" y="2926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800" b="1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Emplacement</a:t>
            </a:r>
            <a:endParaRPr lang="fr-FR" sz="1800" noProof="0" dirty="0"/>
          </a:p>
        </p:txBody>
      </p:sp>
      <p:sp>
        <p:nvSpPr>
          <p:cNvPr id="13" name="Text 9"/>
          <p:cNvSpPr/>
          <p:nvPr/>
        </p:nvSpPr>
        <p:spPr>
          <a:xfrm>
            <a:off x="685800" y="32918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allée — entre-poteau — niveau</a:t>
            </a:r>
            <a:endParaRPr lang="fr-FR" sz="1100" noProof="0" dirty="0"/>
          </a:p>
        </p:txBody>
      </p:sp>
      <p:sp>
        <p:nvSpPr>
          <p:cNvPr id="14" name="Shape 10"/>
          <p:cNvSpPr/>
          <p:nvPr/>
        </p:nvSpPr>
        <p:spPr>
          <a:xfrm>
            <a:off x="3291840" y="1417320"/>
            <a:ext cx="25603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5" name="Shape 11"/>
          <p:cNvSpPr/>
          <p:nvPr/>
        </p:nvSpPr>
        <p:spPr>
          <a:xfrm>
            <a:off x="3291840" y="1417320"/>
            <a:ext cx="2560320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Shape 12"/>
          <p:cNvSpPr/>
          <p:nvPr/>
        </p:nvSpPr>
        <p:spPr>
          <a:xfrm>
            <a:off x="4069080" y="1783080"/>
            <a:ext cx="1005840" cy="1005840"/>
          </a:xfrm>
          <a:prstGeom prst="ellipse">
            <a:avLst/>
          </a:prstGeom>
          <a:solidFill>
            <a:srgbClr val="F5F7FA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0" y="2011680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474720" y="2926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800" b="1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</a:t>
            </a:r>
            <a:endParaRPr lang="fr-FR" sz="1800" noProof="0" dirty="0"/>
          </a:p>
        </p:txBody>
      </p:sp>
      <p:sp>
        <p:nvSpPr>
          <p:cNvPr id="19" name="Text 14"/>
          <p:cNvSpPr/>
          <p:nvPr/>
        </p:nvSpPr>
        <p:spPr>
          <a:xfrm>
            <a:off x="3474720" y="32918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désignation + poids vérifiés</a:t>
            </a:r>
            <a:endParaRPr lang="fr-FR" sz="1100" noProof="0" dirty="0"/>
          </a:p>
        </p:txBody>
      </p:sp>
      <p:sp>
        <p:nvSpPr>
          <p:cNvPr id="20" name="Shape 15"/>
          <p:cNvSpPr/>
          <p:nvPr/>
        </p:nvSpPr>
        <p:spPr>
          <a:xfrm>
            <a:off x="6080760" y="1417320"/>
            <a:ext cx="25603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1" name="Shape 16"/>
          <p:cNvSpPr/>
          <p:nvPr/>
        </p:nvSpPr>
        <p:spPr>
          <a:xfrm>
            <a:off x="6080760" y="1417320"/>
            <a:ext cx="2560320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2" name="Shape 17"/>
          <p:cNvSpPr/>
          <p:nvPr/>
        </p:nvSpPr>
        <p:spPr>
          <a:xfrm>
            <a:off x="6858000" y="1783080"/>
            <a:ext cx="1005840" cy="1005840"/>
          </a:xfrm>
          <a:prstGeom prst="ellipse">
            <a:avLst/>
          </a:prstGeom>
          <a:solidFill>
            <a:srgbClr val="F5F7FA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0" y="2011680"/>
            <a:ext cx="548640" cy="5486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263640" y="2926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800" b="1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Quantité</a:t>
            </a:r>
            <a:endParaRPr lang="fr-FR" sz="1800" noProof="0" dirty="0"/>
          </a:p>
        </p:txBody>
      </p:sp>
      <p:sp>
        <p:nvSpPr>
          <p:cNvPr id="25" name="Text 19"/>
          <p:cNvSpPr/>
          <p:nvPr/>
        </p:nvSpPr>
        <p:spPr>
          <a:xfrm>
            <a:off x="6263640" y="32918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Prélever exactement</a:t>
            </a:r>
            <a:endParaRPr lang="fr-FR" sz="1100" noProof="0" dirty="0"/>
          </a:p>
          <a:p>
            <a:pPr marL="0" indent="0" algn="ctr">
              <a:buNone/>
            </a:pPr>
            <a:r>
              <a:rPr lang="fr-FR" sz="11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quantité demandée</a:t>
            </a:r>
            <a:endParaRPr lang="fr-FR" sz="1100" noProof="0" dirty="0"/>
          </a:p>
        </p:txBody>
      </p:sp>
      <p:sp>
        <p:nvSpPr>
          <p:cNvPr id="26" name="Shape 20"/>
          <p:cNvSpPr/>
          <p:nvPr/>
        </p:nvSpPr>
        <p:spPr>
          <a:xfrm>
            <a:off x="548640" y="4434840"/>
            <a:ext cx="8046720" cy="50292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4544568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143000" y="44348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noProof="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cas de doute = utiliser l'étiquette de réception pour indication.</a:t>
            </a:r>
            <a:endParaRPr lang="fr-FR" sz="130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E3A5F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612648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57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400" b="1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Prélever &amp; étiqueter</a:t>
            </a:r>
            <a:endParaRPr lang="fr-FR" sz="2400" noProof="0" dirty="0"/>
          </a:p>
        </p:txBody>
      </p:sp>
      <p:sp>
        <p:nvSpPr>
          <p:cNvPr id="5" name="Text 2"/>
          <p:cNvSpPr/>
          <p:nvPr/>
        </p:nvSpPr>
        <p:spPr>
          <a:xfrm>
            <a:off x="1188720" y="8686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i="1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bons gestes au poste de prélèvement</a:t>
            </a:r>
            <a:endParaRPr lang="fr-FR" sz="1100" noProof="0" dirty="0"/>
          </a:p>
        </p:txBody>
      </p:sp>
      <p:sp>
        <p:nvSpPr>
          <p:cNvPr id="6" name="Text 3"/>
          <p:cNvSpPr/>
          <p:nvPr/>
        </p:nvSpPr>
        <p:spPr>
          <a:xfrm>
            <a:off x="7772400" y="502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100" b="1" kern="0" spc="400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03</a:t>
            </a:r>
            <a:endParaRPr lang="fr-FR" sz="1100" noProof="0" dirty="0"/>
          </a:p>
        </p:txBody>
      </p:sp>
      <p:sp>
        <p:nvSpPr>
          <p:cNvPr id="7" name="Shape 4"/>
          <p:cNvSpPr/>
          <p:nvPr/>
        </p:nvSpPr>
        <p:spPr>
          <a:xfrm>
            <a:off x="7772400" y="822960"/>
            <a:ext cx="914400" cy="2743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8" name="Shape 5"/>
          <p:cNvSpPr/>
          <p:nvPr/>
        </p:nvSpPr>
        <p:spPr>
          <a:xfrm>
            <a:off x="548640" y="1417320"/>
            <a:ext cx="39776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9" name="Shape 6"/>
          <p:cNvSpPr/>
          <p:nvPr/>
        </p:nvSpPr>
        <p:spPr>
          <a:xfrm>
            <a:off x="548640" y="1417320"/>
            <a:ext cx="73152" cy="29260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60020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3000" y="1554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kern="0" spc="400" noProof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FAIRE</a:t>
            </a:r>
            <a:endParaRPr lang="fr-FR" sz="1300" noProof="0" dirty="0"/>
          </a:p>
        </p:txBody>
      </p:sp>
      <p:sp>
        <p:nvSpPr>
          <p:cNvPr id="12" name="Shape 8"/>
          <p:cNvSpPr/>
          <p:nvPr/>
        </p:nvSpPr>
        <p:spPr>
          <a:xfrm>
            <a:off x="777240" y="2103120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Text 9"/>
          <p:cNvSpPr/>
          <p:nvPr/>
        </p:nvSpPr>
        <p:spPr>
          <a:xfrm>
            <a:off x="777240" y="21031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fr-FR" sz="1000" noProof="0" dirty="0"/>
          </a:p>
        </p:txBody>
      </p:sp>
      <p:sp>
        <p:nvSpPr>
          <p:cNvPr id="14" name="Text 10"/>
          <p:cNvSpPr/>
          <p:nvPr/>
        </p:nvSpPr>
        <p:spPr>
          <a:xfrm>
            <a:off x="1143000" y="20574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300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Mettre en sachet et fermer avec l'étiquette</a:t>
            </a:r>
            <a:endParaRPr lang="fr-FR" sz="1300" noProof="0" dirty="0"/>
          </a:p>
        </p:txBody>
      </p:sp>
      <p:sp>
        <p:nvSpPr>
          <p:cNvPr id="15" name="Shape 11"/>
          <p:cNvSpPr/>
          <p:nvPr/>
        </p:nvSpPr>
        <p:spPr>
          <a:xfrm>
            <a:off x="777240" y="2788920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Text 12"/>
          <p:cNvSpPr/>
          <p:nvPr/>
        </p:nvSpPr>
        <p:spPr>
          <a:xfrm>
            <a:off x="777240" y="27889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fr-FR" sz="1000" noProof="0" dirty="0"/>
          </a:p>
        </p:txBody>
      </p:sp>
      <p:sp>
        <p:nvSpPr>
          <p:cNvPr id="17" name="Text 13"/>
          <p:cNvSpPr/>
          <p:nvPr/>
        </p:nvSpPr>
        <p:spPr>
          <a:xfrm>
            <a:off x="1143000" y="27432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300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Coller sur le dessus ou le dessous</a:t>
            </a:r>
            <a:endParaRPr lang="fr-FR" sz="1300" noProof="0" dirty="0"/>
          </a:p>
        </p:txBody>
      </p:sp>
      <p:sp>
        <p:nvSpPr>
          <p:cNvPr id="18" name="Shape 14"/>
          <p:cNvSpPr/>
          <p:nvPr/>
        </p:nvSpPr>
        <p:spPr>
          <a:xfrm>
            <a:off x="777240" y="3474720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9" name="Text 15"/>
          <p:cNvSpPr/>
          <p:nvPr/>
        </p:nvSpPr>
        <p:spPr>
          <a:xfrm>
            <a:off x="777240" y="34747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fr-FR" sz="1000" noProof="0" dirty="0"/>
          </a:p>
        </p:txBody>
      </p:sp>
      <p:sp>
        <p:nvSpPr>
          <p:cNvPr id="20" name="Text 16"/>
          <p:cNvSpPr/>
          <p:nvPr/>
        </p:nvSpPr>
        <p:spPr>
          <a:xfrm>
            <a:off x="1143000" y="34290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300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Déposer dans le colis indiqué</a:t>
            </a:r>
            <a:endParaRPr lang="fr-FR" sz="1300" noProof="0" dirty="0"/>
          </a:p>
        </p:txBody>
      </p:sp>
      <p:sp>
        <p:nvSpPr>
          <p:cNvPr id="21" name="Shape 17"/>
          <p:cNvSpPr/>
          <p:nvPr/>
        </p:nvSpPr>
        <p:spPr>
          <a:xfrm>
            <a:off x="4617720" y="1417320"/>
            <a:ext cx="39776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2" name="Shape 18"/>
          <p:cNvSpPr/>
          <p:nvPr/>
        </p:nvSpPr>
        <p:spPr>
          <a:xfrm>
            <a:off x="4617720" y="1417320"/>
            <a:ext cx="73152" cy="2926080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1600200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212080" y="1554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kern="0" spc="400" noProof="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JAMAIS</a:t>
            </a:r>
            <a:endParaRPr lang="fr-FR" sz="1300" noProof="0" dirty="0"/>
          </a:p>
        </p:txBody>
      </p:sp>
      <p:sp>
        <p:nvSpPr>
          <p:cNvPr id="25" name="Shape 20"/>
          <p:cNvSpPr/>
          <p:nvPr/>
        </p:nvSpPr>
        <p:spPr>
          <a:xfrm>
            <a:off x="4846320" y="2103120"/>
            <a:ext cx="228600" cy="228600"/>
          </a:xfrm>
          <a:prstGeom prst="ellipse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6" name="Text 21"/>
          <p:cNvSpPr/>
          <p:nvPr/>
        </p:nvSpPr>
        <p:spPr>
          <a:xfrm>
            <a:off x="4846320" y="20848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fr-FR" sz="1100" noProof="0" dirty="0"/>
          </a:p>
        </p:txBody>
      </p:sp>
      <p:sp>
        <p:nvSpPr>
          <p:cNvPr id="27" name="Text 22"/>
          <p:cNvSpPr/>
          <p:nvPr/>
        </p:nvSpPr>
        <p:spPr>
          <a:xfrm>
            <a:off x="5212080" y="20574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300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D'étiquette sur la pièce nue</a:t>
            </a:r>
            <a:endParaRPr lang="fr-FR" sz="1300" noProof="0" dirty="0"/>
          </a:p>
        </p:txBody>
      </p:sp>
      <p:sp>
        <p:nvSpPr>
          <p:cNvPr id="28" name="Shape 23"/>
          <p:cNvSpPr/>
          <p:nvPr/>
        </p:nvSpPr>
        <p:spPr>
          <a:xfrm>
            <a:off x="4846320" y="2788920"/>
            <a:ext cx="228600" cy="228600"/>
          </a:xfrm>
          <a:prstGeom prst="ellipse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9" name="Text 24"/>
          <p:cNvSpPr/>
          <p:nvPr/>
        </p:nvSpPr>
        <p:spPr>
          <a:xfrm>
            <a:off x="4846320" y="27706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fr-FR" sz="1100" noProof="0" dirty="0"/>
          </a:p>
        </p:txBody>
      </p:sp>
      <p:sp>
        <p:nvSpPr>
          <p:cNvPr id="30" name="Text 25"/>
          <p:cNvSpPr/>
          <p:nvPr/>
        </p:nvSpPr>
        <p:spPr>
          <a:xfrm>
            <a:off x="5212080" y="27432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300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D'étiquette sur la référence ou le visuel</a:t>
            </a:r>
            <a:endParaRPr lang="fr-FR" sz="1300" noProof="0" dirty="0"/>
          </a:p>
        </p:txBody>
      </p:sp>
      <p:sp>
        <p:nvSpPr>
          <p:cNvPr id="31" name="Shape 26"/>
          <p:cNvSpPr/>
          <p:nvPr/>
        </p:nvSpPr>
        <p:spPr>
          <a:xfrm>
            <a:off x="4846320" y="3474720"/>
            <a:ext cx="228600" cy="228600"/>
          </a:xfrm>
          <a:prstGeom prst="ellipse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2" name="Text 27"/>
          <p:cNvSpPr/>
          <p:nvPr/>
        </p:nvSpPr>
        <p:spPr>
          <a:xfrm>
            <a:off x="4846320" y="34564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fr-FR" sz="1100" noProof="0" dirty="0"/>
          </a:p>
        </p:txBody>
      </p:sp>
      <p:sp>
        <p:nvSpPr>
          <p:cNvPr id="33" name="Text 28"/>
          <p:cNvSpPr/>
          <p:nvPr/>
        </p:nvSpPr>
        <p:spPr>
          <a:xfrm>
            <a:off x="5212080" y="34290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300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code-barres plié ou masqué</a:t>
            </a:r>
            <a:endParaRPr lang="fr-FR" sz="1300" noProof="0" dirty="0"/>
          </a:p>
        </p:txBody>
      </p:sp>
      <p:sp>
        <p:nvSpPr>
          <p:cNvPr id="34" name="Text 29"/>
          <p:cNvSpPr/>
          <p:nvPr/>
        </p:nvSpPr>
        <p:spPr>
          <a:xfrm>
            <a:off x="548640" y="45262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500" b="1" i="1" noProof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Étiquette lisible  =  colis fiable</a:t>
            </a:r>
            <a:endParaRPr lang="fr-FR" sz="150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E3A5F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612648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57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400" b="1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Clôturer le prélèvement</a:t>
            </a:r>
            <a:endParaRPr lang="fr-FR" sz="2400" noProof="0" dirty="0"/>
          </a:p>
        </p:txBody>
      </p:sp>
      <p:sp>
        <p:nvSpPr>
          <p:cNvPr id="5" name="Text 2"/>
          <p:cNvSpPr/>
          <p:nvPr/>
        </p:nvSpPr>
        <p:spPr>
          <a:xfrm>
            <a:off x="1188720" y="8686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i="1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chaque prise : 3 réflexes obligatoires</a:t>
            </a:r>
            <a:endParaRPr lang="fr-FR" sz="1100" noProof="0" dirty="0"/>
          </a:p>
        </p:txBody>
      </p:sp>
      <p:sp>
        <p:nvSpPr>
          <p:cNvPr id="6" name="Text 3"/>
          <p:cNvSpPr/>
          <p:nvPr/>
        </p:nvSpPr>
        <p:spPr>
          <a:xfrm>
            <a:off x="7772400" y="502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100" b="1" kern="0" spc="400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03</a:t>
            </a:r>
            <a:endParaRPr lang="fr-FR" sz="1100" noProof="0" dirty="0"/>
          </a:p>
        </p:txBody>
      </p:sp>
      <p:sp>
        <p:nvSpPr>
          <p:cNvPr id="7" name="Shape 4"/>
          <p:cNvSpPr/>
          <p:nvPr/>
        </p:nvSpPr>
        <p:spPr>
          <a:xfrm>
            <a:off x="7772400" y="822960"/>
            <a:ext cx="914400" cy="2743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8" name="Shape 5"/>
          <p:cNvSpPr/>
          <p:nvPr/>
        </p:nvSpPr>
        <p:spPr>
          <a:xfrm>
            <a:off x="777240" y="1463040"/>
            <a:ext cx="23774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9" name="Text 6"/>
          <p:cNvSpPr/>
          <p:nvPr/>
        </p:nvSpPr>
        <p:spPr>
          <a:xfrm>
            <a:off x="2331720" y="150876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6000" b="1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fr-FR" sz="6000" noProof="0" dirty="0"/>
          </a:p>
        </p:txBody>
      </p:sp>
      <p:sp>
        <p:nvSpPr>
          <p:cNvPr id="10" name="Shape 7"/>
          <p:cNvSpPr/>
          <p:nvPr/>
        </p:nvSpPr>
        <p:spPr>
          <a:xfrm>
            <a:off x="1051560" y="1737360"/>
            <a:ext cx="777240" cy="777240"/>
          </a:xfrm>
          <a:prstGeom prst="ellipse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6152" y="1901952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5156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900" b="1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Ranger</a:t>
            </a:r>
            <a:endParaRPr lang="fr-FR" sz="1900" noProof="0" dirty="0"/>
          </a:p>
        </p:txBody>
      </p:sp>
      <p:sp>
        <p:nvSpPr>
          <p:cNvPr id="13" name="Text 9"/>
          <p:cNvSpPr/>
          <p:nvPr/>
        </p:nvSpPr>
        <p:spPr>
          <a:xfrm>
            <a:off x="1051560" y="3017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900" b="1" i="1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l'emplacement</a:t>
            </a:r>
            <a:endParaRPr lang="fr-FR" sz="1900" noProof="0" dirty="0"/>
          </a:p>
        </p:txBody>
      </p:sp>
      <p:sp>
        <p:nvSpPr>
          <p:cNvPr id="14" name="Shape 10"/>
          <p:cNvSpPr/>
          <p:nvPr/>
        </p:nvSpPr>
        <p:spPr>
          <a:xfrm>
            <a:off x="1051560" y="3429000"/>
            <a:ext cx="365760" cy="18288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5" name="Text 11"/>
          <p:cNvSpPr/>
          <p:nvPr/>
        </p:nvSpPr>
        <p:spPr>
          <a:xfrm>
            <a:off x="1051560" y="35204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Carton vide ramassé, étiquette à jour</a:t>
            </a:r>
            <a:endParaRPr lang="fr-FR" sz="1050" noProof="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1820" y="2697480"/>
            <a:ext cx="274320" cy="27432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3383280" y="1463040"/>
            <a:ext cx="23774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8" name="Text 13"/>
          <p:cNvSpPr/>
          <p:nvPr/>
        </p:nvSpPr>
        <p:spPr>
          <a:xfrm>
            <a:off x="4937760" y="150876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6000" b="1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fr-FR" sz="6000" noProof="0" dirty="0"/>
          </a:p>
        </p:txBody>
      </p:sp>
      <p:sp>
        <p:nvSpPr>
          <p:cNvPr id="19" name="Shape 14"/>
          <p:cNvSpPr/>
          <p:nvPr/>
        </p:nvSpPr>
        <p:spPr>
          <a:xfrm>
            <a:off x="3657600" y="1737360"/>
            <a:ext cx="777240" cy="777240"/>
          </a:xfrm>
          <a:prstGeom prst="ellipse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22192" y="1901952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65760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900" b="1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Signaler</a:t>
            </a:r>
            <a:endParaRPr lang="fr-FR" sz="1900" noProof="0" dirty="0"/>
          </a:p>
        </p:txBody>
      </p:sp>
      <p:sp>
        <p:nvSpPr>
          <p:cNvPr id="22" name="Text 16"/>
          <p:cNvSpPr/>
          <p:nvPr/>
        </p:nvSpPr>
        <p:spPr>
          <a:xfrm>
            <a:off x="3657600" y="3017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900" b="1" i="1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ruptures</a:t>
            </a:r>
            <a:endParaRPr lang="fr-FR" sz="1900" noProof="0" dirty="0"/>
          </a:p>
        </p:txBody>
      </p:sp>
      <p:sp>
        <p:nvSpPr>
          <p:cNvPr id="23" name="Shape 17"/>
          <p:cNvSpPr/>
          <p:nvPr/>
        </p:nvSpPr>
        <p:spPr>
          <a:xfrm>
            <a:off x="3657600" y="3429000"/>
            <a:ext cx="365760" cy="18288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4" name="Text 18"/>
          <p:cNvSpPr/>
          <p:nvPr/>
        </p:nvSpPr>
        <p:spPr>
          <a:xfrm>
            <a:off x="3657600" y="35204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Étiquette verte / rouge, pilote prévenu</a:t>
            </a:r>
            <a:endParaRPr lang="fr-FR" sz="1050" noProof="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7860" y="2697480"/>
            <a:ext cx="274320" cy="274320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5989320" y="1463040"/>
            <a:ext cx="23774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7" name="Text 20"/>
          <p:cNvSpPr/>
          <p:nvPr/>
        </p:nvSpPr>
        <p:spPr>
          <a:xfrm>
            <a:off x="7543800" y="150876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6000" b="1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fr-FR" sz="6000" noProof="0" dirty="0"/>
          </a:p>
        </p:txBody>
      </p:sp>
      <p:sp>
        <p:nvSpPr>
          <p:cNvPr id="28" name="Shape 21"/>
          <p:cNvSpPr/>
          <p:nvPr/>
        </p:nvSpPr>
        <p:spPr>
          <a:xfrm>
            <a:off x="6263640" y="1737360"/>
            <a:ext cx="777240" cy="777240"/>
          </a:xfrm>
          <a:prstGeom prst="ellipse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8232" y="1901952"/>
            <a:ext cx="457200" cy="45720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626364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900" b="1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Adopter</a:t>
            </a:r>
            <a:endParaRPr lang="fr-FR" sz="1900" noProof="0" dirty="0"/>
          </a:p>
        </p:txBody>
      </p:sp>
      <p:sp>
        <p:nvSpPr>
          <p:cNvPr id="31" name="Text 23"/>
          <p:cNvSpPr/>
          <p:nvPr/>
        </p:nvSpPr>
        <p:spPr>
          <a:xfrm>
            <a:off x="6263640" y="3017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900" b="1" i="1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bons gestes</a:t>
            </a:r>
            <a:endParaRPr lang="fr-FR" sz="1900" noProof="0" dirty="0"/>
          </a:p>
        </p:txBody>
      </p:sp>
      <p:sp>
        <p:nvSpPr>
          <p:cNvPr id="32" name="Shape 24"/>
          <p:cNvSpPr/>
          <p:nvPr/>
        </p:nvSpPr>
        <p:spPr>
          <a:xfrm>
            <a:off x="6263640" y="3429000"/>
            <a:ext cx="365760" cy="18288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3" name="Text 25"/>
          <p:cNvSpPr/>
          <p:nvPr/>
        </p:nvSpPr>
        <p:spPr>
          <a:xfrm>
            <a:off x="6263640" y="35204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Hauteur épaules maxi, dos protégé</a:t>
            </a:r>
            <a:endParaRPr lang="fr-FR" sz="1050" noProof="0" dirty="0"/>
          </a:p>
        </p:txBody>
      </p:sp>
      <p:sp>
        <p:nvSpPr>
          <p:cNvPr id="34" name="Text 26"/>
          <p:cNvSpPr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i="1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emplacement propre  •  Un signal donné  •  Un dos préservé</a:t>
            </a:r>
            <a:endParaRPr lang="fr-FR" sz="120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kern="0" spc="800" noProof="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RISQUES RÉELS</a:t>
            </a:r>
            <a:endParaRPr lang="fr-FR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800" b="1" noProof="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arrive si la prépa n'est pas rigoureuse</a:t>
            </a:r>
            <a:endParaRPr lang="fr-FR" sz="2800" noProof="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8640" cy="27432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5" name="Shape 3"/>
          <p:cNvSpPr/>
          <p:nvPr/>
        </p:nvSpPr>
        <p:spPr>
          <a:xfrm>
            <a:off x="342900" y="1783080"/>
            <a:ext cx="2697480" cy="2651760"/>
          </a:xfrm>
          <a:prstGeom prst="rect">
            <a:avLst/>
          </a:prstGeom>
          <a:solidFill>
            <a:srgbClr val="13253F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" name="Shape 4"/>
          <p:cNvSpPr/>
          <p:nvPr/>
        </p:nvSpPr>
        <p:spPr>
          <a:xfrm>
            <a:off x="342900" y="1783080"/>
            <a:ext cx="2697480" cy="54864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" y="210312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17220" y="26060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400" b="1" noProof="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</a:t>
            </a:r>
            <a:endParaRPr lang="fr-FR" sz="2400" noProof="0" dirty="0"/>
          </a:p>
        </p:txBody>
      </p:sp>
      <p:sp>
        <p:nvSpPr>
          <p:cNvPr id="9" name="Text 6"/>
          <p:cNvSpPr/>
          <p:nvPr/>
        </p:nvSpPr>
        <p:spPr>
          <a:xfrm>
            <a:off x="617220" y="30175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i="1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préparation</a:t>
            </a:r>
            <a:endParaRPr lang="fr-FR" sz="1300" noProof="0" dirty="0"/>
          </a:p>
        </p:txBody>
      </p:sp>
      <p:sp>
        <p:nvSpPr>
          <p:cNvPr id="10" name="Text 7"/>
          <p:cNvSpPr/>
          <p:nvPr/>
        </p:nvSpPr>
        <p:spPr>
          <a:xfrm>
            <a:off x="617220" y="338328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Mauvaise réf. ou quantité.</a:t>
            </a:r>
            <a:endParaRPr lang="fr-FR" sz="1100" noProof="0" dirty="0"/>
          </a:p>
          <a:p>
            <a:pPr marL="0" indent="0">
              <a:buNone/>
            </a:pPr>
            <a:r>
              <a:rPr lang="fr-FR" sz="11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de reprise.</a:t>
            </a:r>
            <a:endParaRPr lang="fr-FR" sz="1100" noProof="0" dirty="0"/>
          </a:p>
        </p:txBody>
      </p:sp>
      <p:sp>
        <p:nvSpPr>
          <p:cNvPr id="11" name="Shape 8"/>
          <p:cNvSpPr/>
          <p:nvPr/>
        </p:nvSpPr>
        <p:spPr>
          <a:xfrm>
            <a:off x="342900" y="4023360"/>
            <a:ext cx="2697480" cy="41148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2" name="Text 9"/>
          <p:cNvSpPr/>
          <p:nvPr/>
        </p:nvSpPr>
        <p:spPr>
          <a:xfrm>
            <a:off x="617220" y="40233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noProof="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Litige client</a:t>
            </a:r>
            <a:endParaRPr lang="fr-FR" sz="1200" noProof="0" dirty="0"/>
          </a:p>
        </p:txBody>
      </p:sp>
      <p:sp>
        <p:nvSpPr>
          <p:cNvPr id="13" name="Shape 10"/>
          <p:cNvSpPr/>
          <p:nvPr/>
        </p:nvSpPr>
        <p:spPr>
          <a:xfrm>
            <a:off x="3223260" y="1783080"/>
            <a:ext cx="2697480" cy="2651760"/>
          </a:xfrm>
          <a:prstGeom prst="rect">
            <a:avLst/>
          </a:prstGeom>
          <a:solidFill>
            <a:srgbClr val="13253F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Shape 11"/>
          <p:cNvSpPr/>
          <p:nvPr/>
        </p:nvSpPr>
        <p:spPr>
          <a:xfrm>
            <a:off x="3223260" y="1783080"/>
            <a:ext cx="2697480" cy="54864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7580" y="2103120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97580" y="26060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400" b="1" noProof="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Propreté</a:t>
            </a:r>
            <a:endParaRPr lang="fr-FR" sz="2400" noProof="0" dirty="0"/>
          </a:p>
        </p:txBody>
      </p:sp>
      <p:sp>
        <p:nvSpPr>
          <p:cNvPr id="17" name="Text 13"/>
          <p:cNvSpPr/>
          <p:nvPr/>
        </p:nvSpPr>
        <p:spPr>
          <a:xfrm>
            <a:off x="3497580" y="30175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i="1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dégradée</a:t>
            </a:r>
            <a:endParaRPr lang="fr-FR" sz="1300" noProof="0" dirty="0"/>
          </a:p>
        </p:txBody>
      </p:sp>
      <p:sp>
        <p:nvSpPr>
          <p:cNvPr id="18" name="Text 14"/>
          <p:cNvSpPr/>
          <p:nvPr/>
        </p:nvSpPr>
        <p:spPr>
          <a:xfrm>
            <a:off x="3497580" y="338328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Cartons vides non ramassés,</a:t>
            </a:r>
            <a:endParaRPr lang="fr-FR" sz="1100" noProof="0" dirty="0"/>
          </a:p>
          <a:p>
            <a:pPr marL="0" indent="0">
              <a:buNone/>
            </a:pPr>
            <a:r>
              <a:rPr lang="fr-FR" sz="11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emplacements non rangés.</a:t>
            </a:r>
            <a:endParaRPr lang="fr-FR" sz="1100" noProof="0" dirty="0"/>
          </a:p>
        </p:txBody>
      </p:sp>
      <p:sp>
        <p:nvSpPr>
          <p:cNvPr id="19" name="Shape 15"/>
          <p:cNvSpPr/>
          <p:nvPr/>
        </p:nvSpPr>
        <p:spPr>
          <a:xfrm>
            <a:off x="3223260" y="4023360"/>
            <a:ext cx="2697480" cy="41148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0" name="Text 16"/>
          <p:cNvSpPr/>
          <p:nvPr/>
        </p:nvSpPr>
        <p:spPr>
          <a:xfrm>
            <a:off x="3497580" y="40233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noProof="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Risque sécurité</a:t>
            </a:r>
            <a:endParaRPr lang="fr-FR" sz="1200" noProof="0" dirty="0"/>
          </a:p>
        </p:txBody>
      </p:sp>
      <p:sp>
        <p:nvSpPr>
          <p:cNvPr id="21" name="Shape 17"/>
          <p:cNvSpPr/>
          <p:nvPr/>
        </p:nvSpPr>
        <p:spPr>
          <a:xfrm>
            <a:off x="6103620" y="1783080"/>
            <a:ext cx="2697480" cy="2651760"/>
          </a:xfrm>
          <a:prstGeom prst="rect">
            <a:avLst/>
          </a:prstGeom>
          <a:solidFill>
            <a:srgbClr val="13253F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2" name="Shape 18"/>
          <p:cNvSpPr/>
          <p:nvPr/>
        </p:nvSpPr>
        <p:spPr>
          <a:xfrm>
            <a:off x="6103620" y="1783080"/>
            <a:ext cx="2697480" cy="54864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7940" y="2103120"/>
            <a:ext cx="411480" cy="41148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377940" y="26060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400" b="1" noProof="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TMS</a:t>
            </a:r>
            <a:endParaRPr lang="fr-FR" sz="2400" noProof="0" dirty="0"/>
          </a:p>
        </p:txBody>
      </p:sp>
      <p:sp>
        <p:nvSpPr>
          <p:cNvPr id="25" name="Text 20"/>
          <p:cNvSpPr/>
          <p:nvPr/>
        </p:nvSpPr>
        <p:spPr>
          <a:xfrm>
            <a:off x="6377940" y="30175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i="1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 de dos</a:t>
            </a:r>
            <a:endParaRPr lang="fr-FR" sz="1300" noProof="0" dirty="0"/>
          </a:p>
        </p:txBody>
      </p:sp>
      <p:sp>
        <p:nvSpPr>
          <p:cNvPr id="26" name="Text 21"/>
          <p:cNvSpPr/>
          <p:nvPr/>
        </p:nvSpPr>
        <p:spPr>
          <a:xfrm>
            <a:off x="6377940" y="338328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Prises en hauteur excessive,</a:t>
            </a:r>
            <a:endParaRPr lang="fr-FR" sz="1100" noProof="0" dirty="0"/>
          </a:p>
          <a:p>
            <a:pPr marL="0" indent="0">
              <a:buNone/>
            </a:pPr>
            <a:r>
              <a:rPr lang="fr-FR" sz="11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postures non maîtrisées.</a:t>
            </a:r>
            <a:endParaRPr lang="fr-FR" sz="1100" noProof="0" dirty="0"/>
          </a:p>
        </p:txBody>
      </p:sp>
      <p:sp>
        <p:nvSpPr>
          <p:cNvPr id="27" name="Shape 22"/>
          <p:cNvSpPr/>
          <p:nvPr/>
        </p:nvSpPr>
        <p:spPr>
          <a:xfrm>
            <a:off x="6103620" y="4023360"/>
            <a:ext cx="2697480" cy="41148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8" name="Text 23"/>
          <p:cNvSpPr/>
          <p:nvPr/>
        </p:nvSpPr>
        <p:spPr>
          <a:xfrm>
            <a:off x="6377940" y="40233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noProof="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Arrêt maladie</a:t>
            </a:r>
            <a:endParaRPr lang="fr-FR" sz="1200" noProof="0" dirty="0"/>
          </a:p>
        </p:txBody>
      </p:sp>
      <p:sp>
        <p:nvSpPr>
          <p:cNvPr id="29" name="Text 24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i="1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prépa rigoureuse réduit drastiquement litiges, accidents et TMS.</a:t>
            </a:r>
            <a:endParaRPr lang="fr-FR" sz="110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E3A5F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612648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57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400" b="1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&amp; responsabilités</a:t>
            </a:r>
            <a:endParaRPr lang="fr-FR" sz="2400" noProof="0" dirty="0"/>
          </a:p>
        </p:txBody>
      </p:sp>
      <p:sp>
        <p:nvSpPr>
          <p:cNvPr id="5" name="Text 2"/>
          <p:cNvSpPr/>
          <p:nvPr/>
        </p:nvSpPr>
        <p:spPr>
          <a:xfrm>
            <a:off x="1188720" y="8686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i="1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fait quoi, à chaque prélèvement</a:t>
            </a:r>
            <a:endParaRPr lang="fr-FR" sz="1100" noProof="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41148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7" name="Shape 4"/>
          <p:cNvSpPr/>
          <p:nvPr/>
        </p:nvSpPr>
        <p:spPr>
          <a:xfrm>
            <a:off x="548640" y="1417320"/>
            <a:ext cx="4114800" cy="4114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508760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1560" y="14173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kern="0" spc="600" noProof="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CHECKLIST</a:t>
            </a:r>
            <a:endParaRPr lang="fr-FR" sz="1200" noProof="0" dirty="0"/>
          </a:p>
        </p:txBody>
      </p:sp>
      <p:sp>
        <p:nvSpPr>
          <p:cNvPr id="10" name="Shape 6"/>
          <p:cNvSpPr/>
          <p:nvPr/>
        </p:nvSpPr>
        <p:spPr>
          <a:xfrm>
            <a:off x="822960" y="2039112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1" name="Text 7"/>
          <p:cNvSpPr/>
          <p:nvPr/>
        </p:nvSpPr>
        <p:spPr>
          <a:xfrm>
            <a:off x="822960" y="20116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fr-FR" sz="1200" noProof="0" dirty="0"/>
          </a:p>
        </p:txBody>
      </p:sp>
      <p:sp>
        <p:nvSpPr>
          <p:cNvPr id="12" name="Text 8"/>
          <p:cNvSpPr/>
          <p:nvPr/>
        </p:nvSpPr>
        <p:spPr>
          <a:xfrm>
            <a:off x="1143000" y="19659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 lue en entier et vérifiée</a:t>
            </a:r>
            <a:endParaRPr lang="fr-FR" sz="1200" noProof="0" dirty="0"/>
          </a:p>
        </p:txBody>
      </p:sp>
      <p:sp>
        <p:nvSpPr>
          <p:cNvPr id="13" name="Shape 9"/>
          <p:cNvSpPr/>
          <p:nvPr/>
        </p:nvSpPr>
        <p:spPr>
          <a:xfrm>
            <a:off x="822960" y="2450592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Text 10"/>
          <p:cNvSpPr/>
          <p:nvPr/>
        </p:nvSpPr>
        <p:spPr>
          <a:xfrm>
            <a:off x="822960" y="24231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fr-FR" sz="1200" noProof="0" dirty="0"/>
          </a:p>
        </p:txBody>
      </p:sp>
      <p:sp>
        <p:nvSpPr>
          <p:cNvPr id="15" name="Text 11"/>
          <p:cNvSpPr/>
          <p:nvPr/>
        </p:nvSpPr>
        <p:spPr>
          <a:xfrm>
            <a:off x="1143000" y="2377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Quantité exacte prélevée</a:t>
            </a:r>
            <a:endParaRPr lang="fr-FR" sz="1200" noProof="0" dirty="0"/>
          </a:p>
        </p:txBody>
      </p:sp>
      <p:sp>
        <p:nvSpPr>
          <p:cNvPr id="16" name="Shape 12"/>
          <p:cNvSpPr/>
          <p:nvPr/>
        </p:nvSpPr>
        <p:spPr>
          <a:xfrm>
            <a:off x="822960" y="2862072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7" name="Text 13"/>
          <p:cNvSpPr/>
          <p:nvPr/>
        </p:nvSpPr>
        <p:spPr>
          <a:xfrm>
            <a:off x="822960" y="28346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fr-FR" sz="1200" noProof="0" dirty="0"/>
          </a:p>
        </p:txBody>
      </p:sp>
      <p:sp>
        <p:nvSpPr>
          <p:cNvPr id="18" name="Text 14"/>
          <p:cNvSpPr/>
          <p:nvPr/>
        </p:nvSpPr>
        <p:spPr>
          <a:xfrm>
            <a:off x="1143000" y="27889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 en sachet, étiquette collée</a:t>
            </a:r>
            <a:endParaRPr lang="fr-FR" sz="1200" noProof="0" dirty="0"/>
          </a:p>
        </p:txBody>
      </p:sp>
      <p:sp>
        <p:nvSpPr>
          <p:cNvPr id="19" name="Shape 15"/>
          <p:cNvSpPr/>
          <p:nvPr/>
        </p:nvSpPr>
        <p:spPr>
          <a:xfrm>
            <a:off x="822960" y="3273552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0" name="Text 16"/>
          <p:cNvSpPr/>
          <p:nvPr/>
        </p:nvSpPr>
        <p:spPr>
          <a:xfrm>
            <a:off x="822960" y="32461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fr-FR" sz="1200" noProof="0" dirty="0"/>
          </a:p>
        </p:txBody>
      </p:sp>
      <p:sp>
        <p:nvSpPr>
          <p:cNvPr id="21" name="Text 17"/>
          <p:cNvSpPr/>
          <p:nvPr/>
        </p:nvSpPr>
        <p:spPr>
          <a:xfrm>
            <a:off x="1143000" y="32004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Étiquette hors référence et visuel</a:t>
            </a:r>
            <a:endParaRPr lang="fr-FR" sz="1200" noProof="0" dirty="0"/>
          </a:p>
        </p:txBody>
      </p:sp>
      <p:sp>
        <p:nvSpPr>
          <p:cNvPr id="22" name="Shape 18"/>
          <p:cNvSpPr/>
          <p:nvPr/>
        </p:nvSpPr>
        <p:spPr>
          <a:xfrm>
            <a:off x="822960" y="3685032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3" name="Text 19"/>
          <p:cNvSpPr/>
          <p:nvPr/>
        </p:nvSpPr>
        <p:spPr>
          <a:xfrm>
            <a:off x="822960" y="36576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fr-FR" sz="1200" noProof="0" dirty="0"/>
          </a:p>
        </p:txBody>
      </p:sp>
      <p:sp>
        <p:nvSpPr>
          <p:cNvPr id="24" name="Text 20"/>
          <p:cNvSpPr/>
          <p:nvPr/>
        </p:nvSpPr>
        <p:spPr>
          <a:xfrm>
            <a:off x="1143000" y="36118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Emplacement rangé et propre</a:t>
            </a:r>
            <a:endParaRPr lang="fr-FR" sz="1200" noProof="0" dirty="0"/>
          </a:p>
        </p:txBody>
      </p:sp>
      <p:sp>
        <p:nvSpPr>
          <p:cNvPr id="25" name="Shape 21"/>
          <p:cNvSpPr/>
          <p:nvPr/>
        </p:nvSpPr>
        <p:spPr>
          <a:xfrm>
            <a:off x="822960" y="4096512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6" name="Text 22"/>
          <p:cNvSpPr/>
          <p:nvPr/>
        </p:nvSpPr>
        <p:spPr>
          <a:xfrm>
            <a:off x="822960" y="40690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fr-FR" sz="1200" noProof="0" dirty="0"/>
          </a:p>
        </p:txBody>
      </p:sp>
      <p:sp>
        <p:nvSpPr>
          <p:cNvPr id="27" name="Text 23"/>
          <p:cNvSpPr/>
          <p:nvPr/>
        </p:nvSpPr>
        <p:spPr>
          <a:xfrm>
            <a:off x="1143000" y="4023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Bons gestes et postures respectés</a:t>
            </a:r>
            <a:endParaRPr lang="fr-FR" sz="1200" noProof="0" dirty="0"/>
          </a:p>
        </p:txBody>
      </p:sp>
      <p:sp>
        <p:nvSpPr>
          <p:cNvPr id="28" name="Shape 24"/>
          <p:cNvSpPr/>
          <p:nvPr/>
        </p:nvSpPr>
        <p:spPr>
          <a:xfrm>
            <a:off x="4800600" y="1417320"/>
            <a:ext cx="3794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9" name="Shape 25"/>
          <p:cNvSpPr/>
          <p:nvPr/>
        </p:nvSpPr>
        <p:spPr>
          <a:xfrm>
            <a:off x="4800600" y="1417320"/>
            <a:ext cx="73152" cy="10058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0" name="Text 26"/>
          <p:cNvSpPr/>
          <p:nvPr/>
        </p:nvSpPr>
        <p:spPr>
          <a:xfrm>
            <a:off x="5029200" y="150876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b="1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Opérateur</a:t>
            </a:r>
            <a:endParaRPr lang="fr-FR" sz="1400" noProof="0" dirty="0"/>
          </a:p>
        </p:txBody>
      </p:sp>
      <p:sp>
        <p:nvSpPr>
          <p:cNvPr id="31" name="Text 27"/>
          <p:cNvSpPr/>
          <p:nvPr/>
        </p:nvSpPr>
        <p:spPr>
          <a:xfrm>
            <a:off x="5029200" y="182880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Lit, vérifie, prélève, colle, range. Autocontrôle à chaque prélèvement.</a:t>
            </a:r>
            <a:endParaRPr lang="fr-FR" sz="1050" noProof="0" dirty="0"/>
          </a:p>
        </p:txBody>
      </p:sp>
      <p:sp>
        <p:nvSpPr>
          <p:cNvPr id="32" name="Shape 28"/>
          <p:cNvSpPr/>
          <p:nvPr/>
        </p:nvSpPr>
        <p:spPr>
          <a:xfrm>
            <a:off x="4800600" y="2514600"/>
            <a:ext cx="3794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33" name="Shape 29"/>
          <p:cNvSpPr/>
          <p:nvPr/>
        </p:nvSpPr>
        <p:spPr>
          <a:xfrm>
            <a:off x="4800600" y="2514600"/>
            <a:ext cx="73152" cy="10058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4" name="Text 30"/>
          <p:cNvSpPr/>
          <p:nvPr/>
        </p:nvSpPr>
        <p:spPr>
          <a:xfrm>
            <a:off x="5029200" y="26060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b="1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Pilotes &amp; Superviseur</a:t>
            </a:r>
            <a:endParaRPr lang="fr-FR" sz="1400" noProof="0" dirty="0"/>
          </a:p>
        </p:txBody>
      </p:sp>
      <p:sp>
        <p:nvSpPr>
          <p:cNvPr id="35" name="Text 31"/>
          <p:cNvSpPr/>
          <p:nvPr/>
        </p:nvSpPr>
        <p:spPr>
          <a:xfrm>
            <a:off x="5029200" y="292608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Forment. Analysent les erreurs. Contrôlent la propreté des allées.</a:t>
            </a:r>
            <a:endParaRPr lang="fr-FR" sz="1050" noProof="0" dirty="0"/>
          </a:p>
        </p:txBody>
      </p:sp>
      <p:sp>
        <p:nvSpPr>
          <p:cNvPr id="36" name="Shape 32"/>
          <p:cNvSpPr/>
          <p:nvPr/>
        </p:nvSpPr>
        <p:spPr>
          <a:xfrm>
            <a:off x="4800600" y="3611880"/>
            <a:ext cx="3794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37" name="Shape 33"/>
          <p:cNvSpPr/>
          <p:nvPr/>
        </p:nvSpPr>
        <p:spPr>
          <a:xfrm>
            <a:off x="4800600" y="3611880"/>
            <a:ext cx="73152" cy="10058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8" name="Text 34"/>
          <p:cNvSpPr/>
          <p:nvPr/>
        </p:nvSpPr>
        <p:spPr>
          <a:xfrm>
            <a:off x="5029200" y="37033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b="1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Resp. exploitation</a:t>
            </a:r>
            <a:endParaRPr lang="fr-FR" sz="1400" noProof="0" dirty="0"/>
          </a:p>
        </p:txBody>
      </p:sp>
      <p:sp>
        <p:nvSpPr>
          <p:cNvPr id="39" name="Text 35"/>
          <p:cNvSpPr/>
          <p:nvPr/>
        </p:nvSpPr>
        <p:spPr>
          <a:xfrm>
            <a:off x="5029200" y="402336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 le taux d'erreur. Actions correctives si dérive. Qualité des emplacements.</a:t>
            </a:r>
            <a:endParaRPr lang="fr-FR" sz="1050" noProof="0" dirty="0"/>
          </a:p>
        </p:txBody>
      </p:sp>
      <p:sp>
        <p:nvSpPr>
          <p:cNvPr id="40" name="Text 36"/>
          <p:cNvSpPr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kern="0" spc="3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STD-PP-P4  •  Préparation détail  •  CLR Champigneulles</a:t>
            </a:r>
            <a:endParaRPr lang="fr-FR" sz="90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731520"/>
            <a:ext cx="2743200" cy="2743200"/>
          </a:xfrm>
          <a:prstGeom prst="ellipse">
            <a:avLst/>
          </a:prstGeom>
          <a:solidFill>
            <a:srgbClr val="1E3A5F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41732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657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3600" b="1" noProof="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qualité</a:t>
            </a:r>
            <a:endParaRPr lang="fr-FR" sz="3600" noProof="0" dirty="0"/>
          </a:p>
        </p:txBody>
      </p:sp>
      <p:sp>
        <p:nvSpPr>
          <p:cNvPr id="5" name="Text 2"/>
          <p:cNvSpPr/>
          <p:nvPr/>
        </p:nvSpPr>
        <p:spPr>
          <a:xfrm>
            <a:off x="548640" y="4114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3600" b="1" i="1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chaque geste.</a:t>
            </a:r>
            <a:endParaRPr lang="fr-FR" sz="3600" noProof="0" dirty="0"/>
          </a:p>
        </p:txBody>
      </p:sp>
      <p:sp>
        <p:nvSpPr>
          <p:cNvPr id="6" name="Text 3"/>
          <p:cNvSpPr/>
          <p:nvPr/>
        </p:nvSpPr>
        <p:spPr>
          <a:xfrm>
            <a:off x="548640" y="480060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b="1" kern="0" spc="5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P4   •   PRÉPARATION DÉTAIL   •   REXEL CLR CHAMPIGNEULLES</a:t>
            </a:r>
            <a:endParaRPr lang="fr-FR" sz="90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399</Words>
  <Application>Microsoft Office PowerPoint</Application>
  <PresentationFormat>Affichage à l'écran (16:9)</PresentationFormat>
  <Paragraphs>106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Standard P1 - Prise de poste</dc:title>
  <dc:subject>PptxGenJS Presentation</dc:subject>
  <dc:creator>Rexel CLR Champigneulles</dc:creator>
  <cp:lastModifiedBy>Georges, Charlene</cp:lastModifiedBy>
  <cp:revision>4</cp:revision>
  <dcterms:created xsi:type="dcterms:W3CDTF">2026-04-21T20:30:49Z</dcterms:created>
  <dcterms:modified xsi:type="dcterms:W3CDTF">2026-06-03T14:47:38Z</dcterms:modified>
</cp:coreProperties>
</file>