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0142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kern="0" spc="400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REXEL FRANCE   •   CLR CHAMPIGNEULLES</a:t>
            </a:r>
            <a:endParaRPr lang="fr-FR" sz="9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926080" cy="2926080"/>
          </a:xfrm>
          <a:prstGeom prst="ellipse">
            <a:avLst/>
          </a:prstGeom>
          <a:solidFill>
            <a:srgbClr val="0A1430"/>
          </a:solidFill>
          <a:ln w="19050">
            <a:solidFill>
              <a:srgbClr val="F2A03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874520"/>
            <a:ext cx="1463040" cy="1463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0" y="123444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F2A03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3"/>
          <p:cNvSpPr/>
          <p:nvPr/>
        </p:nvSpPr>
        <p:spPr>
          <a:xfrm>
            <a:off x="3840480" y="1234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kern="0" spc="400" noProof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P11</a:t>
            </a:r>
            <a:endParaRPr lang="fr-FR" sz="1000" noProof="0" dirty="0"/>
          </a:p>
        </p:txBody>
      </p:sp>
      <p:sp>
        <p:nvSpPr>
          <p:cNvPr id="7" name="Text 4"/>
          <p:cNvSpPr/>
          <p:nvPr/>
        </p:nvSpPr>
        <p:spPr>
          <a:xfrm>
            <a:off x="3840480" y="16916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54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</a:t>
            </a:r>
            <a:endParaRPr lang="fr-FR" sz="5400" noProof="0" dirty="0"/>
          </a:p>
          <a:p>
            <a:pPr marL="0" indent="0">
              <a:buNone/>
            </a:pPr>
            <a:r>
              <a:rPr lang="fr-FR" sz="54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poste.</a:t>
            </a:r>
            <a:endParaRPr lang="fr-FR" sz="5400" noProof="0" dirty="0"/>
          </a:p>
        </p:txBody>
      </p:sp>
      <p:sp>
        <p:nvSpPr>
          <p:cNvPr id="8" name="Shape 5"/>
          <p:cNvSpPr/>
          <p:nvPr/>
        </p:nvSpPr>
        <p:spPr>
          <a:xfrm>
            <a:off x="3840480" y="3611880"/>
            <a:ext cx="548640" cy="0"/>
          </a:xfrm>
          <a:prstGeom prst="line">
            <a:avLst/>
          </a:prstGeom>
          <a:noFill/>
          <a:ln w="19050">
            <a:solidFill>
              <a:srgbClr val="F2A03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6"/>
          <p:cNvSpPr/>
          <p:nvPr/>
        </p:nvSpPr>
        <p:spPr>
          <a:xfrm>
            <a:off x="384048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i="1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zone prête pour l'équipe suivante.</a:t>
            </a:r>
            <a:endParaRPr lang="fr-FR" sz="1400" noProof="0" dirty="0"/>
          </a:p>
        </p:txBody>
      </p:sp>
      <p:sp>
        <p:nvSpPr>
          <p:cNvPr id="10" name="Text 7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kern="0" spc="300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STD-PP-P11   •   Mars 2026   •   Formation opérateur</a:t>
            </a:r>
            <a:endParaRPr lang="fr-FR" sz="900" noProof="0" dirty="0"/>
          </a:p>
        </p:txBody>
      </p:sp>
      <p:sp>
        <p:nvSpPr>
          <p:cNvPr id="11" name="Text 8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kern="0" spc="200" noProof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&amp; Pack  —  Document contrôlé  —  Usage interne</a:t>
            </a:r>
            <a:endParaRPr lang="fr-FR" sz="800" noProof="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0A1430"/>
          </a:solidFill>
          <a:ln w="19050">
            <a:solidFill>
              <a:srgbClr val="F2A03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4173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7033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Une zone propre</a:t>
            </a:r>
            <a:endParaRPr lang="fr-FR" sz="3200" noProof="0" dirty="0"/>
          </a:p>
          <a:p>
            <a:pPr marL="0" indent="0" algn="ctr">
              <a:buNone/>
            </a:pPr>
            <a:r>
              <a:rPr lang="fr-FR" sz="32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une équipe efficace. »</a:t>
            </a:r>
            <a:endParaRPr lang="fr-FR" sz="3200" noProof="0" dirty="0"/>
          </a:p>
        </p:txBody>
      </p:sp>
      <p:sp>
        <p:nvSpPr>
          <p:cNvPr id="5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kern="0" spc="600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FONDATEUR</a:t>
            </a:r>
            <a:endParaRPr lang="fr-FR" sz="10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474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Rangement &amp; nettoyage</a:t>
            </a:r>
            <a:endParaRPr lang="fr-FR" sz="2200" noProof="0" dirty="0"/>
          </a:p>
        </p:txBody>
      </p:sp>
      <p:sp>
        <p:nvSpPr>
          <p:cNvPr id="5" name="Text 2"/>
          <p:cNvSpPr/>
          <p:nvPr/>
        </p:nvSpPr>
        <p:spPr>
          <a:xfrm>
            <a:off x="1097280" y="7132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Laisser un poste prêt à reprendre</a:t>
            </a:r>
            <a:endParaRPr lang="fr-FR" sz="1100" noProof="0" dirty="0"/>
          </a:p>
        </p:txBody>
      </p:sp>
      <p:sp>
        <p:nvSpPr>
          <p:cNvPr id="6" name="Text 3"/>
          <p:cNvSpPr/>
          <p:nvPr/>
        </p:nvSpPr>
        <p:spPr>
          <a:xfrm>
            <a:off x="7315200" y="411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b="1" kern="0" spc="400" noProof="0" dirty="0">
                <a:solidFill>
                  <a:srgbClr val="F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03</a:t>
            </a:r>
            <a:endParaRPr lang="fr-FR" sz="1100" noProof="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2606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2606040" cy="64008"/>
          </a:xfrm>
          <a:prstGeom prst="rect">
            <a:avLst/>
          </a:prstGeom>
          <a:solidFill>
            <a:srgbClr val="F2A03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7"/>
          <p:cNvSpPr/>
          <p:nvPr/>
        </p:nvSpPr>
        <p:spPr>
          <a:xfrm>
            <a:off x="1303020" y="1737360"/>
            <a:ext cx="1005840" cy="1005840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92024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60" y="28346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Ranger</a:t>
            </a:r>
            <a:endParaRPr lang="fr-FR" sz="1800" noProof="0" dirty="0"/>
          </a:p>
          <a:p>
            <a:pPr marL="0" indent="0" algn="ctr">
              <a:buNone/>
            </a:pPr>
            <a:r>
              <a:rPr lang="fr-FR" sz="18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poste + zone</a:t>
            </a:r>
            <a:endParaRPr lang="fr-FR" sz="1800" noProof="0" dirty="0"/>
          </a:p>
        </p:txBody>
      </p:sp>
      <p:sp>
        <p:nvSpPr>
          <p:cNvPr id="13" name="Shape 9"/>
          <p:cNvSpPr/>
          <p:nvPr/>
        </p:nvSpPr>
        <p:spPr>
          <a:xfrm>
            <a:off x="1577340" y="3520440"/>
            <a:ext cx="457200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0"/>
          <p:cNvSpPr/>
          <p:nvPr/>
        </p:nvSpPr>
        <p:spPr>
          <a:xfrm>
            <a:off x="685800" y="3611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remis en place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dégagée</a:t>
            </a:r>
            <a:endParaRPr lang="fr-FR" sz="1000" noProof="0" dirty="0"/>
          </a:p>
        </p:txBody>
      </p:sp>
      <p:sp>
        <p:nvSpPr>
          <p:cNvPr id="15" name="Shape 11"/>
          <p:cNvSpPr/>
          <p:nvPr/>
        </p:nvSpPr>
        <p:spPr>
          <a:xfrm>
            <a:off x="3268980" y="1417320"/>
            <a:ext cx="2606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2"/>
          <p:cNvSpPr/>
          <p:nvPr/>
        </p:nvSpPr>
        <p:spPr>
          <a:xfrm>
            <a:off x="3268980" y="1417320"/>
            <a:ext cx="2606040" cy="64008"/>
          </a:xfrm>
          <a:prstGeom prst="rect">
            <a:avLst/>
          </a:prstGeom>
          <a:solidFill>
            <a:srgbClr val="F2A03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Shape 13"/>
          <p:cNvSpPr/>
          <p:nvPr/>
        </p:nvSpPr>
        <p:spPr>
          <a:xfrm>
            <a:off x="4069080" y="1737360"/>
            <a:ext cx="1005840" cy="1005840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92024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360420" y="28346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Nettoyer</a:t>
            </a:r>
            <a:endParaRPr lang="fr-FR" sz="1800" noProof="0" dirty="0"/>
          </a:p>
          <a:p>
            <a:pPr marL="0" indent="0" algn="ctr">
              <a:buNone/>
            </a:pPr>
            <a:r>
              <a:rPr lang="fr-FR" sz="18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EKS + surfaces</a:t>
            </a:r>
            <a:endParaRPr lang="fr-FR" sz="1800" noProof="0" dirty="0"/>
          </a:p>
        </p:txBody>
      </p:sp>
      <p:sp>
        <p:nvSpPr>
          <p:cNvPr id="20" name="Shape 15"/>
          <p:cNvSpPr/>
          <p:nvPr/>
        </p:nvSpPr>
        <p:spPr>
          <a:xfrm>
            <a:off x="4343400" y="3520440"/>
            <a:ext cx="457200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6"/>
          <p:cNvSpPr/>
          <p:nvPr/>
        </p:nvSpPr>
        <p:spPr>
          <a:xfrm>
            <a:off x="3451860" y="3611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fourni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de travail</a:t>
            </a:r>
            <a:endParaRPr lang="fr-FR" sz="1000" noProof="0" dirty="0"/>
          </a:p>
        </p:txBody>
      </p:sp>
      <p:sp>
        <p:nvSpPr>
          <p:cNvPr id="22" name="Shape 17"/>
          <p:cNvSpPr/>
          <p:nvPr/>
        </p:nvSpPr>
        <p:spPr>
          <a:xfrm>
            <a:off x="6035040" y="1417320"/>
            <a:ext cx="2606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18"/>
          <p:cNvSpPr/>
          <p:nvPr/>
        </p:nvSpPr>
        <p:spPr>
          <a:xfrm>
            <a:off x="6035040" y="1417320"/>
            <a:ext cx="2606040" cy="64008"/>
          </a:xfrm>
          <a:prstGeom prst="rect">
            <a:avLst/>
          </a:prstGeom>
          <a:solidFill>
            <a:srgbClr val="F2A03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Shape 19"/>
          <p:cNvSpPr/>
          <p:nvPr/>
        </p:nvSpPr>
        <p:spPr>
          <a:xfrm>
            <a:off x="6835140" y="1737360"/>
            <a:ext cx="1005840" cy="1005840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020" y="1920240"/>
            <a:ext cx="640080" cy="6400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126480" y="28346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Vider</a:t>
            </a:r>
            <a:endParaRPr lang="fr-FR" sz="1800" noProof="0" dirty="0"/>
          </a:p>
          <a:p>
            <a:pPr marL="0" indent="0" algn="ctr">
              <a:buNone/>
            </a:pPr>
            <a:r>
              <a:rPr lang="fr-FR" sz="18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poubelle</a:t>
            </a:r>
            <a:endParaRPr lang="fr-FR" sz="1800" noProof="0" dirty="0"/>
          </a:p>
        </p:txBody>
      </p:sp>
      <p:sp>
        <p:nvSpPr>
          <p:cNvPr id="27" name="Shape 21"/>
          <p:cNvSpPr/>
          <p:nvPr/>
        </p:nvSpPr>
        <p:spPr>
          <a:xfrm>
            <a:off x="7109460" y="3520440"/>
            <a:ext cx="457200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2"/>
          <p:cNvSpPr/>
          <p:nvPr/>
        </p:nvSpPr>
        <p:spPr>
          <a:xfrm>
            <a:off x="6217920" y="3611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quitter</a:t>
            </a:r>
            <a:endParaRPr lang="fr-FR" sz="1000" noProof="0" dirty="0"/>
          </a:p>
          <a:p>
            <a:pPr marL="0" indent="0" algn="ctr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débordement</a:t>
            </a:r>
            <a:endParaRPr lang="fr-FR" sz="1000" noProof="0" dirty="0"/>
          </a:p>
        </p:txBody>
      </p:sp>
      <p:sp>
        <p:nvSpPr>
          <p:cNvPr id="29" name="Text 23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i="1" noProof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dégagée  =  zone reprise sans perte</a:t>
            </a:r>
            <a:endParaRPr lang="fr-FR" sz="12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474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 &amp; matériel</a:t>
            </a:r>
            <a:endParaRPr lang="fr-FR" sz="2200" noProof="0" dirty="0"/>
          </a:p>
        </p:txBody>
      </p:sp>
      <p:sp>
        <p:nvSpPr>
          <p:cNvPr id="5" name="Text 2"/>
          <p:cNvSpPr/>
          <p:nvPr/>
        </p:nvSpPr>
        <p:spPr>
          <a:xfrm>
            <a:off x="1097280" y="7132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la relève</a:t>
            </a:r>
            <a:endParaRPr lang="fr-FR" sz="1100" noProof="0" dirty="0"/>
          </a:p>
        </p:txBody>
      </p:sp>
      <p:sp>
        <p:nvSpPr>
          <p:cNvPr id="6" name="Text 3"/>
          <p:cNvSpPr/>
          <p:nvPr/>
        </p:nvSpPr>
        <p:spPr>
          <a:xfrm>
            <a:off x="7315200" y="411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b="1" kern="0" spc="400" noProof="0" dirty="0">
                <a:solidFill>
                  <a:srgbClr val="F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03</a:t>
            </a:r>
            <a:endParaRPr lang="fr-FR" sz="1100" noProof="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39319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73152" cy="2926080"/>
          </a:xfrm>
          <a:prstGeom prst="rect">
            <a:avLst/>
          </a:prstGeom>
          <a:solidFill>
            <a:srgbClr val="2D8C5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7"/>
          <p:cNvSpPr/>
          <p:nvPr/>
        </p:nvSpPr>
        <p:spPr>
          <a:xfrm>
            <a:off x="77724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kern="0" spc="400" noProof="0" dirty="0">
                <a:solidFill>
                  <a:srgbClr val="2D8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</a:t>
            </a:r>
            <a:endParaRPr lang="fr-FR" sz="1300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11226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057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Contrôler l'engin (fuites, état général)</a:t>
            </a:r>
            <a:endParaRPr lang="fr-FR" sz="1200" noProof="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2549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7706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la batterie si nécessaire</a:t>
            </a:r>
            <a:endParaRPr lang="fr-FR" sz="1200" noProof="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38728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34838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Remplir le carnet journalier (heures compteur)</a:t>
            </a:r>
            <a:endParaRPr lang="fr-FR" sz="1200" noProof="0" dirty="0"/>
          </a:p>
        </p:txBody>
      </p:sp>
      <p:sp>
        <p:nvSpPr>
          <p:cNvPr id="17" name="Shape 11"/>
          <p:cNvSpPr/>
          <p:nvPr/>
        </p:nvSpPr>
        <p:spPr>
          <a:xfrm>
            <a:off x="4709160" y="1417320"/>
            <a:ext cx="39319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Shape 12"/>
          <p:cNvSpPr/>
          <p:nvPr/>
        </p:nvSpPr>
        <p:spPr>
          <a:xfrm>
            <a:off x="4709160" y="1417320"/>
            <a:ext cx="73152" cy="29260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3"/>
          <p:cNvSpPr/>
          <p:nvPr/>
        </p:nvSpPr>
        <p:spPr>
          <a:xfrm>
            <a:off x="498348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kern="0" spc="40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</a:t>
            </a:r>
            <a:endParaRPr lang="fr-FR" sz="1300" noProof="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112264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94960" y="2057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quitter sans rangement</a:t>
            </a:r>
            <a:endParaRPr lang="fr-FR" sz="1200" noProof="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825496"/>
            <a:ext cx="256032" cy="25603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394960" y="27706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batterie déchargée laissée</a:t>
            </a:r>
            <a:endParaRPr lang="fr-FR" sz="1200" noProof="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538728"/>
            <a:ext cx="256032" cy="25603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394960" y="34838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D'allée encombrée à la sortie</a:t>
            </a:r>
            <a:endParaRPr lang="fr-FR" sz="1200" noProof="0" dirty="0"/>
          </a:p>
        </p:txBody>
      </p:sp>
      <p:sp>
        <p:nvSpPr>
          <p:cNvPr id="26" name="Text 17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i="1" noProof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 contrôlé  =  équipe suivante non bloquée</a:t>
            </a:r>
            <a:endParaRPr lang="fr-FR" sz="12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474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Avant de quitter</a:t>
            </a:r>
            <a:endParaRPr lang="fr-FR" sz="2200" noProof="0" dirty="0"/>
          </a:p>
        </p:txBody>
      </p:sp>
      <p:sp>
        <p:nvSpPr>
          <p:cNvPr id="5" name="Text 2"/>
          <p:cNvSpPr/>
          <p:nvPr/>
        </p:nvSpPr>
        <p:spPr>
          <a:xfrm>
            <a:off x="1097280" y="7132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derniers gestes</a:t>
            </a:r>
            <a:endParaRPr lang="fr-FR" sz="1100" noProof="0" dirty="0"/>
          </a:p>
        </p:txBody>
      </p:sp>
      <p:sp>
        <p:nvSpPr>
          <p:cNvPr id="6" name="Text 3"/>
          <p:cNvSpPr/>
          <p:nvPr/>
        </p:nvSpPr>
        <p:spPr>
          <a:xfrm>
            <a:off x="7315200" y="411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b="1" kern="0" spc="400" noProof="0" dirty="0">
                <a:solidFill>
                  <a:srgbClr val="F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03</a:t>
            </a:r>
            <a:endParaRPr lang="fr-FR" sz="1100" noProof="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2606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777240" y="1737360"/>
            <a:ext cx="777240" cy="777240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1883664"/>
            <a:ext cx="484632" cy="4846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94560" y="16916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5600" b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fr-FR" sz="5600" noProof="0" dirty="0"/>
          </a:p>
        </p:txBody>
      </p:sp>
      <p:sp>
        <p:nvSpPr>
          <p:cNvPr id="12" name="Text 8"/>
          <p:cNvSpPr/>
          <p:nvPr/>
        </p:nvSpPr>
        <p:spPr>
          <a:xfrm>
            <a:off x="731520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Restituer</a:t>
            </a:r>
            <a:endParaRPr lang="fr-FR" sz="1800" noProof="0" dirty="0"/>
          </a:p>
          <a:p>
            <a:pPr marL="0" indent="0">
              <a:buNone/>
            </a:pPr>
            <a:r>
              <a:rPr lang="fr-FR" sz="18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flasheurs</a:t>
            </a:r>
            <a:endParaRPr lang="fr-FR" sz="1800" noProof="0" dirty="0"/>
          </a:p>
        </p:txBody>
      </p:sp>
      <p:sp>
        <p:nvSpPr>
          <p:cNvPr id="13" name="Shape 9"/>
          <p:cNvSpPr/>
          <p:nvPr/>
        </p:nvSpPr>
        <p:spPr>
          <a:xfrm>
            <a:off x="731520" y="3538728"/>
            <a:ext cx="457200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0"/>
          <p:cNvSpPr/>
          <p:nvPr/>
        </p:nvSpPr>
        <p:spPr>
          <a:xfrm>
            <a:off x="731520" y="36301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collecte</a:t>
            </a:r>
            <a:endParaRPr lang="fr-FR" sz="1000" noProof="0" dirty="0"/>
          </a:p>
          <a:p>
            <a:pPr marL="0" indent="0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oubli</a:t>
            </a:r>
            <a:endParaRPr lang="fr-FR" sz="1000" noProof="0" dirty="0"/>
          </a:p>
        </p:txBody>
      </p:sp>
      <p:sp>
        <p:nvSpPr>
          <p:cNvPr id="15" name="Shape 11"/>
          <p:cNvSpPr/>
          <p:nvPr/>
        </p:nvSpPr>
        <p:spPr>
          <a:xfrm>
            <a:off x="3268980" y="1417320"/>
            <a:ext cx="2606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2"/>
          <p:cNvSpPr/>
          <p:nvPr/>
        </p:nvSpPr>
        <p:spPr>
          <a:xfrm>
            <a:off x="3543300" y="1737360"/>
            <a:ext cx="777240" cy="777240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604" y="1883664"/>
            <a:ext cx="484632" cy="4846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60620" y="16916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5600" b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fr-FR" sz="5600" noProof="0" dirty="0"/>
          </a:p>
        </p:txBody>
      </p:sp>
      <p:sp>
        <p:nvSpPr>
          <p:cNvPr id="19" name="Text 14"/>
          <p:cNvSpPr/>
          <p:nvPr/>
        </p:nvSpPr>
        <p:spPr>
          <a:xfrm>
            <a:off x="3497580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Réappro</a:t>
            </a:r>
            <a:endParaRPr lang="fr-FR" sz="1800" noProof="0" dirty="0"/>
          </a:p>
          <a:p>
            <a:pPr marL="0" indent="0">
              <a:buNone/>
            </a:pPr>
            <a:r>
              <a:rPr lang="fr-FR" sz="18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consommables</a:t>
            </a:r>
            <a:endParaRPr lang="fr-FR" sz="1800" noProof="0" dirty="0"/>
          </a:p>
        </p:txBody>
      </p:sp>
      <p:sp>
        <p:nvSpPr>
          <p:cNvPr id="20" name="Shape 15"/>
          <p:cNvSpPr/>
          <p:nvPr/>
        </p:nvSpPr>
        <p:spPr>
          <a:xfrm>
            <a:off x="3497580" y="3538728"/>
            <a:ext cx="457200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6"/>
          <p:cNvSpPr/>
          <p:nvPr/>
        </p:nvSpPr>
        <p:spPr>
          <a:xfrm>
            <a:off x="3497580" y="36301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Prêts pour</a:t>
            </a:r>
            <a:endParaRPr lang="fr-FR" sz="1000" noProof="0" dirty="0"/>
          </a:p>
          <a:p>
            <a:pPr marL="0" indent="0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jour suivant</a:t>
            </a:r>
            <a:endParaRPr lang="fr-FR" sz="1000" noProof="0" dirty="0"/>
          </a:p>
        </p:txBody>
      </p:sp>
      <p:sp>
        <p:nvSpPr>
          <p:cNvPr id="22" name="Shape 17"/>
          <p:cNvSpPr/>
          <p:nvPr/>
        </p:nvSpPr>
        <p:spPr>
          <a:xfrm>
            <a:off x="6035040" y="1417320"/>
            <a:ext cx="2606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18"/>
          <p:cNvSpPr/>
          <p:nvPr/>
        </p:nvSpPr>
        <p:spPr>
          <a:xfrm>
            <a:off x="6309360" y="1737360"/>
            <a:ext cx="777240" cy="777240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883664"/>
            <a:ext cx="484632" cy="4846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26680" y="16916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5600" b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fr-FR" sz="5600" noProof="0" dirty="0"/>
          </a:p>
        </p:txBody>
      </p:sp>
      <p:sp>
        <p:nvSpPr>
          <p:cNvPr id="26" name="Text 20"/>
          <p:cNvSpPr/>
          <p:nvPr/>
        </p:nvSpPr>
        <p:spPr>
          <a:xfrm>
            <a:off x="6263640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Quitter</a:t>
            </a:r>
            <a:endParaRPr lang="fr-FR" sz="1800" noProof="0" dirty="0"/>
          </a:p>
          <a:p>
            <a:pPr marL="0" indent="0">
              <a:buNone/>
            </a:pPr>
            <a:r>
              <a:rPr lang="fr-FR" sz="18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 l'allée</a:t>
            </a:r>
            <a:endParaRPr lang="fr-FR" sz="1800" noProof="0" dirty="0"/>
          </a:p>
        </p:txBody>
      </p:sp>
      <p:sp>
        <p:nvSpPr>
          <p:cNvPr id="27" name="Shape 21"/>
          <p:cNvSpPr/>
          <p:nvPr/>
        </p:nvSpPr>
        <p:spPr>
          <a:xfrm>
            <a:off x="6263640" y="3538728"/>
            <a:ext cx="457200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2"/>
          <p:cNvSpPr/>
          <p:nvPr/>
        </p:nvSpPr>
        <p:spPr>
          <a:xfrm>
            <a:off x="6263640" y="36301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Allée piétonne</a:t>
            </a:r>
            <a:endParaRPr lang="fr-FR" sz="1000" noProof="0" dirty="0"/>
          </a:p>
          <a:p>
            <a:pPr marL="0" indent="0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dégagée uniquement</a:t>
            </a:r>
            <a:endParaRPr lang="fr-FR" sz="1000" noProof="0" dirty="0"/>
          </a:p>
        </p:txBody>
      </p:sp>
      <p:sp>
        <p:nvSpPr>
          <p:cNvPr id="29" name="Text 23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i="1" noProof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Flasheurs rendus  •  Conso prête  •  Allée libre</a:t>
            </a:r>
            <a:endParaRPr lang="fr-FR" sz="12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kern="0" spc="600" noProof="0" dirty="0">
                <a:solidFill>
                  <a:srgbClr val="F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RISQUES RÉELS</a:t>
            </a:r>
            <a:endParaRPr lang="fr-F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i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qui arrive si la clôture est bâclée</a:t>
            </a:r>
            <a:endParaRPr lang="fr-FR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06040" cy="2560320"/>
          </a:xfrm>
          <a:prstGeom prst="rect">
            <a:avLst/>
          </a:prstGeom>
          <a:solidFill>
            <a:srgbClr val="0A1430"/>
          </a:solidFill>
          <a:ln w="6350">
            <a:solidFill>
              <a:srgbClr val="8E2A2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2606040" cy="640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880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3317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Chute</a:t>
            </a:r>
            <a:endParaRPr lang="fr-FR" sz="2200" noProof="0" dirty="0"/>
          </a:p>
          <a:p>
            <a:pPr marL="0" indent="0">
              <a:buNone/>
            </a:pPr>
            <a:r>
              <a:rPr lang="fr-FR" sz="18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opérateur</a:t>
            </a:r>
            <a:endParaRPr lang="fr-FR" sz="2200" noProof="0" dirty="0"/>
          </a:p>
        </p:txBody>
      </p:sp>
      <p:sp>
        <p:nvSpPr>
          <p:cNvPr id="8" name="Text 5"/>
          <p:cNvSpPr/>
          <p:nvPr/>
        </p:nvSpPr>
        <p:spPr>
          <a:xfrm>
            <a:off x="777240" y="3246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Allée encombrée en fin de poste.</a:t>
            </a:r>
            <a:endParaRPr lang="fr-FR" sz="1000" noProof="0" dirty="0"/>
          </a:p>
          <a:p>
            <a:pPr marL="0" indent="0">
              <a:buNone/>
            </a:pPr>
            <a:r>
              <a:rPr lang="fr-FR" sz="1000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suivante gênée.</a:t>
            </a:r>
            <a:endParaRPr lang="fr-FR" sz="1000" noProof="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i="1" noProof="0" dirty="0">
                <a:solidFill>
                  <a:srgbClr val="F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AT grave (allée)</a:t>
            </a:r>
            <a:endParaRPr lang="fr-FR" sz="1000" noProof="0" dirty="0"/>
          </a:p>
        </p:txBody>
      </p:sp>
      <p:sp>
        <p:nvSpPr>
          <p:cNvPr id="10" name="Shape 7"/>
          <p:cNvSpPr/>
          <p:nvPr/>
        </p:nvSpPr>
        <p:spPr>
          <a:xfrm>
            <a:off x="3268980" y="1554480"/>
            <a:ext cx="2606040" cy="2560320"/>
          </a:xfrm>
          <a:prstGeom prst="rect">
            <a:avLst/>
          </a:prstGeom>
          <a:solidFill>
            <a:srgbClr val="0A1430"/>
          </a:solidFill>
          <a:ln w="6350">
            <a:solidFill>
              <a:srgbClr val="8E2A2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8"/>
          <p:cNvSpPr/>
          <p:nvPr/>
        </p:nvSpPr>
        <p:spPr>
          <a:xfrm>
            <a:off x="3268980" y="1554480"/>
            <a:ext cx="2606040" cy="640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300" y="182880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3300" y="23317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Flasheur</a:t>
            </a:r>
            <a:endParaRPr lang="fr-FR" sz="2200" noProof="0" dirty="0"/>
          </a:p>
          <a:p>
            <a:pPr marL="0" indent="0">
              <a:buNone/>
            </a:pPr>
            <a:r>
              <a:rPr lang="fr-FR" sz="18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perdu</a:t>
            </a:r>
            <a:endParaRPr lang="fr-FR" sz="2200" noProof="0" dirty="0"/>
          </a:p>
        </p:txBody>
      </p:sp>
      <p:sp>
        <p:nvSpPr>
          <p:cNvPr id="14" name="Text 10"/>
          <p:cNvSpPr/>
          <p:nvPr/>
        </p:nvSpPr>
        <p:spPr>
          <a:xfrm>
            <a:off x="3543300" y="3246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Flasheur non restitué</a:t>
            </a:r>
            <a:endParaRPr lang="fr-FR" sz="1000" noProof="0" dirty="0"/>
          </a:p>
          <a:p>
            <a:pPr marL="0" indent="0">
              <a:buNone/>
            </a:pPr>
            <a:r>
              <a:rPr lang="fr-FR" sz="1000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point de collecte.</a:t>
            </a:r>
            <a:endParaRPr lang="fr-FR" sz="1000" noProof="0" dirty="0"/>
          </a:p>
        </p:txBody>
      </p:sp>
      <p:sp>
        <p:nvSpPr>
          <p:cNvPr id="15" name="Text 11"/>
          <p:cNvSpPr/>
          <p:nvPr/>
        </p:nvSpPr>
        <p:spPr>
          <a:xfrm>
            <a:off x="3543300" y="3794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i="1" noProof="0" dirty="0">
                <a:solidFill>
                  <a:srgbClr val="F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Perte de temps / coût</a:t>
            </a:r>
            <a:endParaRPr lang="fr-FR" sz="1000" noProof="0" dirty="0"/>
          </a:p>
        </p:txBody>
      </p:sp>
      <p:sp>
        <p:nvSpPr>
          <p:cNvPr id="16" name="Shape 12"/>
          <p:cNvSpPr/>
          <p:nvPr/>
        </p:nvSpPr>
        <p:spPr>
          <a:xfrm>
            <a:off x="6035040" y="1554480"/>
            <a:ext cx="2606040" cy="2560320"/>
          </a:xfrm>
          <a:prstGeom prst="rect">
            <a:avLst/>
          </a:prstGeom>
          <a:solidFill>
            <a:srgbClr val="0A1430"/>
          </a:solidFill>
          <a:ln w="6350">
            <a:solidFill>
              <a:srgbClr val="8E2A2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Shape 13"/>
          <p:cNvSpPr/>
          <p:nvPr/>
        </p:nvSpPr>
        <p:spPr>
          <a:xfrm>
            <a:off x="6035040" y="1554480"/>
            <a:ext cx="2606040" cy="640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2880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9360" y="23317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</a:t>
            </a:r>
            <a:endParaRPr lang="fr-FR" sz="2200" noProof="0" dirty="0"/>
          </a:p>
          <a:p>
            <a:pPr marL="0" indent="0">
              <a:buNone/>
            </a:pPr>
            <a:r>
              <a:rPr lang="fr-FR" sz="18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 chargé</a:t>
            </a:r>
            <a:endParaRPr lang="fr-FR" sz="2200" noProof="0" dirty="0"/>
          </a:p>
        </p:txBody>
      </p:sp>
      <p:sp>
        <p:nvSpPr>
          <p:cNvPr id="20" name="Text 15"/>
          <p:cNvSpPr/>
          <p:nvPr/>
        </p:nvSpPr>
        <p:spPr>
          <a:xfrm>
            <a:off x="6309360" y="3246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 déchargée laissée</a:t>
            </a:r>
            <a:endParaRPr lang="fr-FR" sz="1000" noProof="0" dirty="0"/>
          </a:p>
          <a:p>
            <a:pPr marL="0" indent="0">
              <a:buNone/>
            </a:pPr>
            <a:r>
              <a:rPr lang="fr-FR" sz="1000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l'équipe suivante.</a:t>
            </a:r>
            <a:endParaRPr lang="fr-FR" sz="1000" noProof="0" dirty="0"/>
          </a:p>
        </p:txBody>
      </p:sp>
      <p:sp>
        <p:nvSpPr>
          <p:cNvPr id="21" name="Text 16"/>
          <p:cNvSpPr/>
          <p:nvPr/>
        </p:nvSpPr>
        <p:spPr>
          <a:xfrm>
            <a:off x="6309360" y="3794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i="1" noProof="0" dirty="0">
                <a:solidFill>
                  <a:srgbClr val="F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Blocage équipe</a:t>
            </a:r>
            <a:endParaRPr lang="fr-FR" sz="1000" noProof="0" dirty="0"/>
          </a:p>
        </p:txBody>
      </p:sp>
      <p:sp>
        <p:nvSpPr>
          <p:cNvPr id="22" name="Text 17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i="1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clôture rigoureuse évite ces pertes et ces accidents.</a:t>
            </a:r>
            <a:endParaRPr lang="fr-FR" sz="12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0175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466344"/>
            <a:ext cx="301752" cy="3017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7280" y="3474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Checklist &amp; responsabilités</a:t>
            </a:r>
            <a:endParaRPr lang="fr-FR" sz="2200" noProof="0" dirty="0"/>
          </a:p>
        </p:txBody>
      </p:sp>
      <p:sp>
        <p:nvSpPr>
          <p:cNvPr id="6" name="Text 2"/>
          <p:cNvSpPr/>
          <p:nvPr/>
        </p:nvSpPr>
        <p:spPr>
          <a:xfrm>
            <a:off x="1097280" y="713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fait quoi, à chaque fin de poste</a:t>
            </a:r>
            <a:endParaRPr lang="fr-FR" sz="1100" noProof="0" dirty="0"/>
          </a:p>
        </p:txBody>
      </p:sp>
      <p:sp>
        <p:nvSpPr>
          <p:cNvPr id="7" name="Shape 3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4"/>
          <p:cNvSpPr/>
          <p:nvPr/>
        </p:nvSpPr>
        <p:spPr>
          <a:xfrm>
            <a:off x="502920" y="1417320"/>
            <a:ext cx="45720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5"/>
          <p:cNvSpPr/>
          <p:nvPr/>
        </p:nvSpPr>
        <p:spPr>
          <a:xfrm>
            <a:off x="502920" y="1417320"/>
            <a:ext cx="4572000" cy="45720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6"/>
          <p:cNvSpPr/>
          <p:nvPr/>
        </p:nvSpPr>
        <p:spPr>
          <a:xfrm>
            <a:off x="731520" y="1417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kern="0" spc="600" noProof="0" dirty="0">
                <a:solidFill>
                  <a:srgbClr val="F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CHECKLIST</a:t>
            </a:r>
            <a:endParaRPr lang="fr-FR" sz="1100" noProof="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01472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1920240"/>
            <a:ext cx="3794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rangé et zone dégagée</a:t>
            </a:r>
            <a:endParaRPr lang="fr-FR" sz="1100" noProof="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441448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2346960"/>
            <a:ext cx="3794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et surfaces nettoyées</a:t>
            </a:r>
            <a:endParaRPr lang="fr-FR" sz="1100" noProof="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868168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97280" y="2773680"/>
            <a:ext cx="3794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Poubelle vidée</a:t>
            </a:r>
            <a:endParaRPr lang="fr-FR" sz="1100" noProof="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94888"/>
            <a:ext cx="237744" cy="23774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97280" y="3200400"/>
            <a:ext cx="3794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 contrôlé + batterie changée</a:t>
            </a:r>
            <a:endParaRPr lang="fr-FR" sz="1100" noProof="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721608"/>
            <a:ext cx="237744" cy="237744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097280" y="3627120"/>
            <a:ext cx="3794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journalier rempli</a:t>
            </a:r>
            <a:endParaRPr lang="fr-FR" sz="1100" noProof="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148328"/>
            <a:ext cx="237744" cy="237744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097280" y="4053840"/>
            <a:ext cx="3794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Flasheurs restitués au point de collecte</a:t>
            </a:r>
            <a:endParaRPr lang="fr-FR" sz="1100" noProof="0" dirty="0"/>
          </a:p>
        </p:txBody>
      </p:sp>
      <p:sp>
        <p:nvSpPr>
          <p:cNvPr id="23" name="Shape 13"/>
          <p:cNvSpPr/>
          <p:nvPr/>
        </p:nvSpPr>
        <p:spPr>
          <a:xfrm>
            <a:off x="5212080" y="1417320"/>
            <a:ext cx="3474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Shape 14"/>
          <p:cNvSpPr/>
          <p:nvPr/>
        </p:nvSpPr>
        <p:spPr>
          <a:xfrm>
            <a:off x="5212080" y="1417320"/>
            <a:ext cx="73152" cy="960120"/>
          </a:xfrm>
          <a:prstGeom prst="rect">
            <a:avLst/>
          </a:prstGeom>
          <a:solidFill>
            <a:srgbClr val="F2A03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Text 15"/>
          <p:cNvSpPr/>
          <p:nvPr/>
        </p:nvSpPr>
        <p:spPr>
          <a:xfrm>
            <a:off x="5440680" y="1508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Opérateur</a:t>
            </a:r>
            <a:endParaRPr lang="fr-FR" sz="1300" noProof="0" dirty="0"/>
          </a:p>
        </p:txBody>
      </p:sp>
      <p:sp>
        <p:nvSpPr>
          <p:cNvPr id="26" name="Text 16"/>
          <p:cNvSpPr/>
          <p:nvPr/>
        </p:nvSpPr>
        <p:spPr>
          <a:xfrm>
            <a:off x="5440680" y="1828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Range. Nettoie. Contrôle l'engin. Carnet. Flasheurs. Libère la zone.</a:t>
            </a:r>
            <a:endParaRPr lang="fr-FR" sz="1000" noProof="0" dirty="0"/>
          </a:p>
        </p:txBody>
      </p:sp>
      <p:sp>
        <p:nvSpPr>
          <p:cNvPr id="27" name="Shape 17"/>
          <p:cNvSpPr/>
          <p:nvPr/>
        </p:nvSpPr>
        <p:spPr>
          <a:xfrm>
            <a:off x="5212080" y="2487168"/>
            <a:ext cx="3474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Shape 18"/>
          <p:cNvSpPr/>
          <p:nvPr/>
        </p:nvSpPr>
        <p:spPr>
          <a:xfrm>
            <a:off x="5212080" y="2487168"/>
            <a:ext cx="73152" cy="960120"/>
          </a:xfrm>
          <a:prstGeom prst="rect">
            <a:avLst/>
          </a:prstGeom>
          <a:solidFill>
            <a:srgbClr val="F2A03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19"/>
          <p:cNvSpPr/>
          <p:nvPr/>
        </p:nvSpPr>
        <p:spPr>
          <a:xfrm>
            <a:off x="5440680" y="25786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Pilotes/Superviseur</a:t>
            </a:r>
            <a:endParaRPr lang="fr-FR" sz="1300" noProof="0" dirty="0"/>
          </a:p>
        </p:txBody>
      </p:sp>
      <p:sp>
        <p:nvSpPr>
          <p:cNvPr id="30" name="Text 20"/>
          <p:cNvSpPr/>
          <p:nvPr/>
        </p:nvSpPr>
        <p:spPr>
          <a:xfrm>
            <a:off x="5440680" y="28986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la clôture. Contrôle les flasheurs. Valide la fin de poste.</a:t>
            </a:r>
            <a:endParaRPr lang="fr-FR" sz="1000" noProof="0" dirty="0"/>
          </a:p>
        </p:txBody>
      </p:sp>
      <p:sp>
        <p:nvSpPr>
          <p:cNvPr id="31" name="Shape 21"/>
          <p:cNvSpPr/>
          <p:nvPr/>
        </p:nvSpPr>
        <p:spPr>
          <a:xfrm>
            <a:off x="5212080" y="3557016"/>
            <a:ext cx="3474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Shape 22"/>
          <p:cNvSpPr/>
          <p:nvPr/>
        </p:nvSpPr>
        <p:spPr>
          <a:xfrm>
            <a:off x="5212080" y="3557016"/>
            <a:ext cx="73152" cy="960120"/>
          </a:xfrm>
          <a:prstGeom prst="rect">
            <a:avLst/>
          </a:prstGeom>
          <a:solidFill>
            <a:srgbClr val="F2A03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23"/>
          <p:cNvSpPr/>
          <p:nvPr/>
        </p:nvSpPr>
        <p:spPr>
          <a:xfrm>
            <a:off x="5440680" y="36484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Pilote de zone</a:t>
            </a:r>
            <a:endParaRPr lang="fr-FR" sz="1300" noProof="0" dirty="0"/>
          </a:p>
        </p:txBody>
      </p:sp>
      <p:sp>
        <p:nvSpPr>
          <p:cNvPr id="34" name="Text 24"/>
          <p:cNvSpPr/>
          <p:nvPr/>
        </p:nvSpPr>
        <p:spPr>
          <a:xfrm>
            <a:off x="5440680" y="396849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la propreté. Signale anomalies (engin HS, consommables).</a:t>
            </a:r>
            <a:endParaRPr lang="fr-FR" sz="1000" noProof="0" dirty="0"/>
          </a:p>
        </p:txBody>
      </p:sp>
      <p:sp>
        <p:nvSpPr>
          <p:cNvPr id="35" name="Text 25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kern="0" spc="3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STD-PP-P11  •  Fin de poste  •  CLR Champigneulles</a:t>
            </a:r>
            <a:endParaRPr lang="fr-FR" sz="9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0A1430"/>
          </a:solidFill>
          <a:ln w="19050">
            <a:solidFill>
              <a:srgbClr val="F2A03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4173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zone propre,</a:t>
            </a:r>
            <a:endParaRPr lang="fr-FR" sz="3800" noProof="0" dirty="0"/>
          </a:p>
          <a:p>
            <a:pPr marL="0" indent="0" algn="ctr">
              <a:buNone/>
            </a:pPr>
            <a:r>
              <a:rPr lang="fr-FR" sz="3800" i="1" noProof="0" dirty="0">
                <a:solidFill>
                  <a:srgbClr val="F2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équipe lancée.</a:t>
            </a:r>
            <a:endParaRPr lang="fr-FR" sz="3800" noProof="0" dirty="0"/>
          </a:p>
        </p:txBody>
      </p:sp>
      <p:sp>
        <p:nvSpPr>
          <p:cNvPr id="5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kern="0" spc="500" noProof="0" dirty="0">
                <a:solidFill>
                  <a:srgbClr val="E8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P11   •   FIN DE POSTE   •   REXEL CLR CHAMPIGNEULLES</a:t>
            </a:r>
            <a:endParaRPr lang="fr-FR" sz="10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378</Words>
  <Application>Microsoft Office PowerPoint</Application>
  <PresentationFormat>Affichage à l'écran (16:9)</PresentationFormat>
  <Paragraphs>102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STD-PP-P11</dc:title>
  <dc:subject>PptxGenJS Presentation</dc:subject>
  <dc:creator>REXEL CLR Champigneulles</dc:creator>
  <cp:lastModifiedBy>Georges, Charlene</cp:lastModifiedBy>
  <cp:revision>3</cp:revision>
  <dcterms:created xsi:type="dcterms:W3CDTF">2026-05-11T16:54:39Z</dcterms:created>
  <dcterms:modified xsi:type="dcterms:W3CDTF">2026-06-03T14:53:21Z</dcterms:modified>
</cp:coreProperties>
</file>