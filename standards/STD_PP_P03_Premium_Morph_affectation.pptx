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534830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C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01000" y="256032"/>
            <a:ext cx="91440" cy="91440"/>
          </a:xfrm>
          <a:prstGeom prst="ellipse">
            <a:avLst/>
          </a:prstGeom>
          <a:solidFill>
            <a:srgbClr val="F3A31A"/>
          </a:solidFill>
          <a:ln w="12700">
            <a:solidFill>
              <a:srgbClr val="F3A31A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3" name="Shape 1"/>
          <p:cNvSpPr/>
          <p:nvPr/>
        </p:nvSpPr>
        <p:spPr>
          <a:xfrm>
            <a:off x="8275320" y="256032"/>
            <a:ext cx="91440" cy="91440"/>
          </a:xfrm>
          <a:prstGeom prst="ellipse">
            <a:avLst/>
          </a:prstGeom>
          <a:solidFill>
            <a:srgbClr val="F3A31A"/>
          </a:solidFill>
          <a:ln w="12700">
            <a:solidFill>
              <a:srgbClr val="F3A31A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4" name="Shape 2"/>
          <p:cNvSpPr/>
          <p:nvPr/>
        </p:nvSpPr>
        <p:spPr>
          <a:xfrm>
            <a:off x="8549640" y="256032"/>
            <a:ext cx="91440" cy="91440"/>
          </a:xfrm>
          <a:prstGeom prst="ellipse">
            <a:avLst/>
          </a:prstGeom>
          <a:solidFill>
            <a:srgbClr val="F3A31A"/>
          </a:solidFill>
          <a:ln w="12700">
            <a:solidFill>
              <a:srgbClr val="F3A31A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5" name="Text 3"/>
          <p:cNvSpPr/>
          <p:nvPr/>
        </p:nvSpPr>
        <p:spPr>
          <a:xfrm>
            <a:off x="3657600" y="50292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950" b="1" kern="0" spc="200" noProof="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E X E L   F R A N C E    •    C L R   C H A M P I G N E U L </a:t>
            </a:r>
            <a:r>
              <a:rPr lang="fr-FR" sz="950" b="1" kern="0" spc="200" noProof="0" dirty="0" err="1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</a:t>
            </a:r>
            <a:r>
              <a:rPr lang="fr-FR" sz="950" b="1" kern="0" spc="200" noProof="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S</a:t>
            </a:r>
            <a:endParaRPr lang="fr-FR" sz="950" noProof="0" dirty="0"/>
          </a:p>
        </p:txBody>
      </p:sp>
      <p:sp>
        <p:nvSpPr>
          <p:cNvPr id="6" name="Shape 4"/>
          <p:cNvSpPr/>
          <p:nvPr/>
        </p:nvSpPr>
        <p:spPr>
          <a:xfrm>
            <a:off x="3749040" y="960120"/>
            <a:ext cx="1371600" cy="347472"/>
          </a:xfrm>
          <a:prstGeom prst="rect">
            <a:avLst/>
          </a:prstGeom>
          <a:solidFill>
            <a:srgbClr val="F3A31A"/>
          </a:solidFill>
          <a:ln w="12700">
            <a:solidFill>
              <a:srgbClr val="F3A31A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7" name="Text 5"/>
          <p:cNvSpPr/>
          <p:nvPr/>
        </p:nvSpPr>
        <p:spPr>
          <a:xfrm>
            <a:off x="3749040" y="96012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100" b="1" kern="0" spc="300" noProof="0" dirty="0">
                <a:solidFill>
                  <a:srgbClr val="0E1C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P3</a:t>
            </a:r>
            <a:endParaRPr lang="fr-FR" sz="1100" noProof="0" dirty="0"/>
          </a:p>
        </p:txBody>
      </p:sp>
      <p:sp>
        <p:nvSpPr>
          <p:cNvPr id="8" name="Text 6"/>
          <p:cNvSpPr/>
          <p:nvPr/>
        </p:nvSpPr>
        <p:spPr>
          <a:xfrm>
            <a:off x="3749040" y="1463040"/>
            <a:ext cx="5349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4800" b="1" noProof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Affectation</a:t>
            </a:r>
            <a:endParaRPr lang="fr-FR" sz="4800" noProof="0" dirty="0"/>
          </a:p>
        </p:txBody>
      </p:sp>
      <p:sp>
        <p:nvSpPr>
          <p:cNvPr id="9" name="Text 7"/>
          <p:cNvSpPr/>
          <p:nvPr/>
        </p:nvSpPr>
        <p:spPr>
          <a:xfrm>
            <a:off x="3749040" y="2286000"/>
            <a:ext cx="5349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4800" b="1" i="1" noProof="0" dirty="0">
                <a:solidFill>
                  <a:srgbClr val="F3A3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&amp; chariot.</a:t>
            </a:r>
            <a:endParaRPr lang="fr-FR" sz="4800" noProof="0" dirty="0"/>
          </a:p>
        </p:txBody>
      </p:sp>
      <p:sp>
        <p:nvSpPr>
          <p:cNvPr id="10" name="Text 8"/>
          <p:cNvSpPr/>
          <p:nvPr/>
        </p:nvSpPr>
        <p:spPr>
          <a:xfrm>
            <a:off x="3749040" y="32461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500" i="1" noProof="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Bien s'affecter, bien monter.</a:t>
            </a:r>
            <a:endParaRPr lang="fr-FR" sz="1500" noProof="0" dirty="0"/>
          </a:p>
        </p:txBody>
      </p:sp>
      <p:sp>
        <p:nvSpPr>
          <p:cNvPr id="11" name="Shape 9"/>
          <p:cNvSpPr/>
          <p:nvPr/>
        </p:nvSpPr>
        <p:spPr>
          <a:xfrm>
            <a:off x="3749040" y="3703320"/>
            <a:ext cx="457200" cy="36576"/>
          </a:xfrm>
          <a:prstGeom prst="rect">
            <a:avLst/>
          </a:prstGeom>
          <a:solidFill>
            <a:srgbClr val="F3A31A"/>
          </a:solidFill>
          <a:ln w="12700">
            <a:solidFill>
              <a:srgbClr val="F3A31A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2" name="Text 10"/>
          <p:cNvSpPr/>
          <p:nvPr/>
        </p:nvSpPr>
        <p:spPr>
          <a:xfrm>
            <a:off x="3749040" y="384048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100" noProof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STD-PP-P3   •   Avril 2026   •   Formation opérateur</a:t>
            </a:r>
            <a:endParaRPr lang="fr-FR" sz="1100" noProof="0" dirty="0"/>
          </a:p>
        </p:txBody>
      </p:sp>
      <p:sp>
        <p:nvSpPr>
          <p:cNvPr id="13" name="Shape 11"/>
          <p:cNvSpPr/>
          <p:nvPr/>
        </p:nvSpPr>
        <p:spPr>
          <a:xfrm>
            <a:off x="502920" y="1234440"/>
            <a:ext cx="2834640" cy="2834640"/>
          </a:xfrm>
          <a:prstGeom prst="ellipse">
            <a:avLst/>
          </a:prstGeom>
          <a:solidFill>
            <a:srgbClr val="1E2D4F"/>
          </a:solidFill>
          <a:ln w="25400">
            <a:solidFill>
              <a:srgbClr val="F3A31A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7320" y="2148840"/>
            <a:ext cx="1005840" cy="100584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0" y="480060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000" kern="0" spc="200" noProof="0" dirty="0">
                <a:solidFill>
                  <a:srgbClr val="3A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&amp; Pack   —   Document contrôlé   —   Usage interne</a:t>
            </a:r>
            <a:endParaRPr lang="fr-FR" sz="1000" noProof="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E1C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566160" y="548640"/>
            <a:ext cx="2834640" cy="2834640"/>
          </a:xfrm>
          <a:prstGeom prst="ellipse">
            <a:avLst/>
          </a:prstGeom>
          <a:solidFill>
            <a:srgbClr val="1E2D4F"/>
          </a:solidFill>
          <a:ln w="25400">
            <a:solidFill>
              <a:srgbClr val="F3A31A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0560" y="1463040"/>
            <a:ext cx="1005840" cy="10058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3657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3000" b="1" noProof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 Chariot bien monté</a:t>
            </a:r>
            <a:endParaRPr lang="fr-FR" sz="3000" noProof="0" dirty="0"/>
          </a:p>
        </p:txBody>
      </p:sp>
      <p:sp>
        <p:nvSpPr>
          <p:cNvPr id="5" name="Text 2"/>
          <p:cNvSpPr/>
          <p:nvPr/>
        </p:nvSpPr>
        <p:spPr>
          <a:xfrm>
            <a:off x="457200" y="41605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3000" b="1" i="1" noProof="0" dirty="0">
                <a:solidFill>
                  <a:srgbClr val="F3A3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= tournée sans erreur. »</a:t>
            </a:r>
            <a:endParaRPr lang="fr-FR" sz="3000" noProof="0" dirty="0"/>
          </a:p>
        </p:txBody>
      </p:sp>
      <p:sp>
        <p:nvSpPr>
          <p:cNvPr id="6" name="Text 3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000" b="1" kern="0" spc="600" noProof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PRINCIPE FONDATEUR</a:t>
            </a:r>
            <a:endParaRPr lang="fr-FR" sz="1000" noProof="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731520" cy="731520"/>
          </a:xfrm>
          <a:prstGeom prst="ellipse">
            <a:avLst/>
          </a:prstGeom>
          <a:solidFill>
            <a:srgbClr val="0E1C36"/>
          </a:solidFill>
          <a:ln w="19050">
            <a:solidFill>
              <a:srgbClr val="F3A31A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594360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1148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2600" b="1" noProof="0" dirty="0">
                <a:solidFill>
                  <a:srgbClr val="1A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Affectation au poste info</a:t>
            </a:r>
            <a:endParaRPr lang="fr-FR" sz="2600" noProof="0" dirty="0"/>
          </a:p>
        </p:txBody>
      </p:sp>
      <p:sp>
        <p:nvSpPr>
          <p:cNvPr id="5" name="Text 2"/>
          <p:cNvSpPr/>
          <p:nvPr/>
        </p:nvSpPr>
        <p:spPr>
          <a:xfrm>
            <a:off x="1371600" y="86868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200" i="1" noProof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Prendre la tournée dans le système</a:t>
            </a:r>
            <a:endParaRPr lang="fr-FR" sz="1200" noProof="0" dirty="0"/>
          </a:p>
        </p:txBody>
      </p:sp>
      <p:sp>
        <p:nvSpPr>
          <p:cNvPr id="6" name="Text 3"/>
          <p:cNvSpPr/>
          <p:nvPr/>
        </p:nvSpPr>
        <p:spPr>
          <a:xfrm>
            <a:off x="7589520" y="50292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fr-FR" sz="1200" b="1" kern="0" spc="200" noProof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1   /   0 3</a:t>
            </a:r>
            <a:endParaRPr lang="fr-FR" sz="1200" noProof="0" dirty="0"/>
          </a:p>
        </p:txBody>
      </p:sp>
      <p:sp>
        <p:nvSpPr>
          <p:cNvPr id="7" name="Shape 4"/>
          <p:cNvSpPr/>
          <p:nvPr/>
        </p:nvSpPr>
        <p:spPr>
          <a:xfrm>
            <a:off x="8046720" y="868680"/>
            <a:ext cx="731520" cy="36576"/>
          </a:xfrm>
          <a:prstGeom prst="rect">
            <a:avLst/>
          </a:prstGeom>
          <a:solidFill>
            <a:srgbClr val="F3A31A"/>
          </a:solidFill>
          <a:ln w="12700">
            <a:solidFill>
              <a:srgbClr val="F3A31A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8" name="Shape 5"/>
          <p:cNvSpPr/>
          <p:nvPr/>
        </p:nvSpPr>
        <p:spPr>
          <a:xfrm>
            <a:off x="457200" y="1554480"/>
            <a:ext cx="2651760" cy="64008"/>
          </a:xfrm>
          <a:prstGeom prst="rect">
            <a:avLst/>
          </a:prstGeom>
          <a:solidFill>
            <a:srgbClr val="F3A31A"/>
          </a:solidFill>
          <a:ln w="12700">
            <a:solidFill>
              <a:srgbClr val="F3A31A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9" name="Shape 6"/>
          <p:cNvSpPr/>
          <p:nvPr/>
        </p:nvSpPr>
        <p:spPr>
          <a:xfrm>
            <a:off x="457200" y="1618488"/>
            <a:ext cx="2651760" cy="28620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270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10" name="Text 7"/>
          <p:cNvSpPr/>
          <p:nvPr/>
        </p:nvSpPr>
        <p:spPr>
          <a:xfrm>
            <a:off x="2286000" y="1691640"/>
            <a:ext cx="731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fr-FR" sz="5600" b="1" noProof="0" dirty="0">
                <a:solidFill>
                  <a:srgbClr val="E5E7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fr-FR" sz="5600" noProof="0" dirty="0"/>
          </a:p>
        </p:txBody>
      </p:sp>
      <p:sp>
        <p:nvSpPr>
          <p:cNvPr id="11" name="Shape 8"/>
          <p:cNvSpPr/>
          <p:nvPr/>
        </p:nvSpPr>
        <p:spPr>
          <a:xfrm>
            <a:off x="731520" y="1874520"/>
            <a:ext cx="868680" cy="868680"/>
          </a:xfrm>
          <a:prstGeom prst="ellipse">
            <a:avLst/>
          </a:prstGeom>
          <a:solidFill>
            <a:srgbClr val="0E1C36"/>
          </a:solidFill>
          <a:ln w="12700">
            <a:solidFill>
              <a:srgbClr val="0E1C36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2103120"/>
            <a:ext cx="411480" cy="4114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40080" y="29260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2000" b="1" noProof="0" dirty="0">
                <a:solidFill>
                  <a:srgbClr val="1A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S'affecter</a:t>
            </a:r>
            <a:endParaRPr lang="fr-FR" sz="2000" noProof="0" dirty="0"/>
          </a:p>
        </p:txBody>
      </p:sp>
      <p:sp>
        <p:nvSpPr>
          <p:cNvPr id="14" name="Text 10"/>
          <p:cNvSpPr/>
          <p:nvPr/>
        </p:nvSpPr>
        <p:spPr>
          <a:xfrm>
            <a:off x="640080" y="329184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700" b="1" i="1" noProof="0" dirty="0">
                <a:solidFill>
                  <a:srgbClr val="F3A3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sur le poste</a:t>
            </a:r>
            <a:endParaRPr lang="fr-FR" sz="1700" noProof="0" dirty="0"/>
          </a:p>
        </p:txBody>
      </p:sp>
      <p:sp>
        <p:nvSpPr>
          <p:cNvPr id="15" name="Text 11"/>
          <p:cNvSpPr/>
          <p:nvPr/>
        </p:nvSpPr>
        <p:spPr>
          <a:xfrm>
            <a:off x="640080" y="37947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100" noProof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 « Préparation et gestion des tournées de préparations ».</a:t>
            </a:r>
            <a:endParaRPr lang="fr-FR" sz="1100" noProof="0" dirty="0"/>
          </a:p>
        </p:txBody>
      </p:sp>
      <p:sp>
        <p:nvSpPr>
          <p:cNvPr id="16" name="Text 12"/>
          <p:cNvSpPr/>
          <p:nvPr/>
        </p:nvSpPr>
        <p:spPr>
          <a:xfrm>
            <a:off x="3067812" y="2788920"/>
            <a:ext cx="219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2400" b="1" noProof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fr-FR" sz="2400" noProof="0" dirty="0"/>
          </a:p>
        </p:txBody>
      </p:sp>
      <p:sp>
        <p:nvSpPr>
          <p:cNvPr id="17" name="Shape 13"/>
          <p:cNvSpPr/>
          <p:nvPr/>
        </p:nvSpPr>
        <p:spPr>
          <a:xfrm>
            <a:off x="3246120" y="1554480"/>
            <a:ext cx="2651760" cy="64008"/>
          </a:xfrm>
          <a:prstGeom prst="rect">
            <a:avLst/>
          </a:prstGeom>
          <a:solidFill>
            <a:srgbClr val="F3A31A"/>
          </a:solidFill>
          <a:ln w="12700">
            <a:solidFill>
              <a:srgbClr val="F3A31A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8" name="Shape 14"/>
          <p:cNvSpPr/>
          <p:nvPr/>
        </p:nvSpPr>
        <p:spPr>
          <a:xfrm>
            <a:off x="3246120" y="1618488"/>
            <a:ext cx="2651760" cy="28620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270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19" name="Text 15"/>
          <p:cNvSpPr/>
          <p:nvPr/>
        </p:nvSpPr>
        <p:spPr>
          <a:xfrm>
            <a:off x="5074920" y="1691640"/>
            <a:ext cx="731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fr-FR" sz="5600" b="1" noProof="0" dirty="0">
                <a:solidFill>
                  <a:srgbClr val="E5E7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fr-FR" sz="5600" noProof="0" dirty="0"/>
          </a:p>
        </p:txBody>
      </p:sp>
      <p:sp>
        <p:nvSpPr>
          <p:cNvPr id="20" name="Shape 16"/>
          <p:cNvSpPr/>
          <p:nvPr/>
        </p:nvSpPr>
        <p:spPr>
          <a:xfrm>
            <a:off x="3520440" y="1874520"/>
            <a:ext cx="868680" cy="868680"/>
          </a:xfrm>
          <a:prstGeom prst="ellipse">
            <a:avLst/>
          </a:prstGeom>
          <a:solidFill>
            <a:srgbClr val="0E1C36"/>
          </a:solidFill>
          <a:ln w="12700">
            <a:solidFill>
              <a:srgbClr val="0E1C36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49040" y="2103120"/>
            <a:ext cx="411480" cy="41148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3429000" y="29260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2000" b="1" noProof="0" dirty="0">
                <a:solidFill>
                  <a:srgbClr val="1A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Scanner</a:t>
            </a:r>
            <a:endParaRPr lang="fr-FR" sz="2000" noProof="0" dirty="0"/>
          </a:p>
        </p:txBody>
      </p:sp>
      <p:sp>
        <p:nvSpPr>
          <p:cNvPr id="23" name="Text 18"/>
          <p:cNvSpPr/>
          <p:nvPr/>
        </p:nvSpPr>
        <p:spPr>
          <a:xfrm>
            <a:off x="3429000" y="329184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700" b="1" i="1" noProof="0" dirty="0">
                <a:solidFill>
                  <a:srgbClr val="F3A3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 code barre</a:t>
            </a:r>
            <a:endParaRPr lang="fr-FR" sz="1700" noProof="0" dirty="0"/>
          </a:p>
        </p:txBody>
      </p:sp>
      <p:sp>
        <p:nvSpPr>
          <p:cNvPr id="24" name="Text 19"/>
          <p:cNvSpPr/>
          <p:nvPr/>
        </p:nvSpPr>
        <p:spPr>
          <a:xfrm>
            <a:off x="3429000" y="37947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100" noProof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barre de la tournée → affectation.</a:t>
            </a:r>
            <a:endParaRPr lang="fr-FR" sz="1100" noProof="0" dirty="0"/>
          </a:p>
        </p:txBody>
      </p:sp>
      <p:sp>
        <p:nvSpPr>
          <p:cNvPr id="25" name="Text 20"/>
          <p:cNvSpPr/>
          <p:nvPr/>
        </p:nvSpPr>
        <p:spPr>
          <a:xfrm>
            <a:off x="5856732" y="2788920"/>
            <a:ext cx="219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2400" b="1" noProof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fr-FR" sz="2400" noProof="0" dirty="0"/>
          </a:p>
        </p:txBody>
      </p:sp>
      <p:sp>
        <p:nvSpPr>
          <p:cNvPr id="26" name="Shape 21"/>
          <p:cNvSpPr/>
          <p:nvPr/>
        </p:nvSpPr>
        <p:spPr>
          <a:xfrm>
            <a:off x="6035040" y="1554480"/>
            <a:ext cx="2651760" cy="64008"/>
          </a:xfrm>
          <a:prstGeom prst="rect">
            <a:avLst/>
          </a:prstGeom>
          <a:solidFill>
            <a:srgbClr val="F3A31A"/>
          </a:solidFill>
          <a:ln w="12700">
            <a:solidFill>
              <a:srgbClr val="F3A31A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27" name="Shape 22"/>
          <p:cNvSpPr/>
          <p:nvPr/>
        </p:nvSpPr>
        <p:spPr>
          <a:xfrm>
            <a:off x="6035040" y="1618488"/>
            <a:ext cx="2651760" cy="28620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270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28" name="Text 23"/>
          <p:cNvSpPr/>
          <p:nvPr/>
        </p:nvSpPr>
        <p:spPr>
          <a:xfrm>
            <a:off x="7863840" y="1691640"/>
            <a:ext cx="731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fr-FR" sz="5600" b="1" noProof="0" dirty="0">
                <a:solidFill>
                  <a:srgbClr val="E5E7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fr-FR" sz="5600" noProof="0" dirty="0"/>
          </a:p>
        </p:txBody>
      </p:sp>
      <p:sp>
        <p:nvSpPr>
          <p:cNvPr id="29" name="Shape 24"/>
          <p:cNvSpPr/>
          <p:nvPr/>
        </p:nvSpPr>
        <p:spPr>
          <a:xfrm>
            <a:off x="6309360" y="1874520"/>
            <a:ext cx="868680" cy="868680"/>
          </a:xfrm>
          <a:prstGeom prst="ellipse">
            <a:avLst/>
          </a:prstGeom>
          <a:solidFill>
            <a:srgbClr val="0E1C36"/>
          </a:solidFill>
          <a:ln w="12700">
            <a:solidFill>
              <a:srgbClr val="0E1C36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pic>
        <p:nvPicPr>
          <p:cNvPr id="3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37960" y="2103120"/>
            <a:ext cx="411480" cy="411480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6217920" y="29260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2000" b="1" noProof="0" dirty="0">
                <a:solidFill>
                  <a:srgbClr val="1A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Entrer</a:t>
            </a:r>
            <a:endParaRPr lang="fr-FR" sz="2000" noProof="0" dirty="0"/>
          </a:p>
        </p:txBody>
      </p:sp>
      <p:sp>
        <p:nvSpPr>
          <p:cNvPr id="32" name="Text 26"/>
          <p:cNvSpPr/>
          <p:nvPr/>
        </p:nvSpPr>
        <p:spPr>
          <a:xfrm>
            <a:off x="6217920" y="329184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700" b="1" i="1" noProof="0" dirty="0">
                <a:solidFill>
                  <a:srgbClr val="F3A3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code opérateur</a:t>
            </a:r>
            <a:endParaRPr lang="fr-FR" sz="1700" noProof="0" dirty="0"/>
          </a:p>
        </p:txBody>
      </p:sp>
      <p:sp>
        <p:nvSpPr>
          <p:cNvPr id="33" name="Text 27"/>
          <p:cNvSpPr/>
          <p:nvPr/>
        </p:nvSpPr>
        <p:spPr>
          <a:xfrm>
            <a:off x="6217920" y="37947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100" noProof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 « Affectation (1) »+ Code opérateur.</a:t>
            </a:r>
            <a:endParaRPr lang="fr-FR" sz="1100" noProof="0" dirty="0"/>
          </a:p>
        </p:txBody>
      </p:sp>
      <p:sp>
        <p:nvSpPr>
          <p:cNvPr id="34" name="Text 28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200" i="1" noProof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affectation tracée  •  un </a:t>
            </a:r>
            <a:r>
              <a:rPr lang="fr-FR" sz="1200" i="1" noProof="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</a:t>
            </a:r>
            <a:r>
              <a:rPr lang="fr-FR" sz="1200" i="1" noProof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juste</a:t>
            </a:r>
            <a:endParaRPr lang="fr-FR" sz="1200" noProof="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731520" cy="731520"/>
          </a:xfrm>
          <a:prstGeom prst="ellipse">
            <a:avLst/>
          </a:prstGeom>
          <a:solidFill>
            <a:srgbClr val="0E1C36"/>
          </a:solidFill>
          <a:ln w="19050">
            <a:solidFill>
              <a:srgbClr val="F3A31A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594360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1148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2600" b="1" noProof="0" dirty="0">
                <a:solidFill>
                  <a:srgbClr val="1A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Contrôle commande</a:t>
            </a:r>
            <a:endParaRPr lang="fr-FR" sz="2600" noProof="0" dirty="0"/>
          </a:p>
        </p:txBody>
      </p:sp>
      <p:sp>
        <p:nvSpPr>
          <p:cNvPr id="5" name="Text 2"/>
          <p:cNvSpPr/>
          <p:nvPr/>
        </p:nvSpPr>
        <p:spPr>
          <a:xfrm>
            <a:off x="1371600" y="86868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200" i="1" noProof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qu'il faut faire, ce qu'il faut éviter</a:t>
            </a:r>
            <a:endParaRPr lang="fr-FR" sz="1200" noProof="0" dirty="0"/>
          </a:p>
        </p:txBody>
      </p:sp>
      <p:sp>
        <p:nvSpPr>
          <p:cNvPr id="6" name="Text 3"/>
          <p:cNvSpPr/>
          <p:nvPr/>
        </p:nvSpPr>
        <p:spPr>
          <a:xfrm>
            <a:off x="7589520" y="50292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fr-FR" sz="1200" b="1" kern="0" spc="200" noProof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2   /   0 3</a:t>
            </a:r>
            <a:endParaRPr lang="fr-FR" sz="1200" noProof="0" dirty="0"/>
          </a:p>
        </p:txBody>
      </p:sp>
      <p:sp>
        <p:nvSpPr>
          <p:cNvPr id="7" name="Shape 4"/>
          <p:cNvSpPr/>
          <p:nvPr/>
        </p:nvSpPr>
        <p:spPr>
          <a:xfrm>
            <a:off x="8046720" y="868680"/>
            <a:ext cx="731520" cy="36576"/>
          </a:xfrm>
          <a:prstGeom prst="rect">
            <a:avLst/>
          </a:prstGeom>
          <a:solidFill>
            <a:srgbClr val="F3A31A"/>
          </a:solidFill>
          <a:ln w="12700">
            <a:solidFill>
              <a:srgbClr val="F3A31A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8" name="Shape 5"/>
          <p:cNvSpPr/>
          <p:nvPr/>
        </p:nvSpPr>
        <p:spPr>
          <a:xfrm>
            <a:off x="457200" y="1554480"/>
            <a:ext cx="91440" cy="3017520"/>
          </a:xfrm>
          <a:prstGeom prst="rect">
            <a:avLst/>
          </a:prstGeom>
          <a:solidFill>
            <a:srgbClr val="2E9D5C"/>
          </a:solidFill>
          <a:ln w="12700">
            <a:solidFill>
              <a:srgbClr val="2E9D5C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9" name="Shape 6"/>
          <p:cNvSpPr/>
          <p:nvPr/>
        </p:nvSpPr>
        <p:spPr>
          <a:xfrm>
            <a:off x="548640" y="1554480"/>
            <a:ext cx="393192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27000" dist="254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1783080"/>
            <a:ext cx="274320" cy="2743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43000" y="17373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400" b="1" kern="0" spc="400" noProof="0" dirty="0">
                <a:solidFill>
                  <a:srgbClr val="2E9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  F A I R E</a:t>
            </a:r>
            <a:endParaRPr lang="fr-FR" sz="1400" noProof="0" dirty="0"/>
          </a:p>
        </p:txBody>
      </p:sp>
      <p:sp>
        <p:nvSpPr>
          <p:cNvPr id="12" name="Shape 8"/>
          <p:cNvSpPr/>
          <p:nvPr/>
        </p:nvSpPr>
        <p:spPr>
          <a:xfrm>
            <a:off x="731520" y="2505456"/>
            <a:ext cx="292608" cy="292608"/>
          </a:xfrm>
          <a:prstGeom prst="ellipse">
            <a:avLst/>
          </a:prstGeom>
          <a:solidFill>
            <a:srgbClr val="2E9D5C"/>
          </a:solidFill>
          <a:ln w="12700">
            <a:solidFill>
              <a:srgbClr val="2E9D5C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3" name="Text 9"/>
          <p:cNvSpPr/>
          <p:nvPr/>
        </p:nvSpPr>
        <p:spPr>
          <a:xfrm>
            <a:off x="731520" y="25054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2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fr-FR" sz="1200" noProof="0" dirty="0"/>
          </a:p>
        </p:txBody>
      </p:sp>
      <p:sp>
        <p:nvSpPr>
          <p:cNvPr id="14" name="Text 10"/>
          <p:cNvSpPr/>
          <p:nvPr/>
        </p:nvSpPr>
        <p:spPr>
          <a:xfrm>
            <a:off x="1143000" y="2286000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200" noProof="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Vérifier l'état « En cours »</a:t>
            </a:r>
            <a:endParaRPr lang="fr-FR" sz="1200" noProof="0" dirty="0"/>
          </a:p>
        </p:txBody>
      </p:sp>
      <p:sp>
        <p:nvSpPr>
          <p:cNvPr id="15" name="Shape 11"/>
          <p:cNvSpPr/>
          <p:nvPr/>
        </p:nvSpPr>
        <p:spPr>
          <a:xfrm>
            <a:off x="731520" y="3236976"/>
            <a:ext cx="292608" cy="292608"/>
          </a:xfrm>
          <a:prstGeom prst="ellipse">
            <a:avLst/>
          </a:prstGeom>
          <a:solidFill>
            <a:srgbClr val="2E9D5C"/>
          </a:solidFill>
          <a:ln w="12700">
            <a:solidFill>
              <a:srgbClr val="2E9D5C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6" name="Text 12"/>
          <p:cNvSpPr/>
          <p:nvPr/>
        </p:nvSpPr>
        <p:spPr>
          <a:xfrm>
            <a:off x="731520" y="32369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2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fr-FR" sz="1200" noProof="0" dirty="0"/>
          </a:p>
        </p:txBody>
      </p:sp>
      <p:sp>
        <p:nvSpPr>
          <p:cNvPr id="17" name="Text 13"/>
          <p:cNvSpPr/>
          <p:nvPr/>
        </p:nvSpPr>
        <p:spPr>
          <a:xfrm>
            <a:off x="1143000" y="3017520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200" noProof="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Rafraîchir avec F5 si nécessaire</a:t>
            </a:r>
            <a:endParaRPr lang="fr-FR" sz="1200" noProof="0" dirty="0"/>
          </a:p>
        </p:txBody>
      </p:sp>
      <p:sp>
        <p:nvSpPr>
          <p:cNvPr id="18" name="Shape 14"/>
          <p:cNvSpPr/>
          <p:nvPr/>
        </p:nvSpPr>
        <p:spPr>
          <a:xfrm>
            <a:off x="731520" y="3968496"/>
            <a:ext cx="292608" cy="292608"/>
          </a:xfrm>
          <a:prstGeom prst="ellipse">
            <a:avLst/>
          </a:prstGeom>
          <a:solidFill>
            <a:srgbClr val="2E9D5C"/>
          </a:solidFill>
          <a:ln w="12700">
            <a:solidFill>
              <a:srgbClr val="2E9D5C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9" name="Text 15"/>
          <p:cNvSpPr/>
          <p:nvPr/>
        </p:nvSpPr>
        <p:spPr>
          <a:xfrm>
            <a:off x="731520" y="39684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2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fr-FR" sz="1200" noProof="0" dirty="0"/>
          </a:p>
        </p:txBody>
      </p:sp>
      <p:sp>
        <p:nvSpPr>
          <p:cNvPr id="20" name="Text 16"/>
          <p:cNvSpPr/>
          <p:nvPr/>
        </p:nvSpPr>
        <p:spPr>
          <a:xfrm>
            <a:off x="1143000" y="3749040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200" noProof="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Confirmer avant de prendre les contenants</a:t>
            </a:r>
            <a:endParaRPr lang="fr-FR" sz="1200" noProof="0" dirty="0"/>
          </a:p>
        </p:txBody>
      </p:sp>
      <p:sp>
        <p:nvSpPr>
          <p:cNvPr id="21" name="Shape 17"/>
          <p:cNvSpPr/>
          <p:nvPr/>
        </p:nvSpPr>
        <p:spPr>
          <a:xfrm>
            <a:off x="4663440" y="1554480"/>
            <a:ext cx="91440" cy="3017520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22" name="Shape 18"/>
          <p:cNvSpPr/>
          <p:nvPr/>
        </p:nvSpPr>
        <p:spPr>
          <a:xfrm>
            <a:off x="4754880" y="1554480"/>
            <a:ext cx="393192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27000" dist="254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7760" y="1783080"/>
            <a:ext cx="274320" cy="27432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5349240" y="17373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400" b="1" kern="0" spc="400" noProof="0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 A M A I S</a:t>
            </a:r>
            <a:endParaRPr lang="fr-FR" sz="1400" noProof="0" dirty="0"/>
          </a:p>
        </p:txBody>
      </p:sp>
      <p:sp>
        <p:nvSpPr>
          <p:cNvPr id="25" name="Shape 20"/>
          <p:cNvSpPr/>
          <p:nvPr/>
        </p:nvSpPr>
        <p:spPr>
          <a:xfrm>
            <a:off x="4937760" y="2505456"/>
            <a:ext cx="292608" cy="292608"/>
          </a:xfrm>
          <a:prstGeom prst="ellipse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26" name="Text 21"/>
          <p:cNvSpPr/>
          <p:nvPr/>
        </p:nvSpPr>
        <p:spPr>
          <a:xfrm>
            <a:off x="4937760" y="25054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3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fr-FR" sz="1300" noProof="0" dirty="0"/>
          </a:p>
        </p:txBody>
      </p:sp>
      <p:sp>
        <p:nvSpPr>
          <p:cNvPr id="27" name="Text 22"/>
          <p:cNvSpPr/>
          <p:nvPr/>
        </p:nvSpPr>
        <p:spPr>
          <a:xfrm>
            <a:off x="5349240" y="2286000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200" noProof="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D'oubli d'affectation</a:t>
            </a:r>
            <a:endParaRPr lang="fr-FR" sz="1200" noProof="0" dirty="0"/>
          </a:p>
        </p:txBody>
      </p:sp>
      <p:sp>
        <p:nvSpPr>
          <p:cNvPr id="28" name="Shape 23"/>
          <p:cNvSpPr/>
          <p:nvPr/>
        </p:nvSpPr>
        <p:spPr>
          <a:xfrm>
            <a:off x="4937760" y="3236976"/>
            <a:ext cx="292608" cy="292608"/>
          </a:xfrm>
          <a:prstGeom prst="ellipse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29" name="Text 24"/>
          <p:cNvSpPr/>
          <p:nvPr/>
        </p:nvSpPr>
        <p:spPr>
          <a:xfrm>
            <a:off x="4937760" y="32369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3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fr-FR" sz="1300" noProof="0" dirty="0"/>
          </a:p>
        </p:txBody>
      </p:sp>
      <p:sp>
        <p:nvSpPr>
          <p:cNvPr id="30" name="Text 25"/>
          <p:cNvSpPr/>
          <p:nvPr/>
        </p:nvSpPr>
        <p:spPr>
          <a:xfrm>
            <a:off x="5349240" y="3017520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200" noProof="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confusion entre bacs et cartons</a:t>
            </a:r>
            <a:endParaRPr lang="fr-FR" sz="1200" noProof="0" dirty="0"/>
          </a:p>
        </p:txBody>
      </p:sp>
      <p:sp>
        <p:nvSpPr>
          <p:cNvPr id="31" name="Shape 26"/>
          <p:cNvSpPr/>
          <p:nvPr/>
        </p:nvSpPr>
        <p:spPr>
          <a:xfrm>
            <a:off x="4937760" y="3968496"/>
            <a:ext cx="292608" cy="292608"/>
          </a:xfrm>
          <a:prstGeom prst="ellipse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32" name="Text 27"/>
          <p:cNvSpPr/>
          <p:nvPr/>
        </p:nvSpPr>
        <p:spPr>
          <a:xfrm>
            <a:off x="4937760" y="39684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3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fr-FR" sz="1300" noProof="0" dirty="0"/>
          </a:p>
        </p:txBody>
      </p:sp>
      <p:sp>
        <p:nvSpPr>
          <p:cNvPr id="33" name="Text 28"/>
          <p:cNvSpPr/>
          <p:nvPr/>
        </p:nvSpPr>
        <p:spPr>
          <a:xfrm>
            <a:off x="5349240" y="3749040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200" noProof="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démarrage sans état « En cours »</a:t>
            </a:r>
            <a:endParaRPr lang="fr-FR" sz="1200" noProof="0" dirty="0"/>
          </a:p>
        </p:txBody>
      </p:sp>
      <p:sp>
        <p:nvSpPr>
          <p:cNvPr id="34" name="Text 29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300" b="1" i="1" noProof="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Commande vérifiée  =  préparation sûre</a:t>
            </a:r>
            <a:endParaRPr lang="fr-FR" sz="1300" noProof="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731520" cy="731520"/>
          </a:xfrm>
          <a:prstGeom prst="ellipse">
            <a:avLst/>
          </a:prstGeom>
          <a:solidFill>
            <a:srgbClr val="0E1C36"/>
          </a:solidFill>
          <a:ln w="19050">
            <a:solidFill>
              <a:srgbClr val="F3A31A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594360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1148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2600" b="1" noProof="0" dirty="0">
                <a:solidFill>
                  <a:srgbClr val="1A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Montage du chariot</a:t>
            </a:r>
            <a:endParaRPr lang="fr-FR" sz="2600" noProof="0" dirty="0"/>
          </a:p>
        </p:txBody>
      </p:sp>
      <p:sp>
        <p:nvSpPr>
          <p:cNvPr id="5" name="Text 2"/>
          <p:cNvSpPr/>
          <p:nvPr/>
        </p:nvSpPr>
        <p:spPr>
          <a:xfrm>
            <a:off x="1371600" y="86868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200" i="1" noProof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Prendre les contenants, démarrer la préparation</a:t>
            </a:r>
            <a:endParaRPr lang="fr-FR" sz="1200" noProof="0" dirty="0"/>
          </a:p>
        </p:txBody>
      </p:sp>
      <p:sp>
        <p:nvSpPr>
          <p:cNvPr id="6" name="Text 3"/>
          <p:cNvSpPr/>
          <p:nvPr/>
        </p:nvSpPr>
        <p:spPr>
          <a:xfrm>
            <a:off x="7589520" y="50292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fr-FR" sz="1200" b="1" kern="0" spc="200" noProof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3   /   0 3</a:t>
            </a:r>
            <a:endParaRPr lang="fr-FR" sz="1200" noProof="0" dirty="0"/>
          </a:p>
        </p:txBody>
      </p:sp>
      <p:sp>
        <p:nvSpPr>
          <p:cNvPr id="7" name="Shape 4"/>
          <p:cNvSpPr/>
          <p:nvPr/>
        </p:nvSpPr>
        <p:spPr>
          <a:xfrm>
            <a:off x="8046720" y="868680"/>
            <a:ext cx="731520" cy="36576"/>
          </a:xfrm>
          <a:prstGeom prst="rect">
            <a:avLst/>
          </a:prstGeom>
          <a:solidFill>
            <a:srgbClr val="F3A31A"/>
          </a:solidFill>
          <a:ln w="12700">
            <a:solidFill>
              <a:srgbClr val="F3A31A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8" name="Shape 5"/>
          <p:cNvSpPr/>
          <p:nvPr/>
        </p:nvSpPr>
        <p:spPr>
          <a:xfrm>
            <a:off x="457200" y="1554480"/>
            <a:ext cx="2651760" cy="64008"/>
          </a:xfrm>
          <a:prstGeom prst="rect">
            <a:avLst/>
          </a:prstGeom>
          <a:solidFill>
            <a:srgbClr val="F3A31A"/>
          </a:solidFill>
          <a:ln w="12700">
            <a:solidFill>
              <a:srgbClr val="F3A31A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9" name="Shape 6"/>
          <p:cNvSpPr/>
          <p:nvPr/>
        </p:nvSpPr>
        <p:spPr>
          <a:xfrm>
            <a:off x="457200" y="1618488"/>
            <a:ext cx="2651760" cy="28620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270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10" name="Text 7"/>
          <p:cNvSpPr/>
          <p:nvPr/>
        </p:nvSpPr>
        <p:spPr>
          <a:xfrm>
            <a:off x="2286000" y="1691640"/>
            <a:ext cx="731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fr-FR" sz="5600" b="1" noProof="0" dirty="0">
                <a:solidFill>
                  <a:srgbClr val="E5E7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fr-FR" sz="5600" noProof="0" dirty="0"/>
          </a:p>
        </p:txBody>
      </p:sp>
      <p:sp>
        <p:nvSpPr>
          <p:cNvPr id="11" name="Shape 8"/>
          <p:cNvSpPr/>
          <p:nvPr/>
        </p:nvSpPr>
        <p:spPr>
          <a:xfrm>
            <a:off x="731520" y="1874520"/>
            <a:ext cx="868680" cy="868680"/>
          </a:xfrm>
          <a:prstGeom prst="ellipse">
            <a:avLst/>
          </a:prstGeom>
          <a:solidFill>
            <a:srgbClr val="0E1C36"/>
          </a:solidFill>
          <a:ln w="12700">
            <a:solidFill>
              <a:srgbClr val="0E1C36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2103120"/>
            <a:ext cx="411480" cy="4114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40080" y="29260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2000" b="1" noProof="0" dirty="0">
                <a:solidFill>
                  <a:srgbClr val="1A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Prendre</a:t>
            </a:r>
            <a:endParaRPr lang="fr-FR" sz="2000" noProof="0" dirty="0"/>
          </a:p>
        </p:txBody>
      </p:sp>
      <p:sp>
        <p:nvSpPr>
          <p:cNvPr id="14" name="Text 10"/>
          <p:cNvSpPr/>
          <p:nvPr/>
        </p:nvSpPr>
        <p:spPr>
          <a:xfrm>
            <a:off x="640080" y="329184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700" b="1" i="1" noProof="0" dirty="0">
                <a:solidFill>
                  <a:srgbClr val="F3A3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les contenants</a:t>
            </a:r>
            <a:endParaRPr lang="fr-FR" sz="1700" noProof="0" dirty="0"/>
          </a:p>
        </p:txBody>
      </p:sp>
      <p:sp>
        <p:nvSpPr>
          <p:cNvPr id="15" name="Text 11"/>
          <p:cNvSpPr/>
          <p:nvPr/>
        </p:nvSpPr>
        <p:spPr>
          <a:xfrm>
            <a:off x="640080" y="37947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100" noProof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Cartons ou bacs indiqués par la commande.</a:t>
            </a:r>
            <a:endParaRPr lang="fr-FR" sz="1100" noProof="0" dirty="0"/>
          </a:p>
        </p:txBody>
      </p:sp>
      <p:sp>
        <p:nvSpPr>
          <p:cNvPr id="16" name="Text 12"/>
          <p:cNvSpPr/>
          <p:nvPr/>
        </p:nvSpPr>
        <p:spPr>
          <a:xfrm>
            <a:off x="3067812" y="2788920"/>
            <a:ext cx="219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2400" b="1" noProof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fr-FR" sz="2400" noProof="0" dirty="0"/>
          </a:p>
        </p:txBody>
      </p:sp>
      <p:sp>
        <p:nvSpPr>
          <p:cNvPr id="17" name="Shape 13"/>
          <p:cNvSpPr/>
          <p:nvPr/>
        </p:nvSpPr>
        <p:spPr>
          <a:xfrm>
            <a:off x="3246120" y="1554480"/>
            <a:ext cx="2651760" cy="64008"/>
          </a:xfrm>
          <a:prstGeom prst="rect">
            <a:avLst/>
          </a:prstGeom>
          <a:solidFill>
            <a:srgbClr val="F3A31A"/>
          </a:solidFill>
          <a:ln w="12700">
            <a:solidFill>
              <a:srgbClr val="F3A31A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8" name="Shape 14"/>
          <p:cNvSpPr/>
          <p:nvPr/>
        </p:nvSpPr>
        <p:spPr>
          <a:xfrm>
            <a:off x="3246120" y="1618488"/>
            <a:ext cx="2651760" cy="28620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270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19" name="Text 15"/>
          <p:cNvSpPr/>
          <p:nvPr/>
        </p:nvSpPr>
        <p:spPr>
          <a:xfrm>
            <a:off x="5074920" y="1691640"/>
            <a:ext cx="731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fr-FR" sz="5600" b="1" noProof="0" dirty="0">
                <a:solidFill>
                  <a:srgbClr val="E5E7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fr-FR" sz="5600" noProof="0" dirty="0"/>
          </a:p>
        </p:txBody>
      </p:sp>
      <p:sp>
        <p:nvSpPr>
          <p:cNvPr id="20" name="Shape 16"/>
          <p:cNvSpPr/>
          <p:nvPr/>
        </p:nvSpPr>
        <p:spPr>
          <a:xfrm>
            <a:off x="3520440" y="1874520"/>
            <a:ext cx="868680" cy="868680"/>
          </a:xfrm>
          <a:prstGeom prst="ellipse">
            <a:avLst/>
          </a:prstGeom>
          <a:solidFill>
            <a:srgbClr val="0E1C36"/>
          </a:solidFill>
          <a:ln w="12700">
            <a:solidFill>
              <a:srgbClr val="0E1C36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49040" y="2103120"/>
            <a:ext cx="411480" cy="41148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3429000" y="29260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2000" b="1" noProof="0" dirty="0">
                <a:solidFill>
                  <a:srgbClr val="1A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Monter</a:t>
            </a:r>
            <a:endParaRPr lang="fr-FR" sz="2000" noProof="0" dirty="0"/>
          </a:p>
        </p:txBody>
      </p:sp>
      <p:sp>
        <p:nvSpPr>
          <p:cNvPr id="23" name="Text 18"/>
          <p:cNvSpPr/>
          <p:nvPr/>
        </p:nvSpPr>
        <p:spPr>
          <a:xfrm>
            <a:off x="3429000" y="329184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700" b="1" i="1" noProof="0" dirty="0">
                <a:solidFill>
                  <a:srgbClr val="F3A3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 n° de colis</a:t>
            </a:r>
            <a:endParaRPr lang="fr-FR" sz="1700" noProof="0" dirty="0"/>
          </a:p>
        </p:txBody>
      </p:sp>
      <p:sp>
        <p:nvSpPr>
          <p:cNvPr id="24" name="Text 19"/>
          <p:cNvSpPr/>
          <p:nvPr/>
        </p:nvSpPr>
        <p:spPr>
          <a:xfrm>
            <a:off x="3429000" y="37947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100" noProof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Suivre les n° de colis correspondants.</a:t>
            </a:r>
            <a:endParaRPr lang="fr-FR" sz="1100" noProof="0" dirty="0"/>
          </a:p>
        </p:txBody>
      </p:sp>
      <p:sp>
        <p:nvSpPr>
          <p:cNvPr id="25" name="Text 20"/>
          <p:cNvSpPr/>
          <p:nvPr/>
        </p:nvSpPr>
        <p:spPr>
          <a:xfrm>
            <a:off x="5856732" y="2788920"/>
            <a:ext cx="219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2400" b="1" noProof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fr-FR" sz="2400" noProof="0" dirty="0"/>
          </a:p>
        </p:txBody>
      </p:sp>
      <p:sp>
        <p:nvSpPr>
          <p:cNvPr id="26" name="Shape 21"/>
          <p:cNvSpPr/>
          <p:nvPr/>
        </p:nvSpPr>
        <p:spPr>
          <a:xfrm>
            <a:off x="6035040" y="1554480"/>
            <a:ext cx="2651760" cy="64008"/>
          </a:xfrm>
          <a:prstGeom prst="rect">
            <a:avLst/>
          </a:prstGeom>
          <a:solidFill>
            <a:srgbClr val="F3A31A"/>
          </a:solidFill>
          <a:ln w="12700">
            <a:solidFill>
              <a:srgbClr val="F3A31A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27" name="Shape 22"/>
          <p:cNvSpPr/>
          <p:nvPr/>
        </p:nvSpPr>
        <p:spPr>
          <a:xfrm>
            <a:off x="6035040" y="1618488"/>
            <a:ext cx="2651760" cy="28620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270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28" name="Text 23"/>
          <p:cNvSpPr/>
          <p:nvPr/>
        </p:nvSpPr>
        <p:spPr>
          <a:xfrm>
            <a:off x="7863840" y="1691640"/>
            <a:ext cx="731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fr-FR" sz="5600" b="1" noProof="0" dirty="0">
                <a:solidFill>
                  <a:srgbClr val="E5E7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fr-FR" sz="5600" noProof="0" dirty="0"/>
          </a:p>
        </p:txBody>
      </p:sp>
      <p:sp>
        <p:nvSpPr>
          <p:cNvPr id="29" name="Shape 24"/>
          <p:cNvSpPr/>
          <p:nvPr/>
        </p:nvSpPr>
        <p:spPr>
          <a:xfrm>
            <a:off x="6309360" y="1874520"/>
            <a:ext cx="868680" cy="868680"/>
          </a:xfrm>
          <a:prstGeom prst="ellipse">
            <a:avLst/>
          </a:prstGeom>
          <a:solidFill>
            <a:srgbClr val="0E1C36"/>
          </a:solidFill>
          <a:ln w="12700">
            <a:solidFill>
              <a:srgbClr val="0E1C36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pic>
        <p:nvPicPr>
          <p:cNvPr id="3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37960" y="2103120"/>
            <a:ext cx="411480" cy="411480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6217920" y="29260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2000" b="1" noProof="0" dirty="0">
                <a:solidFill>
                  <a:srgbClr val="1A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Démarrer</a:t>
            </a:r>
            <a:endParaRPr lang="fr-FR" sz="2000" noProof="0" dirty="0"/>
          </a:p>
        </p:txBody>
      </p:sp>
      <p:sp>
        <p:nvSpPr>
          <p:cNvPr id="32" name="Text 26"/>
          <p:cNvSpPr/>
          <p:nvPr/>
        </p:nvSpPr>
        <p:spPr>
          <a:xfrm>
            <a:off x="6217920" y="329184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700" b="1" i="1" noProof="0" dirty="0">
                <a:solidFill>
                  <a:srgbClr val="F3A3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préparation</a:t>
            </a:r>
            <a:endParaRPr lang="fr-FR" sz="1700" noProof="0" dirty="0"/>
          </a:p>
        </p:txBody>
      </p:sp>
      <p:sp>
        <p:nvSpPr>
          <p:cNvPr id="33" name="Text 27"/>
          <p:cNvSpPr/>
          <p:nvPr/>
        </p:nvSpPr>
        <p:spPr>
          <a:xfrm>
            <a:off x="6217920" y="37947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100" noProof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Chariot terminé → lancer la tournée.</a:t>
            </a:r>
            <a:endParaRPr lang="fr-FR" sz="1100" noProof="0" dirty="0"/>
          </a:p>
        </p:txBody>
      </p:sp>
      <p:sp>
        <p:nvSpPr>
          <p:cNvPr id="34" name="Text 28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200" i="1" noProof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Chariot monté juste  •  tournée qui roule</a:t>
            </a:r>
            <a:endParaRPr lang="fr-FR" sz="1200" noProof="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E1C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100" b="1" kern="0" spc="400" noProof="0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 E S   R I S Q U E S   R É E L S</a:t>
            </a:r>
            <a:endParaRPr lang="fr-FR" sz="1100" noProof="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2600" b="1" noProof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 qui arrive si l'affectation ou le montage est bâclé</a:t>
            </a:r>
            <a:endParaRPr lang="fr-FR" sz="2600" noProof="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457200" cy="36576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5" name="Shape 3"/>
          <p:cNvSpPr/>
          <p:nvPr/>
        </p:nvSpPr>
        <p:spPr>
          <a:xfrm>
            <a:off x="411480" y="1920240"/>
            <a:ext cx="2651760" cy="54864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6" name="Shape 4"/>
          <p:cNvSpPr/>
          <p:nvPr/>
        </p:nvSpPr>
        <p:spPr>
          <a:xfrm>
            <a:off x="411480" y="1975104"/>
            <a:ext cx="2651760" cy="2596896"/>
          </a:xfrm>
          <a:prstGeom prst="rect">
            <a:avLst/>
          </a:prstGeom>
          <a:solidFill>
            <a:srgbClr val="1E2D4F"/>
          </a:solidFill>
          <a:ln w="12700">
            <a:solidFill>
              <a:srgbClr val="1E2D4F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194560"/>
            <a:ext cx="384048" cy="3840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26974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2200" b="1" noProof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Mauvais</a:t>
            </a:r>
            <a:endParaRPr lang="fr-FR" sz="2200" noProof="0" dirty="0"/>
          </a:p>
        </p:txBody>
      </p:sp>
      <p:sp>
        <p:nvSpPr>
          <p:cNvPr id="9" name="Text 6"/>
          <p:cNvSpPr/>
          <p:nvPr/>
        </p:nvSpPr>
        <p:spPr>
          <a:xfrm>
            <a:off x="640080" y="31089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200" i="1" noProof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suivi d'activité</a:t>
            </a:r>
            <a:endParaRPr lang="fr-FR" sz="1200" noProof="0" dirty="0"/>
          </a:p>
        </p:txBody>
      </p:sp>
      <p:sp>
        <p:nvSpPr>
          <p:cNvPr id="10" name="Text 7"/>
          <p:cNvSpPr/>
          <p:nvPr/>
        </p:nvSpPr>
        <p:spPr>
          <a:xfrm>
            <a:off x="640080" y="352044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100" noProof="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Oubli d'affectation au poste info.</a:t>
            </a:r>
            <a:endParaRPr lang="fr-FR" sz="1100" noProof="0" dirty="0"/>
          </a:p>
        </p:txBody>
      </p:sp>
      <p:sp>
        <p:nvSpPr>
          <p:cNvPr id="11" name="Shape 8"/>
          <p:cNvSpPr/>
          <p:nvPr/>
        </p:nvSpPr>
        <p:spPr>
          <a:xfrm>
            <a:off x="640080" y="4114800"/>
            <a:ext cx="2194560" cy="0"/>
          </a:xfrm>
          <a:prstGeom prst="line">
            <a:avLst/>
          </a:prstGeom>
          <a:noFill/>
          <a:ln w="9525">
            <a:solidFill>
              <a:srgbClr val="3A4A6E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2" name="Text 9"/>
          <p:cNvSpPr/>
          <p:nvPr/>
        </p:nvSpPr>
        <p:spPr>
          <a:xfrm>
            <a:off x="640080" y="41605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100" b="1" noProof="0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r>
              <a:rPr lang="fr-FR" sz="1100" b="1" noProof="0" dirty="0" err="1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</a:t>
            </a:r>
            <a:r>
              <a:rPr lang="fr-FR" sz="1100" b="1" noProof="0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faussé</a:t>
            </a:r>
            <a:endParaRPr lang="fr-FR" sz="1100" noProof="0" dirty="0"/>
          </a:p>
        </p:txBody>
      </p:sp>
      <p:sp>
        <p:nvSpPr>
          <p:cNvPr id="13" name="Shape 10"/>
          <p:cNvSpPr/>
          <p:nvPr/>
        </p:nvSpPr>
        <p:spPr>
          <a:xfrm>
            <a:off x="3246120" y="1920240"/>
            <a:ext cx="2651760" cy="54864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4" name="Shape 11"/>
          <p:cNvSpPr/>
          <p:nvPr/>
        </p:nvSpPr>
        <p:spPr>
          <a:xfrm>
            <a:off x="3246120" y="1975104"/>
            <a:ext cx="2651760" cy="2596896"/>
          </a:xfrm>
          <a:prstGeom prst="rect">
            <a:avLst/>
          </a:prstGeom>
          <a:solidFill>
            <a:srgbClr val="1E2D4F"/>
          </a:solidFill>
          <a:ln w="12700">
            <a:solidFill>
              <a:srgbClr val="1E2D4F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0" y="2194560"/>
            <a:ext cx="384048" cy="384048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474720" y="26974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2200" b="1" noProof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Mauvais</a:t>
            </a:r>
            <a:endParaRPr lang="fr-FR" sz="2200" noProof="0" dirty="0"/>
          </a:p>
        </p:txBody>
      </p:sp>
      <p:sp>
        <p:nvSpPr>
          <p:cNvPr id="17" name="Text 13"/>
          <p:cNvSpPr/>
          <p:nvPr/>
        </p:nvSpPr>
        <p:spPr>
          <a:xfrm>
            <a:off x="3474720" y="31089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200" i="1" noProof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destinataire</a:t>
            </a:r>
            <a:endParaRPr lang="fr-FR" sz="1200" noProof="0" dirty="0"/>
          </a:p>
        </p:txBody>
      </p:sp>
      <p:sp>
        <p:nvSpPr>
          <p:cNvPr id="18" name="Text 14"/>
          <p:cNvSpPr/>
          <p:nvPr/>
        </p:nvSpPr>
        <p:spPr>
          <a:xfrm>
            <a:off x="3474720" y="352044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100" noProof="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entre bacs agences et cartons client.</a:t>
            </a:r>
            <a:endParaRPr lang="fr-FR" sz="1100" noProof="0" dirty="0"/>
          </a:p>
        </p:txBody>
      </p:sp>
      <p:sp>
        <p:nvSpPr>
          <p:cNvPr id="19" name="Shape 15"/>
          <p:cNvSpPr/>
          <p:nvPr/>
        </p:nvSpPr>
        <p:spPr>
          <a:xfrm>
            <a:off x="3474720" y="4114800"/>
            <a:ext cx="2194560" cy="0"/>
          </a:xfrm>
          <a:prstGeom prst="line">
            <a:avLst/>
          </a:prstGeom>
          <a:noFill/>
          <a:ln w="9525">
            <a:solidFill>
              <a:srgbClr val="3A4A6E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20" name="Text 16"/>
          <p:cNvSpPr/>
          <p:nvPr/>
        </p:nvSpPr>
        <p:spPr>
          <a:xfrm>
            <a:off x="3474720" y="41605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100" b="1" noProof="0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Livraison erronée</a:t>
            </a:r>
            <a:endParaRPr lang="fr-FR" sz="1100" noProof="0" dirty="0"/>
          </a:p>
        </p:txBody>
      </p:sp>
      <p:sp>
        <p:nvSpPr>
          <p:cNvPr id="21" name="Shape 17"/>
          <p:cNvSpPr/>
          <p:nvPr/>
        </p:nvSpPr>
        <p:spPr>
          <a:xfrm>
            <a:off x="6080760" y="1920240"/>
            <a:ext cx="2651760" cy="54864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22" name="Shape 18"/>
          <p:cNvSpPr/>
          <p:nvPr/>
        </p:nvSpPr>
        <p:spPr>
          <a:xfrm>
            <a:off x="6080760" y="1975104"/>
            <a:ext cx="2651760" cy="2596896"/>
          </a:xfrm>
          <a:prstGeom prst="rect">
            <a:avLst/>
          </a:prstGeom>
          <a:solidFill>
            <a:srgbClr val="1E2D4F"/>
          </a:solidFill>
          <a:ln w="12700">
            <a:solidFill>
              <a:srgbClr val="1E2D4F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2194560"/>
            <a:ext cx="384048" cy="384048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6309360" y="26974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2200" b="1" noProof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Erreur</a:t>
            </a:r>
            <a:endParaRPr lang="fr-FR" sz="2200" noProof="0" dirty="0"/>
          </a:p>
        </p:txBody>
      </p:sp>
      <p:sp>
        <p:nvSpPr>
          <p:cNvPr id="25" name="Text 20"/>
          <p:cNvSpPr/>
          <p:nvPr/>
        </p:nvSpPr>
        <p:spPr>
          <a:xfrm>
            <a:off x="6309360" y="31089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200" i="1" noProof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cascade</a:t>
            </a:r>
            <a:endParaRPr lang="fr-FR" sz="1200" noProof="0" dirty="0"/>
          </a:p>
        </p:txBody>
      </p:sp>
      <p:sp>
        <p:nvSpPr>
          <p:cNvPr id="26" name="Text 21"/>
          <p:cNvSpPr/>
          <p:nvPr/>
        </p:nvSpPr>
        <p:spPr>
          <a:xfrm>
            <a:off x="6309360" y="352044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100" noProof="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Mauvais n° de contenant au montage du chariot.</a:t>
            </a:r>
            <a:endParaRPr lang="fr-FR" sz="1100" noProof="0" dirty="0"/>
          </a:p>
        </p:txBody>
      </p:sp>
      <p:sp>
        <p:nvSpPr>
          <p:cNvPr id="27" name="Shape 22"/>
          <p:cNvSpPr/>
          <p:nvPr/>
        </p:nvSpPr>
        <p:spPr>
          <a:xfrm>
            <a:off x="6309360" y="4114800"/>
            <a:ext cx="2194560" cy="0"/>
          </a:xfrm>
          <a:prstGeom prst="line">
            <a:avLst/>
          </a:prstGeom>
          <a:noFill/>
          <a:ln w="9525">
            <a:solidFill>
              <a:srgbClr val="3A4A6E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28" name="Text 23"/>
          <p:cNvSpPr/>
          <p:nvPr/>
        </p:nvSpPr>
        <p:spPr>
          <a:xfrm>
            <a:off x="6309360" y="41605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100" b="1" noProof="0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Colis non correspondants</a:t>
            </a:r>
            <a:endParaRPr lang="fr-FR" sz="1100" noProof="0" dirty="0"/>
          </a:p>
        </p:txBody>
      </p:sp>
      <p:sp>
        <p:nvSpPr>
          <p:cNvPr id="29" name="Text 24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200" i="1" noProof="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affectation propre et un chariot bien monté sécurisent toute la tournée.</a:t>
            </a:r>
            <a:endParaRPr lang="fr-FR" sz="1200" noProof="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731520" cy="731520"/>
          </a:xfrm>
          <a:prstGeom prst="ellipse">
            <a:avLst/>
          </a:prstGeom>
          <a:solidFill>
            <a:srgbClr val="0E1C36"/>
          </a:solidFill>
          <a:ln w="19050">
            <a:solidFill>
              <a:srgbClr val="F3A31A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594360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1148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2600" b="1" noProof="0" dirty="0">
                <a:solidFill>
                  <a:srgbClr val="1A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Checklist &amp; responsabilités</a:t>
            </a:r>
            <a:endParaRPr lang="fr-FR" sz="2600" noProof="0" dirty="0"/>
          </a:p>
        </p:txBody>
      </p:sp>
      <p:sp>
        <p:nvSpPr>
          <p:cNvPr id="5" name="Text 2"/>
          <p:cNvSpPr/>
          <p:nvPr/>
        </p:nvSpPr>
        <p:spPr>
          <a:xfrm>
            <a:off x="1371600" y="8686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200" i="1" noProof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 fait quoi, à chaque prise de tournée</a:t>
            </a:r>
            <a:endParaRPr lang="fr-FR" sz="1200" noProof="0" dirty="0"/>
          </a:p>
        </p:txBody>
      </p:sp>
      <p:sp>
        <p:nvSpPr>
          <p:cNvPr id="6" name="Shape 3"/>
          <p:cNvSpPr/>
          <p:nvPr/>
        </p:nvSpPr>
        <p:spPr>
          <a:xfrm>
            <a:off x="457200" y="1463040"/>
            <a:ext cx="429768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7" name="Shape 4"/>
          <p:cNvSpPr/>
          <p:nvPr/>
        </p:nvSpPr>
        <p:spPr>
          <a:xfrm>
            <a:off x="457200" y="1463040"/>
            <a:ext cx="4297680" cy="502920"/>
          </a:xfrm>
          <a:prstGeom prst="rect">
            <a:avLst/>
          </a:prstGeom>
          <a:solidFill>
            <a:srgbClr val="0E1C36"/>
          </a:solidFill>
          <a:ln w="12700">
            <a:solidFill>
              <a:srgbClr val="0E1C36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1600200"/>
            <a:ext cx="237744" cy="23774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60120" y="146304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300" b="1" kern="0" spc="5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 A   C H E C K L I S T</a:t>
            </a:r>
            <a:endParaRPr lang="fr-FR" sz="1300" noProof="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2170938"/>
            <a:ext cx="237744" cy="237744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097280" y="2103120"/>
            <a:ext cx="3474720" cy="373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200" noProof="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Affectation saisie dans le système</a:t>
            </a:r>
            <a:endParaRPr lang="fr-FR" sz="1200" noProof="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2544318"/>
            <a:ext cx="237744" cy="237744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097280" y="2476500"/>
            <a:ext cx="3474720" cy="373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200" noProof="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barre tournée scanné</a:t>
            </a:r>
            <a:endParaRPr lang="fr-FR" sz="1200" noProof="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2917698"/>
            <a:ext cx="237744" cy="237744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1097280" y="2849880"/>
            <a:ext cx="3474720" cy="373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200" noProof="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Affectation + Code opérateur</a:t>
            </a:r>
            <a:endParaRPr lang="fr-FR" sz="1200" noProof="0" dirty="0"/>
          </a:p>
        </p:txBody>
      </p:sp>
      <p:pic>
        <p:nvPicPr>
          <p:cNvPr id="16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3291078"/>
            <a:ext cx="237744" cy="237744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1097280" y="3223260"/>
            <a:ext cx="3474720" cy="373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200" noProof="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Commande à l'état « En cours » vérifiée</a:t>
            </a:r>
            <a:endParaRPr lang="fr-FR" sz="1200" noProof="0" dirty="0"/>
          </a:p>
        </p:txBody>
      </p:sp>
      <p:pic>
        <p:nvPicPr>
          <p:cNvPr id="18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3664458"/>
            <a:ext cx="237744" cy="237744"/>
          </a:xfrm>
          <a:prstGeom prst="rect">
            <a:avLst/>
          </a:prstGeom>
        </p:spPr>
      </p:pic>
      <p:sp>
        <p:nvSpPr>
          <p:cNvPr id="19" name="Text 10"/>
          <p:cNvSpPr/>
          <p:nvPr/>
        </p:nvSpPr>
        <p:spPr>
          <a:xfrm>
            <a:off x="1097280" y="3596640"/>
            <a:ext cx="3474720" cy="373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200" noProof="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Contenants conformes à l'étiquette (bac/carton)</a:t>
            </a:r>
            <a:endParaRPr lang="fr-FR" sz="1200" noProof="0" dirty="0"/>
          </a:p>
        </p:txBody>
      </p:sp>
      <p:pic>
        <p:nvPicPr>
          <p:cNvPr id="20" name="Image 7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4037838"/>
            <a:ext cx="237744" cy="237744"/>
          </a:xfrm>
          <a:prstGeom prst="rect">
            <a:avLst/>
          </a:prstGeom>
        </p:spPr>
      </p:pic>
      <p:sp>
        <p:nvSpPr>
          <p:cNvPr id="21" name="Text 11"/>
          <p:cNvSpPr/>
          <p:nvPr/>
        </p:nvSpPr>
        <p:spPr>
          <a:xfrm>
            <a:off x="1097280" y="3970020"/>
            <a:ext cx="3474720" cy="373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200" noProof="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Chariot monté avec les bons n° de colis</a:t>
            </a:r>
            <a:endParaRPr lang="fr-FR" sz="1200" noProof="0" dirty="0"/>
          </a:p>
        </p:txBody>
      </p:sp>
      <p:sp>
        <p:nvSpPr>
          <p:cNvPr id="22" name="Shape 12"/>
          <p:cNvSpPr/>
          <p:nvPr/>
        </p:nvSpPr>
        <p:spPr>
          <a:xfrm>
            <a:off x="4937760" y="1463040"/>
            <a:ext cx="91440" cy="932688"/>
          </a:xfrm>
          <a:prstGeom prst="rect">
            <a:avLst/>
          </a:prstGeom>
          <a:solidFill>
            <a:srgbClr val="F3A31A"/>
          </a:solidFill>
          <a:ln w="12700">
            <a:solidFill>
              <a:srgbClr val="F3A31A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23" name="Shape 13"/>
          <p:cNvSpPr/>
          <p:nvPr/>
        </p:nvSpPr>
        <p:spPr>
          <a:xfrm>
            <a:off x="5029200" y="1463040"/>
            <a:ext cx="3657600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24" name="Text 14"/>
          <p:cNvSpPr/>
          <p:nvPr/>
        </p:nvSpPr>
        <p:spPr>
          <a:xfrm>
            <a:off x="5212080" y="155448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350" b="1" noProof="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Opérateur</a:t>
            </a:r>
            <a:endParaRPr lang="fr-FR" sz="1350" noProof="0" dirty="0"/>
          </a:p>
        </p:txBody>
      </p:sp>
      <p:sp>
        <p:nvSpPr>
          <p:cNvPr id="25" name="Text 15"/>
          <p:cNvSpPr/>
          <p:nvPr/>
        </p:nvSpPr>
        <p:spPr>
          <a:xfrm>
            <a:off x="5212080" y="1847088"/>
            <a:ext cx="3383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fr-FR" sz="1050" noProof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S'affecte. Monte le chariot. Vérifie. Démarre.</a:t>
            </a:r>
            <a:endParaRPr lang="fr-FR" sz="1050" noProof="0" dirty="0"/>
          </a:p>
        </p:txBody>
      </p:sp>
      <p:sp>
        <p:nvSpPr>
          <p:cNvPr id="26" name="Shape 16"/>
          <p:cNvSpPr/>
          <p:nvPr/>
        </p:nvSpPr>
        <p:spPr>
          <a:xfrm>
            <a:off x="4937760" y="2505456"/>
            <a:ext cx="91440" cy="932688"/>
          </a:xfrm>
          <a:prstGeom prst="rect">
            <a:avLst/>
          </a:prstGeom>
          <a:solidFill>
            <a:srgbClr val="F3A31A"/>
          </a:solidFill>
          <a:ln w="12700">
            <a:solidFill>
              <a:srgbClr val="F3A31A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27" name="Shape 17"/>
          <p:cNvSpPr/>
          <p:nvPr/>
        </p:nvSpPr>
        <p:spPr>
          <a:xfrm>
            <a:off x="5029200" y="2505456"/>
            <a:ext cx="3657600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28" name="Text 18"/>
          <p:cNvSpPr/>
          <p:nvPr/>
        </p:nvSpPr>
        <p:spPr>
          <a:xfrm>
            <a:off x="5212080" y="2596896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350" b="1" noProof="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Pilotes &amp; Superviseur</a:t>
            </a:r>
            <a:endParaRPr lang="fr-FR" sz="1350" noProof="0" dirty="0"/>
          </a:p>
        </p:txBody>
      </p:sp>
      <p:sp>
        <p:nvSpPr>
          <p:cNvPr id="29" name="Text 19"/>
          <p:cNvSpPr/>
          <p:nvPr/>
        </p:nvSpPr>
        <p:spPr>
          <a:xfrm>
            <a:off x="5212080" y="2889504"/>
            <a:ext cx="3383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fr-FR" sz="1050" noProof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Contrôlent les affectations. Forment au montage.</a:t>
            </a:r>
            <a:endParaRPr lang="fr-FR" sz="1050" noProof="0" dirty="0"/>
          </a:p>
        </p:txBody>
      </p:sp>
      <p:sp>
        <p:nvSpPr>
          <p:cNvPr id="30" name="Shape 20"/>
          <p:cNvSpPr/>
          <p:nvPr/>
        </p:nvSpPr>
        <p:spPr>
          <a:xfrm>
            <a:off x="4937760" y="3547872"/>
            <a:ext cx="91440" cy="932688"/>
          </a:xfrm>
          <a:prstGeom prst="rect">
            <a:avLst/>
          </a:prstGeom>
          <a:solidFill>
            <a:srgbClr val="F3A31A"/>
          </a:solidFill>
          <a:ln w="12700">
            <a:solidFill>
              <a:srgbClr val="F3A31A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31" name="Shape 21"/>
          <p:cNvSpPr/>
          <p:nvPr/>
        </p:nvSpPr>
        <p:spPr>
          <a:xfrm>
            <a:off x="5029200" y="3547872"/>
            <a:ext cx="3657600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32" name="Text 22"/>
          <p:cNvSpPr/>
          <p:nvPr/>
        </p:nvSpPr>
        <p:spPr>
          <a:xfrm>
            <a:off x="5212080" y="3639312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350" b="1" noProof="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Resp. exploitation</a:t>
            </a:r>
            <a:endParaRPr lang="fr-FR" sz="1350" noProof="0" dirty="0"/>
          </a:p>
        </p:txBody>
      </p:sp>
      <p:sp>
        <p:nvSpPr>
          <p:cNvPr id="33" name="Text 23"/>
          <p:cNvSpPr/>
          <p:nvPr/>
        </p:nvSpPr>
        <p:spPr>
          <a:xfrm>
            <a:off x="5212080" y="3931920"/>
            <a:ext cx="3383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fr-FR" sz="1050" noProof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Pilote le taux d'affectation. Analyse les erreurs.</a:t>
            </a:r>
            <a:endParaRPr lang="fr-FR" sz="1050" noProof="0" dirty="0"/>
          </a:p>
        </p:txBody>
      </p:sp>
      <p:sp>
        <p:nvSpPr>
          <p:cNvPr id="34" name="Text 24"/>
          <p:cNvSpPr/>
          <p:nvPr/>
        </p:nvSpPr>
        <p:spPr>
          <a:xfrm>
            <a:off x="0" y="47548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900" kern="0" spc="300" noProof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T D - P </a:t>
            </a:r>
            <a:r>
              <a:rPr lang="fr-FR" sz="900" kern="0" spc="300" noProof="0" dirty="0" err="1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r>
              <a:rPr lang="fr-FR" sz="900" kern="0" spc="300" noProof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P3      •      Affectation &amp; montage      •      C L R   C h a m p i g n e u l </a:t>
            </a:r>
            <a:r>
              <a:rPr lang="fr-FR" sz="900" kern="0" spc="300" noProof="0" dirty="0" err="1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</a:t>
            </a:r>
            <a:r>
              <a:rPr lang="fr-FR" sz="900" kern="0" spc="300" noProof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s</a:t>
            </a:r>
            <a:endParaRPr lang="fr-FR" sz="900" noProof="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E1C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154680" y="640080"/>
            <a:ext cx="2834640" cy="2834640"/>
          </a:xfrm>
          <a:prstGeom prst="ellipse">
            <a:avLst/>
          </a:prstGeom>
          <a:solidFill>
            <a:srgbClr val="1E2D4F"/>
          </a:solidFill>
          <a:ln w="25400">
            <a:solidFill>
              <a:srgbClr val="F3A31A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9080" y="1554480"/>
            <a:ext cx="1005840" cy="10058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3703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3000" b="1" noProof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Bien s'affecter,</a:t>
            </a:r>
            <a:endParaRPr lang="fr-FR" sz="3000" noProof="0" dirty="0"/>
          </a:p>
        </p:txBody>
      </p:sp>
      <p:sp>
        <p:nvSpPr>
          <p:cNvPr id="5" name="Text 2"/>
          <p:cNvSpPr/>
          <p:nvPr/>
        </p:nvSpPr>
        <p:spPr>
          <a:xfrm>
            <a:off x="457200" y="4206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3000" b="1" i="1" noProof="0" dirty="0">
                <a:solidFill>
                  <a:srgbClr val="F3A3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bien monter.</a:t>
            </a:r>
            <a:endParaRPr lang="fr-FR" sz="3000" noProof="0" dirty="0"/>
          </a:p>
        </p:txBody>
      </p:sp>
      <p:sp>
        <p:nvSpPr>
          <p:cNvPr id="6" name="Text 3"/>
          <p:cNvSpPr/>
          <p:nvPr/>
        </p:nvSpPr>
        <p:spPr>
          <a:xfrm>
            <a:off x="0" y="480060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000" kern="0" spc="300" noProof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T A N D A R D   P3      •      AFFECTATION &amp; MONTAGE      •      R E X E L   C L R   C H A M P I G N E U L </a:t>
            </a:r>
            <a:r>
              <a:rPr lang="fr-FR" sz="1000" kern="0" spc="300" noProof="0" dirty="0" err="1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</a:t>
            </a:r>
            <a:r>
              <a:rPr lang="fr-FR" sz="1000" kern="0" spc="300" noProof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S</a:t>
            </a:r>
            <a:endParaRPr lang="fr-FR" sz="1000" noProof="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525</Words>
  <Application>Microsoft Office PowerPoint</Application>
  <PresentationFormat>Affichage à l'écran (16:9)</PresentationFormat>
  <Paragraphs>106</Paragraphs>
  <Slides>8</Slides>
  <Notes>8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12" baseType="lpstr">
      <vt:lpstr>Arial</vt:lpstr>
      <vt:lpstr>Calibri</vt:lpstr>
      <vt:lpstr>Georgia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STD-PP-P3 — Affectation &amp; montage chariot</dc:title>
  <dc:subject>PptxGenJS Presentation</dc:subject>
  <dc:creator>Greg — Rexel CLR Champigneulles</dc:creator>
  <cp:lastModifiedBy>Georges, Charlene</cp:lastModifiedBy>
  <cp:revision>3</cp:revision>
  <dcterms:created xsi:type="dcterms:W3CDTF">2026-04-21T21:04:02Z</dcterms:created>
  <dcterms:modified xsi:type="dcterms:W3CDTF">2026-06-03T14:46:47Z</dcterms:modified>
</cp:coreProperties>
</file>