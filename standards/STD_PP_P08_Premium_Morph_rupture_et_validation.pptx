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8739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813816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8503920" y="365760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926080" cy="292608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2880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0" y="457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00" b="1" kern="0" spc="6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REXEL FRANCE  •  CLR CHAMPIGNEULLES</a:t>
            </a:r>
            <a:endParaRPr lang="fr-FR" sz="1000" noProof="0" dirty="0"/>
          </a:p>
        </p:txBody>
      </p:sp>
      <p:sp>
        <p:nvSpPr>
          <p:cNvPr id="8" name="Shape 5"/>
          <p:cNvSpPr/>
          <p:nvPr/>
        </p:nvSpPr>
        <p:spPr>
          <a:xfrm>
            <a:off x="3931920" y="1005840"/>
            <a:ext cx="16002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3931920" y="1005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kern="0" spc="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P8</a:t>
            </a:r>
            <a:endParaRPr lang="fr-FR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3931920" y="1417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60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Ruptures</a:t>
            </a:r>
            <a:endParaRPr lang="fr-FR" sz="6000" noProof="0" dirty="0"/>
          </a:p>
        </p:txBody>
      </p:sp>
      <p:sp>
        <p:nvSpPr>
          <p:cNvPr id="11" name="Text 8"/>
          <p:cNvSpPr/>
          <p:nvPr/>
        </p:nvSpPr>
        <p:spPr>
          <a:xfrm>
            <a:off x="3931920" y="21488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60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validation.</a:t>
            </a:r>
            <a:endParaRPr lang="fr-FR" sz="6000" noProof="0" dirty="0"/>
          </a:p>
        </p:txBody>
      </p:sp>
      <p:sp>
        <p:nvSpPr>
          <p:cNvPr id="12" name="Text 9"/>
          <p:cNvSpPr/>
          <p:nvPr/>
        </p:nvSpPr>
        <p:spPr>
          <a:xfrm>
            <a:off x="3931920" y="3063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rupture saisie = un colis conforme.</a:t>
            </a:r>
            <a:endParaRPr lang="fr-FR" sz="1500" noProof="0" dirty="0"/>
          </a:p>
        </p:txBody>
      </p:sp>
      <p:sp>
        <p:nvSpPr>
          <p:cNvPr id="13" name="Shape 10"/>
          <p:cNvSpPr/>
          <p:nvPr/>
        </p:nvSpPr>
        <p:spPr>
          <a:xfrm>
            <a:off x="3931920" y="3657600"/>
            <a:ext cx="54864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1"/>
          <p:cNvSpPr/>
          <p:nvPr/>
        </p:nvSpPr>
        <p:spPr>
          <a:xfrm>
            <a:off x="3931920" y="3840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kern="0" spc="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STD-PP-P8   •   Mars 2026   •   Formation opérateur</a:t>
            </a:r>
            <a:endParaRPr lang="fr-FR" sz="1000" noProof="0" dirty="0"/>
          </a:p>
        </p:txBody>
      </p:sp>
      <p:sp>
        <p:nvSpPr>
          <p:cNvPr id="15" name="Text 1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kern="0" spc="300" noProof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—  Document contrôlé  —  Usage interne</a:t>
            </a:r>
            <a:endParaRPr lang="fr-FR" sz="850" noProof="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274320"/>
            <a:ext cx="3108960" cy="310896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09728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Pensez à faire</a:t>
            </a:r>
            <a:endParaRPr lang="fr-FR" sz="3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8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ruptures. »</a:t>
            </a:r>
            <a:endParaRPr lang="fr-FR" sz="38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kern="0" spc="8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&amp; valider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Motif, code opérateur, F5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128016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20116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fr-FR" sz="1800" noProof="0" dirty="0"/>
          </a:p>
        </p:txBody>
      </p:sp>
      <p:sp>
        <p:nvSpPr>
          <p:cNvPr id="13" name="Text 9"/>
          <p:cNvSpPr/>
          <p:nvPr/>
        </p:nvSpPr>
        <p:spPr>
          <a:xfrm>
            <a:off x="68580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L’étiquette de tournée</a:t>
            </a:r>
            <a:endParaRPr lang="fr-FR" sz="1100" noProof="0" dirty="0"/>
          </a:p>
        </p:txBody>
      </p:sp>
      <p:sp>
        <p:nvSpPr>
          <p:cNvPr id="14" name="Shape 10"/>
          <p:cNvSpPr/>
          <p:nvPr/>
        </p:nvSpPr>
        <p:spPr>
          <a:xfrm>
            <a:off x="329184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1"/>
          <p:cNvSpPr/>
          <p:nvPr/>
        </p:nvSpPr>
        <p:spPr>
          <a:xfrm>
            <a:off x="329184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406908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0116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7472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</a:t>
            </a:r>
            <a:endParaRPr lang="fr-FR" sz="1800" noProof="0" dirty="0"/>
          </a:p>
        </p:txBody>
      </p:sp>
      <p:sp>
        <p:nvSpPr>
          <p:cNvPr id="19" name="Text 14"/>
          <p:cNvSpPr/>
          <p:nvPr/>
        </p:nvSpPr>
        <p:spPr>
          <a:xfrm>
            <a:off x="347472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F5+code opérateur</a:t>
            </a:r>
            <a:endParaRPr lang="fr-FR" sz="1100" noProof="0" dirty="0"/>
          </a:p>
        </p:txBody>
      </p:sp>
      <p:sp>
        <p:nvSpPr>
          <p:cNvPr id="20" name="Shape 15"/>
          <p:cNvSpPr/>
          <p:nvPr/>
        </p:nvSpPr>
        <p:spPr>
          <a:xfrm>
            <a:off x="6080760" y="1417320"/>
            <a:ext cx="25603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6"/>
          <p:cNvSpPr/>
          <p:nvPr/>
        </p:nvSpPr>
        <p:spPr>
          <a:xfrm>
            <a:off x="6080760" y="141732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7"/>
          <p:cNvSpPr/>
          <p:nvPr/>
        </p:nvSpPr>
        <p:spPr>
          <a:xfrm>
            <a:off x="6858000" y="1783080"/>
            <a:ext cx="1005840" cy="100584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01168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6364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</a:t>
            </a:r>
            <a:endParaRPr lang="fr-FR" sz="1800" noProof="0" dirty="0"/>
          </a:p>
        </p:txBody>
      </p:sp>
      <p:sp>
        <p:nvSpPr>
          <p:cNvPr id="25" name="Text 19"/>
          <p:cNvSpPr/>
          <p:nvPr/>
        </p:nvSpPr>
        <p:spPr>
          <a:xfrm>
            <a:off x="626364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 réelle</a:t>
            </a:r>
            <a:endParaRPr lang="fr-FR" sz="1100" noProof="0" dirty="0"/>
          </a:p>
          <a:p>
            <a:pPr marL="0" indent="0" algn="ctr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motif</a:t>
            </a:r>
            <a:endParaRPr lang="fr-FR" sz="1100" noProof="0" dirty="0"/>
          </a:p>
        </p:txBody>
      </p:sp>
      <p:sp>
        <p:nvSpPr>
          <p:cNvPr id="26" name="Shape 20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54456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43000" y="4434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Voir Pilote avant toute rupture.   </a:t>
            </a:r>
            <a:endParaRPr lang="fr-FR" sz="1300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&amp; interdits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chaque rupture, choisir le bon motif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1417320"/>
            <a:ext cx="73152" cy="2926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fr-FR" sz="1300" noProof="0" dirty="0"/>
          </a:p>
        </p:txBody>
      </p:sp>
      <p:sp>
        <p:nvSpPr>
          <p:cNvPr id="12" name="Shape 8"/>
          <p:cNvSpPr/>
          <p:nvPr/>
        </p:nvSpPr>
        <p:spPr>
          <a:xfrm>
            <a:off x="777240" y="21031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9"/>
          <p:cNvSpPr/>
          <p:nvPr/>
        </p:nvSpPr>
        <p:spPr>
          <a:xfrm>
            <a:off x="777240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000" noProof="0" dirty="0"/>
          </a:p>
        </p:txBody>
      </p:sp>
      <p:sp>
        <p:nvSpPr>
          <p:cNvPr id="14" name="Text 10"/>
          <p:cNvSpPr/>
          <p:nvPr/>
        </p:nvSpPr>
        <p:spPr>
          <a:xfrm>
            <a:off x="114300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saisir la quantité réelle dans « Réel »</a:t>
            </a:r>
            <a:endParaRPr lang="fr-FR" sz="1300" noProof="0" dirty="0"/>
          </a:p>
        </p:txBody>
      </p:sp>
      <p:sp>
        <p:nvSpPr>
          <p:cNvPr id="15" name="Shape 11"/>
          <p:cNvSpPr/>
          <p:nvPr/>
        </p:nvSpPr>
        <p:spPr>
          <a:xfrm>
            <a:off x="777240" y="27889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2"/>
          <p:cNvSpPr/>
          <p:nvPr/>
        </p:nvSpPr>
        <p:spPr>
          <a:xfrm>
            <a:off x="777240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000" noProof="0" dirty="0"/>
          </a:p>
        </p:txBody>
      </p:sp>
      <p:sp>
        <p:nvSpPr>
          <p:cNvPr id="17" name="Text 13"/>
          <p:cNvSpPr/>
          <p:nvPr/>
        </p:nvSpPr>
        <p:spPr>
          <a:xfrm>
            <a:off x="1143000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cocher Manquant</a:t>
            </a:r>
            <a:endParaRPr lang="fr-FR" sz="1300" noProof="0" dirty="0"/>
          </a:p>
        </p:txBody>
      </p:sp>
      <p:sp>
        <p:nvSpPr>
          <p:cNvPr id="18" name="Shape 14"/>
          <p:cNvSpPr/>
          <p:nvPr/>
        </p:nvSpPr>
        <p:spPr>
          <a:xfrm>
            <a:off x="777240" y="34747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5"/>
          <p:cNvSpPr/>
          <p:nvPr/>
        </p:nvSpPr>
        <p:spPr>
          <a:xfrm>
            <a:off x="777240" y="3474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000" noProof="0" dirty="0"/>
          </a:p>
        </p:txBody>
      </p:sp>
      <p:sp>
        <p:nvSpPr>
          <p:cNvPr id="20" name="Text 16"/>
          <p:cNvSpPr/>
          <p:nvPr/>
        </p:nvSpPr>
        <p:spPr>
          <a:xfrm>
            <a:off x="1143000" y="34290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finaliser la commande si produit à aller chercher</a:t>
            </a:r>
            <a:endParaRPr lang="fr-FR" sz="1300" noProof="0" dirty="0"/>
          </a:p>
        </p:txBody>
      </p:sp>
      <p:sp>
        <p:nvSpPr>
          <p:cNvPr id="21" name="Shape 17"/>
          <p:cNvSpPr/>
          <p:nvPr/>
        </p:nvSpPr>
        <p:spPr>
          <a:xfrm>
            <a:off x="4617720" y="1417320"/>
            <a:ext cx="39776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4617720" y="1417320"/>
            <a:ext cx="73152" cy="29260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60020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120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kern="0" spc="400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fr-FR" sz="1300" noProof="0" dirty="0"/>
          </a:p>
        </p:txBody>
      </p:sp>
      <p:sp>
        <p:nvSpPr>
          <p:cNvPr id="25" name="Shape 20"/>
          <p:cNvSpPr/>
          <p:nvPr/>
        </p:nvSpPr>
        <p:spPr>
          <a:xfrm>
            <a:off x="4846320" y="21031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1"/>
          <p:cNvSpPr/>
          <p:nvPr/>
        </p:nvSpPr>
        <p:spPr>
          <a:xfrm>
            <a:off x="4846320" y="2084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27" name="Text 22"/>
          <p:cNvSpPr/>
          <p:nvPr/>
        </p:nvSpPr>
        <p:spPr>
          <a:xfrm>
            <a:off x="5212080" y="2057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 motif « Cassé/Incomplet/Réf »</a:t>
            </a:r>
            <a:endParaRPr lang="fr-FR" sz="1300" noProof="0" dirty="0"/>
          </a:p>
        </p:txBody>
      </p:sp>
      <p:sp>
        <p:nvSpPr>
          <p:cNvPr id="28" name="Shape 23"/>
          <p:cNvSpPr/>
          <p:nvPr/>
        </p:nvSpPr>
        <p:spPr>
          <a:xfrm>
            <a:off x="4846320" y="27889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4"/>
          <p:cNvSpPr/>
          <p:nvPr/>
        </p:nvSpPr>
        <p:spPr>
          <a:xfrm>
            <a:off x="4846320" y="27706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30" name="Text 25"/>
          <p:cNvSpPr/>
          <p:nvPr/>
        </p:nvSpPr>
        <p:spPr>
          <a:xfrm>
            <a:off x="5212080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une rupture en cours</a:t>
            </a:r>
            <a:endParaRPr lang="fr-FR" sz="1300" noProof="0" dirty="0"/>
          </a:p>
        </p:txBody>
      </p:sp>
      <p:sp>
        <p:nvSpPr>
          <p:cNvPr id="31" name="Shape 26"/>
          <p:cNvSpPr/>
          <p:nvPr/>
        </p:nvSpPr>
        <p:spPr>
          <a:xfrm>
            <a:off x="4846320" y="3474720"/>
            <a:ext cx="228600" cy="228600"/>
          </a:xfrm>
          <a:prstGeom prst="ellipse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27"/>
          <p:cNvSpPr/>
          <p:nvPr/>
        </p:nvSpPr>
        <p:spPr>
          <a:xfrm>
            <a:off x="4846320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fr-FR" sz="1100" noProof="0" dirty="0"/>
          </a:p>
        </p:txBody>
      </p:sp>
      <p:sp>
        <p:nvSpPr>
          <p:cNvPr id="33" name="Text 28"/>
          <p:cNvSpPr/>
          <p:nvPr/>
        </p:nvSpPr>
        <p:spPr>
          <a:xfrm>
            <a:off x="5212080" y="34290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sans saisir la quantité réelle</a:t>
            </a:r>
            <a:endParaRPr lang="fr-FR" sz="1300" noProof="0" dirty="0"/>
          </a:p>
        </p:txBody>
      </p:sp>
      <p:sp>
        <p:nvSpPr>
          <p:cNvPr id="34" name="Text 29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i="1" noProof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 saisie  =  colis conforme</a:t>
            </a:r>
            <a:endParaRPr lang="fr-FR" sz="15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étapes rupture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scan à la finalisation — chaîne complète</a:t>
            </a:r>
            <a:endParaRPr lang="fr-FR" sz="11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0" y="502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100" b="1" kern="0" spc="400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fr-FR" sz="1100" noProof="0" dirty="0"/>
          </a:p>
        </p:txBody>
      </p:sp>
      <p:sp>
        <p:nvSpPr>
          <p:cNvPr id="7" name="Shape 4"/>
          <p:cNvSpPr/>
          <p:nvPr/>
        </p:nvSpPr>
        <p:spPr>
          <a:xfrm>
            <a:off x="7772400" y="822960"/>
            <a:ext cx="9144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77724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233172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6000" noProof="0" dirty="0"/>
          </a:p>
        </p:txBody>
      </p:sp>
      <p:sp>
        <p:nvSpPr>
          <p:cNvPr id="10" name="Shape 7"/>
          <p:cNvSpPr/>
          <p:nvPr/>
        </p:nvSpPr>
        <p:spPr>
          <a:xfrm>
            <a:off x="105156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152" y="19019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fr-FR" sz="1900" noProof="0" dirty="0"/>
          </a:p>
        </p:txBody>
      </p:sp>
      <p:sp>
        <p:nvSpPr>
          <p:cNvPr id="13" name="Text 9"/>
          <p:cNvSpPr/>
          <p:nvPr/>
        </p:nvSpPr>
        <p:spPr>
          <a:xfrm>
            <a:off x="10515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tournée</a:t>
            </a:r>
            <a:endParaRPr lang="fr-FR" sz="1900" noProof="0" dirty="0"/>
          </a:p>
        </p:txBody>
      </p:sp>
      <p:sp>
        <p:nvSpPr>
          <p:cNvPr id="14" name="Shape 10"/>
          <p:cNvSpPr/>
          <p:nvPr/>
        </p:nvSpPr>
        <p:spPr>
          <a:xfrm>
            <a:off x="105156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1"/>
          <p:cNvSpPr/>
          <p:nvPr/>
        </p:nvSpPr>
        <p:spPr>
          <a:xfrm>
            <a:off x="105156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barre étiquette → écran Validation</a:t>
            </a:r>
            <a:endParaRPr lang="fr-FR" sz="1050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20" y="2697480"/>
            <a:ext cx="27432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38328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3"/>
          <p:cNvSpPr/>
          <p:nvPr/>
        </p:nvSpPr>
        <p:spPr>
          <a:xfrm>
            <a:off x="493776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6000" noProof="0" dirty="0"/>
          </a:p>
        </p:txBody>
      </p:sp>
      <p:sp>
        <p:nvSpPr>
          <p:cNvPr id="19" name="Shape 14"/>
          <p:cNvSpPr/>
          <p:nvPr/>
        </p:nvSpPr>
        <p:spPr>
          <a:xfrm>
            <a:off x="365760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2" y="190195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65760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</a:t>
            </a:r>
            <a:endParaRPr lang="fr-FR" sz="1900" noProof="0" dirty="0"/>
          </a:p>
        </p:txBody>
      </p:sp>
      <p:sp>
        <p:nvSpPr>
          <p:cNvPr id="22" name="Text 16"/>
          <p:cNvSpPr/>
          <p:nvPr/>
        </p:nvSpPr>
        <p:spPr>
          <a:xfrm>
            <a:off x="36576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F5</a:t>
            </a:r>
            <a:endParaRPr lang="fr-FR" sz="1900" noProof="0" dirty="0"/>
          </a:p>
        </p:txBody>
      </p:sp>
      <p:sp>
        <p:nvSpPr>
          <p:cNvPr id="23" name="Shape 17"/>
          <p:cNvSpPr/>
          <p:nvPr/>
        </p:nvSpPr>
        <p:spPr>
          <a:xfrm>
            <a:off x="365760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18"/>
          <p:cNvSpPr/>
          <p:nvPr/>
        </p:nvSpPr>
        <p:spPr>
          <a:xfrm>
            <a:off x="365760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→ Entrée → étiquette produit</a:t>
            </a:r>
            <a:endParaRPr lang="fr-FR" sz="1050" noProof="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860" y="2697480"/>
            <a:ext cx="274320" cy="2743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989320" y="1463040"/>
            <a:ext cx="2377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0"/>
          <p:cNvSpPr/>
          <p:nvPr/>
        </p:nvSpPr>
        <p:spPr>
          <a:xfrm>
            <a:off x="7543800" y="15087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6000" b="1" noProof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6000" noProof="0" dirty="0"/>
          </a:p>
        </p:txBody>
      </p:sp>
      <p:sp>
        <p:nvSpPr>
          <p:cNvPr id="28" name="Shape 21"/>
          <p:cNvSpPr/>
          <p:nvPr/>
        </p:nvSpPr>
        <p:spPr>
          <a:xfrm>
            <a:off x="6263640" y="1737360"/>
            <a:ext cx="777240" cy="77724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1901952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26364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</a:t>
            </a:r>
            <a:endParaRPr lang="fr-FR" sz="1900" noProof="0" dirty="0"/>
          </a:p>
        </p:txBody>
      </p:sp>
      <p:sp>
        <p:nvSpPr>
          <p:cNvPr id="31" name="Text 23"/>
          <p:cNvSpPr/>
          <p:nvPr/>
        </p:nvSpPr>
        <p:spPr>
          <a:xfrm>
            <a:off x="62636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finaliser</a:t>
            </a:r>
            <a:endParaRPr lang="fr-FR" sz="1900" noProof="0" dirty="0"/>
          </a:p>
        </p:txBody>
      </p:sp>
      <p:sp>
        <p:nvSpPr>
          <p:cNvPr id="32" name="Shape 24"/>
          <p:cNvSpPr/>
          <p:nvPr/>
        </p:nvSpPr>
        <p:spPr>
          <a:xfrm>
            <a:off x="6263640" y="3429000"/>
            <a:ext cx="365760" cy="1828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5"/>
          <p:cNvSpPr/>
          <p:nvPr/>
        </p:nvSpPr>
        <p:spPr>
          <a:xfrm>
            <a:off x="626364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vers case rupture, saisi du réel, motif</a:t>
            </a:r>
            <a:endParaRPr lang="fr-FR" sz="1050" noProof="0" dirty="0"/>
          </a:p>
        </p:txBody>
      </p:sp>
      <p:sp>
        <p:nvSpPr>
          <p:cNvPr id="34" name="Text 26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scanné  •  F5 activé  •  Motif coché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kern="0" spc="800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 RÉELS</a:t>
            </a:r>
            <a:endParaRPr lang="fr-F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arrive si la rupture n'est pas saisie</a:t>
            </a:r>
            <a:endParaRPr lang="fr-F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27432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34290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34290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21031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</a:t>
            </a:r>
            <a:endParaRPr lang="fr-FR" sz="2400" noProof="0" dirty="0"/>
          </a:p>
        </p:txBody>
      </p:sp>
      <p:sp>
        <p:nvSpPr>
          <p:cNvPr id="9" name="Text 6"/>
          <p:cNvSpPr/>
          <p:nvPr/>
        </p:nvSpPr>
        <p:spPr>
          <a:xfrm>
            <a:off x="61722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rejeté</a:t>
            </a:r>
            <a:endParaRPr lang="fr-FR" sz="1300" noProof="0" dirty="0"/>
          </a:p>
        </p:txBody>
      </p:sp>
      <p:sp>
        <p:nvSpPr>
          <p:cNvPr id="10" name="Text 7"/>
          <p:cNvSpPr/>
          <p:nvPr/>
        </p:nvSpPr>
        <p:spPr>
          <a:xfrm>
            <a:off x="61722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 non saisie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contrôle pondéral.</a:t>
            </a:r>
            <a:endParaRPr lang="fr-FR" sz="1100" noProof="0" dirty="0"/>
          </a:p>
        </p:txBody>
      </p:sp>
      <p:sp>
        <p:nvSpPr>
          <p:cNvPr id="11" name="Shape 8"/>
          <p:cNvSpPr/>
          <p:nvPr/>
        </p:nvSpPr>
        <p:spPr>
          <a:xfrm>
            <a:off x="34290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9"/>
          <p:cNvSpPr/>
          <p:nvPr/>
        </p:nvSpPr>
        <p:spPr>
          <a:xfrm>
            <a:off x="61722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Retour colis complet</a:t>
            </a:r>
            <a:endParaRPr lang="fr-FR" sz="1200" noProof="0" dirty="0"/>
          </a:p>
        </p:txBody>
      </p:sp>
      <p:sp>
        <p:nvSpPr>
          <p:cNvPr id="13" name="Shape 10"/>
          <p:cNvSpPr/>
          <p:nvPr/>
        </p:nvSpPr>
        <p:spPr>
          <a:xfrm>
            <a:off x="322326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1"/>
          <p:cNvSpPr/>
          <p:nvPr/>
        </p:nvSpPr>
        <p:spPr>
          <a:xfrm>
            <a:off x="322326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0" y="210312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9758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</a:t>
            </a:r>
            <a:endParaRPr lang="fr-FR" sz="2400" noProof="0" dirty="0"/>
          </a:p>
        </p:txBody>
      </p:sp>
      <p:sp>
        <p:nvSpPr>
          <p:cNvPr id="17" name="Text 13"/>
          <p:cNvSpPr/>
          <p:nvPr/>
        </p:nvSpPr>
        <p:spPr>
          <a:xfrm>
            <a:off x="349758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pondéral</a:t>
            </a:r>
            <a:endParaRPr lang="fr-FR" sz="1300" noProof="0" dirty="0"/>
          </a:p>
        </p:txBody>
      </p:sp>
      <p:sp>
        <p:nvSpPr>
          <p:cNvPr id="18" name="Text 14"/>
          <p:cNvSpPr/>
          <p:nvPr/>
        </p:nvSpPr>
        <p:spPr>
          <a:xfrm>
            <a:off x="349758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sans saisie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quantité réelle.</a:t>
            </a:r>
            <a:endParaRPr lang="fr-FR" sz="1100" noProof="0" dirty="0"/>
          </a:p>
        </p:txBody>
      </p:sp>
      <p:sp>
        <p:nvSpPr>
          <p:cNvPr id="19" name="Shape 15"/>
          <p:cNvSpPr/>
          <p:nvPr/>
        </p:nvSpPr>
        <p:spPr>
          <a:xfrm>
            <a:off x="322326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349758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Blocage qualité</a:t>
            </a:r>
            <a:endParaRPr lang="fr-FR" sz="1200" noProof="0" dirty="0"/>
          </a:p>
        </p:txBody>
      </p:sp>
      <p:sp>
        <p:nvSpPr>
          <p:cNvPr id="21" name="Shape 17"/>
          <p:cNvSpPr/>
          <p:nvPr/>
        </p:nvSpPr>
        <p:spPr>
          <a:xfrm>
            <a:off x="6103620" y="1783080"/>
            <a:ext cx="2697480" cy="2651760"/>
          </a:xfrm>
          <a:prstGeom prst="rect">
            <a:avLst/>
          </a:prstGeom>
          <a:solidFill>
            <a:srgbClr val="13253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6103620" y="1783080"/>
            <a:ext cx="26974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210312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7794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</a:t>
            </a:r>
            <a:endParaRPr lang="fr-FR" sz="2400" noProof="0" dirty="0"/>
          </a:p>
        </p:txBody>
      </p:sp>
      <p:sp>
        <p:nvSpPr>
          <p:cNvPr id="25" name="Text 20"/>
          <p:cNvSpPr/>
          <p:nvPr/>
        </p:nvSpPr>
        <p:spPr>
          <a:xfrm>
            <a:off x="6377940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productivité</a:t>
            </a:r>
            <a:endParaRPr lang="fr-FR" sz="1300" noProof="0" dirty="0"/>
          </a:p>
        </p:txBody>
      </p:sp>
      <p:sp>
        <p:nvSpPr>
          <p:cNvPr id="26" name="Text 21"/>
          <p:cNvSpPr/>
          <p:nvPr/>
        </p:nvSpPr>
        <p:spPr>
          <a:xfrm>
            <a:off x="637794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manipulation,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reprise des commandes.</a:t>
            </a:r>
            <a:endParaRPr lang="fr-FR" sz="1100" noProof="0" dirty="0"/>
          </a:p>
        </p:txBody>
      </p:sp>
      <p:sp>
        <p:nvSpPr>
          <p:cNvPr id="27" name="Shape 22"/>
          <p:cNvSpPr/>
          <p:nvPr/>
        </p:nvSpPr>
        <p:spPr>
          <a:xfrm>
            <a:off x="6103620" y="4023360"/>
            <a:ext cx="269748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3"/>
          <p:cNvSpPr/>
          <p:nvPr/>
        </p:nvSpPr>
        <p:spPr>
          <a:xfrm>
            <a:off x="637794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Impact cadence</a:t>
            </a:r>
            <a:endParaRPr lang="fr-FR" sz="1200" noProof="0" dirty="0"/>
          </a:p>
        </p:txBody>
      </p:sp>
      <p:sp>
        <p:nvSpPr>
          <p:cNvPr id="29" name="Text 2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rupture saisie = un colis conforme.</a:t>
            </a:r>
            <a:endParaRPr lang="fr-FR" sz="11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12648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&amp; responsabilités</a:t>
            </a:r>
            <a:endParaRPr lang="fr-FR" sz="24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quoi, à chaque rupture détectée</a:t>
            </a:r>
            <a:endParaRPr lang="fr-FR" sz="11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411480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087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kern="0" spc="600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fr-FR" sz="1200" noProof="0" dirty="0"/>
          </a:p>
        </p:txBody>
      </p:sp>
      <p:sp>
        <p:nvSpPr>
          <p:cNvPr id="10" name="Shape 6"/>
          <p:cNvSpPr/>
          <p:nvPr/>
        </p:nvSpPr>
        <p:spPr>
          <a:xfrm>
            <a:off x="822960" y="20391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7"/>
          <p:cNvSpPr/>
          <p:nvPr/>
        </p:nvSpPr>
        <p:spPr>
          <a:xfrm>
            <a:off x="822960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2" name="Text 8"/>
          <p:cNvSpPr/>
          <p:nvPr/>
        </p:nvSpPr>
        <p:spPr>
          <a:xfrm>
            <a:off x="114300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 détectée → procédure lancée</a:t>
            </a:r>
            <a:endParaRPr lang="fr-FR" sz="1200" noProof="0" dirty="0"/>
          </a:p>
        </p:txBody>
      </p:sp>
      <p:sp>
        <p:nvSpPr>
          <p:cNvPr id="13" name="Shape 9"/>
          <p:cNvSpPr/>
          <p:nvPr/>
        </p:nvSpPr>
        <p:spPr>
          <a:xfrm>
            <a:off x="822960" y="245059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822960" y="2423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5" name="Text 11"/>
          <p:cNvSpPr/>
          <p:nvPr/>
        </p:nvSpPr>
        <p:spPr>
          <a:xfrm>
            <a:off x="114300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scanné</a:t>
            </a:r>
            <a:endParaRPr lang="fr-FR" sz="1200" noProof="0" dirty="0"/>
          </a:p>
        </p:txBody>
      </p:sp>
      <p:sp>
        <p:nvSpPr>
          <p:cNvPr id="16" name="Shape 12"/>
          <p:cNvSpPr/>
          <p:nvPr/>
        </p:nvSpPr>
        <p:spPr>
          <a:xfrm>
            <a:off x="822960" y="286207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3"/>
          <p:cNvSpPr/>
          <p:nvPr/>
        </p:nvSpPr>
        <p:spPr>
          <a:xfrm>
            <a:off x="822960" y="28346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18" name="Text 14"/>
          <p:cNvSpPr/>
          <p:nvPr/>
        </p:nvSpPr>
        <p:spPr>
          <a:xfrm>
            <a:off x="1143000" y="2788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 réelle saisie dans « Réel »</a:t>
            </a:r>
            <a:endParaRPr lang="fr-FR" sz="1200" noProof="0" dirty="0"/>
          </a:p>
        </p:txBody>
      </p:sp>
      <p:sp>
        <p:nvSpPr>
          <p:cNvPr id="19" name="Shape 15"/>
          <p:cNvSpPr/>
          <p:nvPr/>
        </p:nvSpPr>
        <p:spPr>
          <a:xfrm>
            <a:off x="822960" y="327355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822960" y="3246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1" name="Text 17"/>
          <p:cNvSpPr/>
          <p:nvPr/>
        </p:nvSpPr>
        <p:spPr>
          <a:xfrm>
            <a:off x="114300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coché (Manquant )</a:t>
            </a:r>
            <a:endParaRPr lang="fr-FR" sz="1200" noProof="0" dirty="0"/>
          </a:p>
        </p:txBody>
      </p:sp>
      <p:sp>
        <p:nvSpPr>
          <p:cNvPr id="22" name="Shape 18"/>
          <p:cNvSpPr/>
          <p:nvPr/>
        </p:nvSpPr>
        <p:spPr>
          <a:xfrm>
            <a:off x="822960" y="368503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19"/>
          <p:cNvSpPr/>
          <p:nvPr/>
        </p:nvSpPr>
        <p:spPr>
          <a:xfrm>
            <a:off x="822960" y="3657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4" name="Text 20"/>
          <p:cNvSpPr/>
          <p:nvPr/>
        </p:nvSpPr>
        <p:spPr>
          <a:xfrm>
            <a:off x="114300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« Cassé/Incomplet/Réf » JAMAIS utilisé</a:t>
            </a:r>
            <a:endParaRPr lang="fr-FR" sz="1200" noProof="0" dirty="0"/>
          </a:p>
        </p:txBody>
      </p:sp>
      <p:sp>
        <p:nvSpPr>
          <p:cNvPr id="25" name="Shape 21"/>
          <p:cNvSpPr/>
          <p:nvPr/>
        </p:nvSpPr>
        <p:spPr>
          <a:xfrm>
            <a:off x="822960" y="4096512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2"/>
          <p:cNvSpPr/>
          <p:nvPr/>
        </p:nvSpPr>
        <p:spPr>
          <a:xfrm>
            <a:off x="822960" y="4069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fr-FR" sz="1200" noProof="0" dirty="0"/>
          </a:p>
        </p:txBody>
      </p:sp>
      <p:sp>
        <p:nvSpPr>
          <p:cNvPr id="27" name="Text 23"/>
          <p:cNvSpPr/>
          <p:nvPr/>
        </p:nvSpPr>
        <p:spPr>
          <a:xfrm>
            <a:off x="114300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finalisée (envoyée ou pièces récupérées)</a:t>
            </a:r>
            <a:endParaRPr lang="fr-FR" sz="1200" noProof="0" dirty="0"/>
          </a:p>
        </p:txBody>
      </p:sp>
      <p:sp>
        <p:nvSpPr>
          <p:cNvPr id="28" name="Shape 24"/>
          <p:cNvSpPr/>
          <p:nvPr/>
        </p:nvSpPr>
        <p:spPr>
          <a:xfrm>
            <a:off x="4800600" y="141732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5"/>
          <p:cNvSpPr/>
          <p:nvPr/>
        </p:nvSpPr>
        <p:spPr>
          <a:xfrm>
            <a:off x="4800600" y="141732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6"/>
          <p:cNvSpPr/>
          <p:nvPr/>
        </p:nvSpPr>
        <p:spPr>
          <a:xfrm>
            <a:off x="5029200" y="15087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fr-FR" sz="1400" noProof="0" dirty="0"/>
          </a:p>
        </p:txBody>
      </p:sp>
      <p:sp>
        <p:nvSpPr>
          <p:cNvPr id="31" name="Text 27"/>
          <p:cNvSpPr/>
          <p:nvPr/>
        </p:nvSpPr>
        <p:spPr>
          <a:xfrm>
            <a:off x="5029200" y="18288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Saisit chaque rupture. Choisit le bon motif. Valide sur F5.</a:t>
            </a:r>
            <a:endParaRPr lang="fr-FR" sz="1050" noProof="0" dirty="0"/>
          </a:p>
        </p:txBody>
      </p:sp>
      <p:sp>
        <p:nvSpPr>
          <p:cNvPr id="32" name="Shape 28"/>
          <p:cNvSpPr/>
          <p:nvPr/>
        </p:nvSpPr>
        <p:spPr>
          <a:xfrm>
            <a:off x="4800600" y="251460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29"/>
          <p:cNvSpPr/>
          <p:nvPr/>
        </p:nvSpPr>
        <p:spPr>
          <a:xfrm>
            <a:off x="4800600" y="251460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0"/>
          <p:cNvSpPr/>
          <p:nvPr/>
        </p:nvSpPr>
        <p:spPr>
          <a:xfrm>
            <a:off x="5029200" y="2606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&amp; Superviseur</a:t>
            </a:r>
            <a:endParaRPr lang="fr-FR" sz="1400" noProof="0" dirty="0"/>
          </a:p>
        </p:txBody>
      </p:sp>
      <p:sp>
        <p:nvSpPr>
          <p:cNvPr id="35" name="Text 31"/>
          <p:cNvSpPr/>
          <p:nvPr/>
        </p:nvSpPr>
        <p:spPr>
          <a:xfrm>
            <a:off x="5029200" y="2926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Analysent le taux de rupture. Forment. Contrôlent les motifs.</a:t>
            </a:r>
            <a:endParaRPr lang="fr-FR" sz="1050" noProof="0" dirty="0"/>
          </a:p>
        </p:txBody>
      </p:sp>
      <p:sp>
        <p:nvSpPr>
          <p:cNvPr id="36" name="Shape 32"/>
          <p:cNvSpPr/>
          <p:nvPr/>
        </p:nvSpPr>
        <p:spPr>
          <a:xfrm>
            <a:off x="4800600" y="3611880"/>
            <a:ext cx="3794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3"/>
          <p:cNvSpPr/>
          <p:nvPr/>
        </p:nvSpPr>
        <p:spPr>
          <a:xfrm>
            <a:off x="4800600" y="361188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4"/>
          <p:cNvSpPr/>
          <p:nvPr/>
        </p:nvSpPr>
        <p:spPr>
          <a:xfrm>
            <a:off x="502920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exploitation</a:t>
            </a:r>
            <a:endParaRPr lang="fr-FR" sz="1400" noProof="0" dirty="0"/>
          </a:p>
        </p:txBody>
      </p:sp>
      <p:sp>
        <p:nvSpPr>
          <p:cNvPr id="39" name="Text 35"/>
          <p:cNvSpPr/>
          <p:nvPr/>
        </p:nvSpPr>
        <p:spPr>
          <a:xfrm>
            <a:off x="5029200" y="4023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le taux global de ruptures. Anime les actions correctives.</a:t>
            </a:r>
            <a:endParaRPr lang="fr-FR" sz="1050" noProof="0" dirty="0"/>
          </a:p>
        </p:txBody>
      </p:sp>
      <p:sp>
        <p:nvSpPr>
          <p:cNvPr id="40" name="Text 36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3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STD-PP-P8  •  Ruptures et validation  • 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noProof="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rupture</a:t>
            </a:r>
            <a:endParaRPr lang="fr-FR" sz="36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i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saisie.</a:t>
            </a:r>
            <a:endParaRPr lang="fr-FR" sz="360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kern="0" spc="5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P8   •   RUPTURES ET VALIDATION   •   REXEL CLR CHAMPIGNEULLES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396</Words>
  <Application>Microsoft Office PowerPoint</Application>
  <PresentationFormat>Affichage à l'écran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P1 - Prise de poste</dc:title>
  <dc:subject>PptxGenJS Presentation</dc:subject>
  <dc:creator>Rexel CLR Champigneulles</dc:creator>
  <cp:lastModifiedBy>Georges, Charlene</cp:lastModifiedBy>
  <cp:revision>3</cp:revision>
  <dcterms:created xsi:type="dcterms:W3CDTF">2026-04-21T20:30:49Z</dcterms:created>
  <dcterms:modified xsi:type="dcterms:W3CDTF">2026-06-03T14:52:21Z</dcterms:modified>
</cp:coreProperties>
</file>