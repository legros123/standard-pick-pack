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57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777240" y="1600200"/>
            <a:ext cx="3657600" cy="365760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7944" y="2660904"/>
            <a:ext cx="1536192" cy="1536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69848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2"/>
          <p:cNvSpPr/>
          <p:nvPr/>
        </p:nvSpPr>
        <p:spPr>
          <a:xfrm>
            <a:off x="1106424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3"/>
          <p:cNvSpPr/>
          <p:nvPr/>
        </p:nvSpPr>
        <p:spPr>
          <a:xfrm>
            <a:off x="1143000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4"/>
          <p:cNvSpPr/>
          <p:nvPr/>
        </p:nvSpPr>
        <p:spPr>
          <a:xfrm>
            <a:off x="5212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kern="0" spc="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•  CLR CHAMPIGNEULLES</a:t>
            </a:r>
            <a:endParaRPr lang="fr-FR" sz="1200" noProof="0" dirty="0"/>
          </a:p>
        </p:txBody>
      </p:sp>
      <p:sp>
        <p:nvSpPr>
          <p:cNvPr id="8" name="Shape 5"/>
          <p:cNvSpPr/>
          <p:nvPr/>
        </p:nvSpPr>
        <p:spPr>
          <a:xfrm>
            <a:off x="5212080" y="1371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521208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b="1" kern="0" spc="400" noProof="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P15</a:t>
            </a:r>
            <a:endParaRPr lang="fr-FR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5120640" y="2011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6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</a:t>
            </a:r>
            <a:endParaRPr lang="fr-FR" sz="6000" noProof="0" dirty="0"/>
          </a:p>
        </p:txBody>
      </p:sp>
      <p:sp>
        <p:nvSpPr>
          <p:cNvPr id="11" name="Text 8"/>
          <p:cNvSpPr/>
          <p:nvPr/>
        </p:nvSpPr>
        <p:spPr>
          <a:xfrm>
            <a:off x="5120640" y="30632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6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batterie.</a:t>
            </a:r>
            <a:endParaRPr lang="fr-FR" sz="6000" noProof="0" dirty="0"/>
          </a:p>
        </p:txBody>
      </p:sp>
      <p:sp>
        <p:nvSpPr>
          <p:cNvPr id="12" name="Text 9"/>
          <p:cNvSpPr/>
          <p:nvPr/>
        </p:nvSpPr>
        <p:spPr>
          <a:xfrm>
            <a:off x="5212080" y="4343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700" i="1" noProof="0" dirty="0">
                <a:solidFill>
                  <a:srgbClr val="BF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Manipuler le </a:t>
            </a:r>
            <a:r>
              <a:rPr lang="fr-FR" sz="1700" i="1" noProof="0" dirty="0" err="1">
                <a:solidFill>
                  <a:srgbClr val="BF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Togger</a:t>
            </a:r>
            <a:r>
              <a:rPr lang="fr-FR" sz="1700" i="1" noProof="0" dirty="0">
                <a:solidFill>
                  <a:srgbClr val="BF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rigueur et sécurité.</a:t>
            </a:r>
            <a:endParaRPr lang="fr-FR" sz="1700" noProof="0" dirty="0"/>
          </a:p>
        </p:txBody>
      </p:sp>
      <p:sp>
        <p:nvSpPr>
          <p:cNvPr id="13" name="Text 10"/>
          <p:cNvSpPr/>
          <p:nvPr/>
        </p:nvSpPr>
        <p:spPr>
          <a:xfrm>
            <a:off x="5212080" y="5074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kern="0" spc="300" noProof="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STD-PP-P15   •   Février 2026   •   Formation opérateur</a:t>
            </a:r>
            <a:endParaRPr lang="fr-FR" sz="1200" noProof="0" dirty="0"/>
          </a:p>
        </p:txBody>
      </p:sp>
      <p:sp>
        <p:nvSpPr>
          <p:cNvPr id="14" name="Text 1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kern="0" spc="4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110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4724248" y="822960"/>
            <a:ext cx="2743200" cy="274320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9776" y="1618488"/>
            <a:ext cx="1152144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4434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Aimant activé,</a:t>
            </a:r>
            <a:endParaRPr lang="fr-FR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914400" y="507492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crochet de sécurité. »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kern="0" spc="8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marche du </a:t>
            </a:r>
            <a:r>
              <a:rPr lang="fr-FR" sz="2800" b="1" noProof="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Togger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l'équipement en sécurité</a:t>
            </a:r>
            <a:endParaRPr lang="fr-F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600" b="1" kern="0" spc="400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95234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95234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98104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8228" y="240030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234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Arrêts</a:t>
            </a:r>
            <a:endParaRPr lang="fr-FR" sz="2200" noProof="0" dirty="0"/>
          </a:p>
        </p:txBody>
      </p:sp>
      <p:sp>
        <p:nvSpPr>
          <p:cNvPr id="13" name="Text 9"/>
          <p:cNvSpPr/>
          <p:nvPr/>
        </p:nvSpPr>
        <p:spPr>
          <a:xfrm>
            <a:off x="113522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d'urgence enlevés</a:t>
            </a:r>
            <a:endParaRPr lang="fr-FR" sz="1300" noProof="0" dirty="0"/>
          </a:p>
        </p:txBody>
      </p:sp>
      <p:sp>
        <p:nvSpPr>
          <p:cNvPr id="14" name="Shape 10"/>
          <p:cNvSpPr/>
          <p:nvPr/>
        </p:nvSpPr>
        <p:spPr>
          <a:xfrm>
            <a:off x="447278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447278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550148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8668" y="240030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7278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</a:t>
            </a:r>
            <a:endParaRPr lang="fr-FR" sz="2200" noProof="0" dirty="0"/>
          </a:p>
        </p:txBody>
      </p:sp>
      <p:sp>
        <p:nvSpPr>
          <p:cNvPr id="19" name="Text 14"/>
          <p:cNvSpPr/>
          <p:nvPr/>
        </p:nvSpPr>
        <p:spPr>
          <a:xfrm>
            <a:off x="465566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 écran allumé</a:t>
            </a:r>
            <a:endParaRPr lang="fr-FR" sz="1300" noProof="0" dirty="0"/>
          </a:p>
        </p:txBody>
      </p:sp>
      <p:sp>
        <p:nvSpPr>
          <p:cNvPr id="20" name="Shape 15"/>
          <p:cNvSpPr/>
          <p:nvPr/>
        </p:nvSpPr>
        <p:spPr>
          <a:xfrm>
            <a:off x="799322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6"/>
          <p:cNvSpPr/>
          <p:nvPr/>
        </p:nvSpPr>
        <p:spPr>
          <a:xfrm>
            <a:off x="799322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7"/>
          <p:cNvSpPr/>
          <p:nvPr/>
        </p:nvSpPr>
        <p:spPr>
          <a:xfrm>
            <a:off x="902192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9108" y="2400300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9322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Badger</a:t>
            </a:r>
            <a:endParaRPr lang="fr-FR" sz="2200" noProof="0" dirty="0"/>
          </a:p>
        </p:txBody>
      </p:sp>
      <p:sp>
        <p:nvSpPr>
          <p:cNvPr id="25" name="Text 19"/>
          <p:cNvSpPr/>
          <p:nvPr/>
        </p:nvSpPr>
        <p:spPr>
          <a:xfrm>
            <a:off x="817610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bouton sous « V »</a:t>
            </a:r>
            <a:endParaRPr lang="fr-FR" sz="1300" noProof="0" dirty="0"/>
          </a:p>
        </p:txBody>
      </p:sp>
      <p:sp>
        <p:nvSpPr>
          <p:cNvPr id="26" name="Shape 20"/>
          <p:cNvSpPr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61264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598932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Togger</a:t>
            </a: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allumé = manipulation autorisée</a:t>
            </a:r>
            <a:endParaRPr lang="fr-FR" sz="14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de la batterie déchargée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l'EKS et transférer la batterie</a:t>
            </a:r>
            <a:endParaRPr lang="fr-F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600" b="1" kern="0" spc="400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91440" cy="4023360"/>
          </a:xfrm>
          <a:prstGeom prst="rect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731520" y="169164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50" y="20459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800" b="1" kern="0" spc="600" noProof="0" dirty="0">
                <a:solidFill>
                  <a:srgbClr val="21A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800" noProof="0" dirty="0"/>
          </a:p>
        </p:txBody>
      </p:sp>
      <p:sp>
        <p:nvSpPr>
          <p:cNvPr id="13" name="Shape 9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400" noProof="0" dirty="0"/>
          </a:p>
        </p:txBody>
      </p:sp>
      <p:sp>
        <p:nvSpPr>
          <p:cNvPr id="15" name="Text 11"/>
          <p:cNvSpPr/>
          <p:nvPr/>
        </p:nvSpPr>
        <p:spPr>
          <a:xfrm>
            <a:off x="146304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Positionner EKS perpendiculaire au banc</a:t>
            </a:r>
            <a:endParaRPr lang="fr-FR" sz="1400" noProof="0" dirty="0"/>
          </a:p>
        </p:txBody>
      </p:sp>
      <p:sp>
        <p:nvSpPr>
          <p:cNvPr id="16" name="Shape 12"/>
          <p:cNvSpPr/>
          <p:nvPr/>
        </p:nvSpPr>
        <p:spPr>
          <a:xfrm>
            <a:off x="960120" y="356616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3"/>
          <p:cNvSpPr/>
          <p:nvPr/>
        </p:nvSpPr>
        <p:spPr>
          <a:xfrm>
            <a:off x="9601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400" noProof="0" dirty="0"/>
          </a:p>
        </p:txBody>
      </p:sp>
      <p:sp>
        <p:nvSpPr>
          <p:cNvPr id="18" name="Text 14"/>
          <p:cNvSpPr/>
          <p:nvPr/>
        </p:nvSpPr>
        <p:spPr>
          <a:xfrm>
            <a:off x="146304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le contact et ouvrir le capot</a:t>
            </a:r>
            <a:endParaRPr lang="fr-FR" sz="1400" noProof="0" dirty="0"/>
          </a:p>
        </p:txBody>
      </p:sp>
      <p:sp>
        <p:nvSpPr>
          <p:cNvPr id="19" name="Shape 15"/>
          <p:cNvSpPr/>
          <p:nvPr/>
        </p:nvSpPr>
        <p:spPr>
          <a:xfrm>
            <a:off x="960120" y="434340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9601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400" noProof="0" dirty="0"/>
          </a:p>
        </p:txBody>
      </p:sp>
      <p:sp>
        <p:nvSpPr>
          <p:cNvPr id="21" name="Text 17"/>
          <p:cNvSpPr/>
          <p:nvPr/>
        </p:nvSpPr>
        <p:spPr>
          <a:xfrm>
            <a:off x="1463040" y="4297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Crochet rouge + aimant tout le long du déplacement</a:t>
            </a:r>
            <a:endParaRPr lang="fr-FR" sz="1400" noProof="0" dirty="0"/>
          </a:p>
        </p:txBody>
      </p:sp>
      <p:sp>
        <p:nvSpPr>
          <p:cNvPr id="22" name="Shape 18"/>
          <p:cNvSpPr/>
          <p:nvPr/>
        </p:nvSpPr>
        <p:spPr>
          <a:xfrm>
            <a:off x="6355080" y="1691640"/>
            <a:ext cx="91440" cy="402336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9"/>
          <p:cNvSpPr/>
          <p:nvPr/>
        </p:nvSpPr>
        <p:spPr>
          <a:xfrm>
            <a:off x="6446520" y="169164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20"/>
          <p:cNvSpPr/>
          <p:nvPr/>
        </p:nvSpPr>
        <p:spPr>
          <a:xfrm>
            <a:off x="6675120" y="1920240"/>
            <a:ext cx="502920" cy="50292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0850" y="2045970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1520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800" b="1" kern="0" spc="600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800" noProof="0" dirty="0"/>
          </a:p>
        </p:txBody>
      </p:sp>
      <p:sp>
        <p:nvSpPr>
          <p:cNvPr id="27" name="Shape 22"/>
          <p:cNvSpPr/>
          <p:nvPr/>
        </p:nvSpPr>
        <p:spPr>
          <a:xfrm>
            <a:off x="6675120" y="278892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286207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7804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déplacer sans crochet rouge</a:t>
            </a:r>
            <a:endParaRPr lang="fr-FR" sz="1400" noProof="0" dirty="0"/>
          </a:p>
        </p:txBody>
      </p:sp>
      <p:sp>
        <p:nvSpPr>
          <p:cNvPr id="30" name="Shape 24"/>
          <p:cNvSpPr/>
          <p:nvPr/>
        </p:nvSpPr>
        <p:spPr>
          <a:xfrm>
            <a:off x="6675120" y="356616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363931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7804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désactiver l'aimant en transfert</a:t>
            </a:r>
            <a:endParaRPr lang="fr-FR" sz="1400" noProof="0" dirty="0"/>
          </a:p>
        </p:txBody>
      </p:sp>
      <p:sp>
        <p:nvSpPr>
          <p:cNvPr id="33" name="Shape 26"/>
          <p:cNvSpPr/>
          <p:nvPr/>
        </p:nvSpPr>
        <p:spPr>
          <a:xfrm>
            <a:off x="6675120" y="434340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441655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78040" y="4297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D'oublier la cale de l'EKS</a:t>
            </a:r>
            <a:endParaRPr lang="fr-FR" sz="1400" noProof="0" dirty="0"/>
          </a:p>
        </p:txBody>
      </p:sp>
      <p:sp>
        <p:nvSpPr>
          <p:cNvPr id="36" name="Text 28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i="1" noProof="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Aimant activé  =  batterie sécurisée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charge &amp; mise en place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 de charge puis batterie chargée sur EKS</a:t>
            </a:r>
            <a:endParaRPr lang="fr-F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600" b="1" kern="0" spc="400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81518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296402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6400" b="1" noProof="0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6400" noProof="0" dirty="0"/>
          </a:p>
        </p:txBody>
      </p:sp>
      <p:sp>
        <p:nvSpPr>
          <p:cNvPr id="10" name="Shape 7"/>
          <p:cNvSpPr/>
          <p:nvPr/>
        </p:nvSpPr>
        <p:spPr>
          <a:xfrm>
            <a:off x="122666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698" y="243459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094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</a:t>
            </a:r>
            <a:endParaRPr lang="fr-FR" sz="2200" noProof="0" dirty="0"/>
          </a:p>
        </p:txBody>
      </p:sp>
      <p:sp>
        <p:nvSpPr>
          <p:cNvPr id="13" name="Text 9"/>
          <p:cNvSpPr/>
          <p:nvPr/>
        </p:nvSpPr>
        <p:spPr>
          <a:xfrm>
            <a:off x="118094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déchargée</a:t>
            </a:r>
            <a:endParaRPr lang="fr-FR" sz="2000" noProof="0" dirty="0"/>
          </a:p>
        </p:txBody>
      </p:sp>
      <p:sp>
        <p:nvSpPr>
          <p:cNvPr id="14" name="Shape 10"/>
          <p:cNvSpPr/>
          <p:nvPr/>
        </p:nvSpPr>
        <p:spPr>
          <a:xfrm>
            <a:off x="118094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/>
          <p:nvPr/>
        </p:nvSpPr>
        <p:spPr>
          <a:xfrm>
            <a:off x="118094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 vide, brancher par la poignée</a:t>
            </a:r>
            <a:endParaRPr lang="fr-FR" sz="1200" noProof="0" dirty="0"/>
          </a:p>
        </p:txBody>
      </p:sp>
      <p:sp>
        <p:nvSpPr>
          <p:cNvPr id="16" name="Text 12"/>
          <p:cNvSpPr/>
          <p:nvPr/>
        </p:nvSpPr>
        <p:spPr>
          <a:xfrm>
            <a:off x="3988156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800" noProof="0" dirty="0"/>
          </a:p>
        </p:txBody>
      </p:sp>
      <p:sp>
        <p:nvSpPr>
          <p:cNvPr id="17" name="Shape 13"/>
          <p:cNvSpPr/>
          <p:nvPr/>
        </p:nvSpPr>
        <p:spPr>
          <a:xfrm>
            <a:off x="442706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4"/>
          <p:cNvSpPr/>
          <p:nvPr/>
        </p:nvSpPr>
        <p:spPr>
          <a:xfrm>
            <a:off x="657590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6400" b="1" noProof="0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6400" noProof="0" dirty="0"/>
          </a:p>
        </p:txBody>
      </p:sp>
      <p:sp>
        <p:nvSpPr>
          <p:cNvPr id="19" name="Shape 15"/>
          <p:cNvSpPr/>
          <p:nvPr/>
        </p:nvSpPr>
        <p:spPr>
          <a:xfrm>
            <a:off x="483854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8578" y="2434590"/>
            <a:ext cx="480060" cy="4800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9282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</a:t>
            </a:r>
            <a:endParaRPr lang="fr-FR" sz="2200" noProof="0" dirty="0"/>
          </a:p>
        </p:txBody>
      </p:sp>
      <p:sp>
        <p:nvSpPr>
          <p:cNvPr id="22" name="Text 17"/>
          <p:cNvSpPr/>
          <p:nvPr/>
        </p:nvSpPr>
        <p:spPr>
          <a:xfrm>
            <a:off x="479282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chargée</a:t>
            </a:r>
            <a:endParaRPr lang="fr-FR" sz="2000" noProof="0" dirty="0"/>
          </a:p>
        </p:txBody>
      </p:sp>
      <p:sp>
        <p:nvSpPr>
          <p:cNvPr id="23" name="Shape 18"/>
          <p:cNvSpPr/>
          <p:nvPr/>
        </p:nvSpPr>
        <p:spPr>
          <a:xfrm>
            <a:off x="479282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9"/>
          <p:cNvSpPr/>
          <p:nvPr/>
        </p:nvSpPr>
        <p:spPr>
          <a:xfrm>
            <a:off x="479282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au centre, aimant activé</a:t>
            </a:r>
            <a:endParaRPr lang="fr-FR" sz="1200" noProof="0" dirty="0"/>
          </a:p>
        </p:txBody>
      </p:sp>
      <p:sp>
        <p:nvSpPr>
          <p:cNvPr id="25" name="Text 20"/>
          <p:cNvSpPr/>
          <p:nvPr/>
        </p:nvSpPr>
        <p:spPr>
          <a:xfrm>
            <a:off x="7600036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800" noProof="0" dirty="0"/>
          </a:p>
        </p:txBody>
      </p:sp>
      <p:sp>
        <p:nvSpPr>
          <p:cNvPr id="26" name="Shape 21"/>
          <p:cNvSpPr/>
          <p:nvPr/>
        </p:nvSpPr>
        <p:spPr>
          <a:xfrm>
            <a:off x="803894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2"/>
          <p:cNvSpPr/>
          <p:nvPr/>
        </p:nvSpPr>
        <p:spPr>
          <a:xfrm>
            <a:off x="1018778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6400" b="1" noProof="0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6400" noProof="0" dirty="0"/>
          </a:p>
        </p:txBody>
      </p:sp>
      <p:sp>
        <p:nvSpPr>
          <p:cNvPr id="28" name="Shape 23"/>
          <p:cNvSpPr/>
          <p:nvPr/>
        </p:nvSpPr>
        <p:spPr>
          <a:xfrm>
            <a:off x="845042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0458" y="2434590"/>
            <a:ext cx="480060" cy="4800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40470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Transférer</a:t>
            </a:r>
            <a:endParaRPr lang="fr-FR" sz="2200" noProof="0" dirty="0"/>
          </a:p>
        </p:txBody>
      </p:sp>
      <p:sp>
        <p:nvSpPr>
          <p:cNvPr id="31" name="Text 25"/>
          <p:cNvSpPr/>
          <p:nvPr/>
        </p:nvSpPr>
        <p:spPr>
          <a:xfrm>
            <a:off x="840470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EKS</a:t>
            </a:r>
            <a:endParaRPr lang="fr-FR" sz="2000" noProof="0" dirty="0"/>
          </a:p>
        </p:txBody>
      </p:sp>
      <p:sp>
        <p:nvSpPr>
          <p:cNvPr id="32" name="Shape 26"/>
          <p:cNvSpPr/>
          <p:nvPr/>
        </p:nvSpPr>
        <p:spPr>
          <a:xfrm>
            <a:off x="840470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7"/>
          <p:cNvSpPr/>
          <p:nvPr/>
        </p:nvSpPr>
        <p:spPr>
          <a:xfrm>
            <a:off x="840470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Remettre cale EKS, brancher, fermer capot</a:t>
            </a:r>
            <a:endParaRPr lang="fr-FR" sz="1200" noProof="0" dirty="0"/>
          </a:p>
        </p:txBody>
      </p:sp>
      <p:sp>
        <p:nvSpPr>
          <p:cNvPr id="34" name="Text 28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i="1" noProof="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centré  •  Aimant activé  •  Cale remise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b="1" kern="0" spc="800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</a:t>
            </a:r>
            <a:endParaRPr lang="fr-F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en cas de mauvaise manipulation</a:t>
            </a:r>
            <a:endParaRPr lang="fr-F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4572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8658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58658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068" y="24231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806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</a:t>
            </a:r>
            <a:endParaRPr lang="fr-FR" sz="2800" noProof="0" dirty="0"/>
          </a:p>
        </p:txBody>
      </p:sp>
      <p:sp>
        <p:nvSpPr>
          <p:cNvPr id="9" name="Text 6"/>
          <p:cNvSpPr/>
          <p:nvPr/>
        </p:nvSpPr>
        <p:spPr>
          <a:xfrm>
            <a:off x="99806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batterie</a:t>
            </a:r>
            <a:endParaRPr lang="fr-FR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99806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du déplacement du </a:t>
            </a:r>
            <a:r>
              <a:rPr lang="fr-FR" sz="1300" noProof="0" dirty="0" err="1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Togger</a:t>
            </a:r>
            <a:endParaRPr lang="fr-FR" sz="1300" noProof="0" dirty="0"/>
          </a:p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cale EKS non remise.</a:t>
            </a:r>
            <a:endParaRPr lang="fr-FR" sz="1300" noProof="0" dirty="0"/>
          </a:p>
        </p:txBody>
      </p:sp>
      <p:sp>
        <p:nvSpPr>
          <p:cNvPr id="11" name="Text 8"/>
          <p:cNvSpPr/>
          <p:nvPr/>
        </p:nvSpPr>
        <p:spPr>
          <a:xfrm>
            <a:off x="99806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Écrasement, AT grave</a:t>
            </a:r>
            <a:endParaRPr lang="fr-FR" sz="1400" noProof="0" dirty="0"/>
          </a:p>
        </p:txBody>
      </p:sp>
      <p:sp>
        <p:nvSpPr>
          <p:cNvPr id="12" name="Shape 9"/>
          <p:cNvSpPr/>
          <p:nvPr/>
        </p:nvSpPr>
        <p:spPr>
          <a:xfrm>
            <a:off x="433562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0"/>
          <p:cNvSpPr/>
          <p:nvPr/>
        </p:nvSpPr>
        <p:spPr>
          <a:xfrm>
            <a:off x="433562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108" y="24231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4710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Éclaboussure</a:t>
            </a:r>
            <a:endParaRPr lang="fr-FR" sz="2800" noProof="0" dirty="0"/>
          </a:p>
        </p:txBody>
      </p:sp>
      <p:sp>
        <p:nvSpPr>
          <p:cNvPr id="16" name="Text 12"/>
          <p:cNvSpPr/>
          <p:nvPr/>
        </p:nvSpPr>
        <p:spPr>
          <a:xfrm>
            <a:off x="474710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d'acide</a:t>
            </a:r>
            <a:endParaRPr lang="fr-FR" sz="1400" noProof="0" dirty="0"/>
          </a:p>
        </p:txBody>
      </p:sp>
      <p:sp>
        <p:nvSpPr>
          <p:cNvPr id="17" name="Text 13"/>
          <p:cNvSpPr/>
          <p:nvPr/>
        </p:nvSpPr>
        <p:spPr>
          <a:xfrm>
            <a:off x="474710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 contenue dans la batterie</a:t>
            </a:r>
            <a:endParaRPr lang="fr-FR" sz="1300" noProof="0" dirty="0"/>
          </a:p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projeté en cas de chute.</a:t>
            </a:r>
            <a:endParaRPr lang="fr-FR" sz="1300" noProof="0" dirty="0"/>
          </a:p>
        </p:txBody>
      </p:sp>
      <p:sp>
        <p:nvSpPr>
          <p:cNvPr id="18" name="Text 14"/>
          <p:cNvSpPr/>
          <p:nvPr/>
        </p:nvSpPr>
        <p:spPr>
          <a:xfrm>
            <a:off x="474710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Brûlure chimique</a:t>
            </a:r>
            <a:endParaRPr lang="fr-FR" sz="1400" noProof="0" dirty="0"/>
          </a:p>
        </p:txBody>
      </p:sp>
      <p:sp>
        <p:nvSpPr>
          <p:cNvPr id="19" name="Shape 15"/>
          <p:cNvSpPr/>
          <p:nvPr/>
        </p:nvSpPr>
        <p:spPr>
          <a:xfrm>
            <a:off x="808466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6"/>
          <p:cNvSpPr/>
          <p:nvPr/>
        </p:nvSpPr>
        <p:spPr>
          <a:xfrm>
            <a:off x="808466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6148" y="24231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9614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</a:t>
            </a:r>
            <a:endParaRPr lang="fr-FR" sz="2800" noProof="0" dirty="0"/>
          </a:p>
        </p:txBody>
      </p:sp>
      <p:sp>
        <p:nvSpPr>
          <p:cNvPr id="23" name="Text 18"/>
          <p:cNvSpPr/>
          <p:nvPr/>
        </p:nvSpPr>
        <p:spPr>
          <a:xfrm>
            <a:off x="849614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d'activité</a:t>
            </a:r>
            <a:endParaRPr lang="fr-FR" sz="1400" noProof="0" dirty="0"/>
          </a:p>
        </p:txBody>
      </p:sp>
      <p:sp>
        <p:nvSpPr>
          <p:cNvPr id="24" name="Text 19"/>
          <p:cNvSpPr/>
          <p:nvPr/>
        </p:nvSpPr>
        <p:spPr>
          <a:xfrm>
            <a:off x="849614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mise en charge du </a:t>
            </a:r>
            <a:r>
              <a:rPr lang="fr-FR" sz="1300" noProof="0" dirty="0" err="1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togger</a:t>
            </a: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</a:t>
            </a:r>
            <a:endParaRPr lang="fr-FR" sz="1300" noProof="0" dirty="0"/>
          </a:p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pénalisation de tout le CLR.</a:t>
            </a:r>
            <a:endParaRPr lang="fr-FR" sz="1300" noProof="0" dirty="0"/>
          </a:p>
        </p:txBody>
      </p:sp>
      <p:sp>
        <p:nvSpPr>
          <p:cNvPr id="25" name="Text 20"/>
          <p:cNvSpPr/>
          <p:nvPr/>
        </p:nvSpPr>
        <p:spPr>
          <a:xfrm>
            <a:off x="849614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Arrêt du site</a:t>
            </a:r>
            <a:endParaRPr lang="fr-FR" sz="1400" noProof="0" dirty="0"/>
          </a:p>
        </p:txBody>
      </p:sp>
      <p:sp>
        <p:nvSpPr>
          <p:cNvPr id="26" name="Text 2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i="1" noProof="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manipulation rigoureuse protège l'opérateur et le CLR.</a:t>
            </a:r>
            <a:endParaRPr lang="fr-FR" sz="13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changement de batterie</a:t>
            </a:r>
            <a:endParaRPr lang="fr-FR" sz="1400" noProof="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486400" cy="5943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822960" y="1737360"/>
            <a:ext cx="320040" cy="320040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70" y="1817370"/>
            <a:ext cx="160020" cy="1600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kern="0" spc="8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600" noProof="0" dirty="0"/>
          </a:p>
        </p:txBody>
      </p:sp>
      <p:sp>
        <p:nvSpPr>
          <p:cNvPr id="10" name="Shape 6"/>
          <p:cNvSpPr/>
          <p:nvPr/>
        </p:nvSpPr>
        <p:spPr>
          <a:xfrm>
            <a:off x="640080" y="2194560"/>
            <a:ext cx="54864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7"/>
          <p:cNvSpPr/>
          <p:nvPr/>
        </p:nvSpPr>
        <p:spPr>
          <a:xfrm>
            <a:off x="914400" y="25146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2560320"/>
            <a:ext cx="182880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780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Togger</a:t>
            </a: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allumé/arrêt d’urgences enlevés </a:t>
            </a:r>
            <a:endParaRPr lang="fr-FR" sz="1300" noProof="0" dirty="0"/>
          </a:p>
        </p:txBody>
      </p:sp>
      <p:sp>
        <p:nvSpPr>
          <p:cNvPr id="14" name="Shape 9"/>
          <p:cNvSpPr/>
          <p:nvPr/>
        </p:nvSpPr>
        <p:spPr>
          <a:xfrm>
            <a:off x="914400" y="306324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3108960"/>
            <a:ext cx="182880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0266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centré sur la batterie</a:t>
            </a:r>
            <a:endParaRPr lang="fr-FR" sz="1300" noProof="0" dirty="0"/>
          </a:p>
        </p:txBody>
      </p:sp>
      <p:sp>
        <p:nvSpPr>
          <p:cNvPr id="17" name="Shape 11"/>
          <p:cNvSpPr/>
          <p:nvPr/>
        </p:nvSpPr>
        <p:spPr>
          <a:xfrm>
            <a:off x="914400" y="361188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3657600"/>
            <a:ext cx="182880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35753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Aimant activé (LED verte)</a:t>
            </a:r>
            <a:endParaRPr lang="fr-FR" sz="1300" noProof="0" dirty="0"/>
          </a:p>
        </p:txBody>
      </p:sp>
      <p:sp>
        <p:nvSpPr>
          <p:cNvPr id="20" name="Shape 13"/>
          <p:cNvSpPr/>
          <p:nvPr/>
        </p:nvSpPr>
        <p:spPr>
          <a:xfrm>
            <a:off x="914400" y="41605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4206240"/>
            <a:ext cx="182880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71600" y="41239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Crochet rouge de sécurité posé</a:t>
            </a:r>
            <a:endParaRPr lang="fr-FR" sz="1300" noProof="0" dirty="0"/>
          </a:p>
        </p:txBody>
      </p:sp>
      <p:sp>
        <p:nvSpPr>
          <p:cNvPr id="23" name="Shape 15"/>
          <p:cNvSpPr/>
          <p:nvPr/>
        </p:nvSpPr>
        <p:spPr>
          <a:xfrm>
            <a:off x="914400" y="470916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4754880"/>
            <a:ext cx="182880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71600" y="46725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 EKS remise après transfert</a:t>
            </a:r>
            <a:endParaRPr lang="fr-FR" sz="1300" noProof="0" dirty="0"/>
          </a:p>
        </p:txBody>
      </p:sp>
      <p:sp>
        <p:nvSpPr>
          <p:cNvPr id="26" name="Shape 17"/>
          <p:cNvSpPr/>
          <p:nvPr/>
        </p:nvSpPr>
        <p:spPr>
          <a:xfrm>
            <a:off x="914400" y="52578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5303520"/>
            <a:ext cx="182880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371600" y="52212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Togger</a:t>
            </a: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rangé et mis en charge, arrêt d’urgence enclenché</a:t>
            </a:r>
            <a:endParaRPr lang="fr-FR" sz="1300" noProof="0" dirty="0"/>
          </a:p>
        </p:txBody>
      </p:sp>
      <p:sp>
        <p:nvSpPr>
          <p:cNvPr id="29" name="Shape 19"/>
          <p:cNvSpPr/>
          <p:nvPr/>
        </p:nvSpPr>
        <p:spPr>
          <a:xfrm>
            <a:off x="6400800" y="1600200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0"/>
          <p:cNvSpPr/>
          <p:nvPr/>
        </p:nvSpPr>
        <p:spPr>
          <a:xfrm>
            <a:off x="6492240" y="1600200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1"/>
          <p:cNvSpPr/>
          <p:nvPr/>
        </p:nvSpPr>
        <p:spPr>
          <a:xfrm>
            <a:off x="6720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600" noProof="0" dirty="0"/>
          </a:p>
        </p:txBody>
      </p:sp>
      <p:sp>
        <p:nvSpPr>
          <p:cNvPr id="32" name="Text 22"/>
          <p:cNvSpPr/>
          <p:nvPr/>
        </p:nvSpPr>
        <p:spPr>
          <a:xfrm>
            <a:off x="6720840" y="2103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Allume le </a:t>
            </a:r>
            <a:r>
              <a:rPr lang="fr-FR" sz="1200" noProof="0" dirty="0" err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Togger</a:t>
            </a: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positionne, active l'aimant, pose le crochet, range l'équipement.</a:t>
            </a:r>
            <a:endParaRPr lang="fr-FR" sz="1200" noProof="0" dirty="0"/>
          </a:p>
        </p:txBody>
      </p:sp>
      <p:sp>
        <p:nvSpPr>
          <p:cNvPr id="33" name="Shape 23"/>
          <p:cNvSpPr/>
          <p:nvPr/>
        </p:nvSpPr>
        <p:spPr>
          <a:xfrm>
            <a:off x="6400800" y="3090672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24"/>
          <p:cNvSpPr/>
          <p:nvPr/>
        </p:nvSpPr>
        <p:spPr>
          <a:xfrm>
            <a:off x="6492240" y="3090672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25"/>
          <p:cNvSpPr/>
          <p:nvPr/>
        </p:nvSpPr>
        <p:spPr>
          <a:xfrm>
            <a:off x="6720840" y="32278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600" noProof="0" dirty="0"/>
          </a:p>
        </p:txBody>
      </p:sp>
      <p:sp>
        <p:nvSpPr>
          <p:cNvPr id="36" name="Text 26"/>
          <p:cNvSpPr/>
          <p:nvPr/>
        </p:nvSpPr>
        <p:spPr>
          <a:xfrm>
            <a:off x="6720840" y="359359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Contrôlent la bonne utilisation. Signalent toute manipulation à risque ou anomalie </a:t>
            </a:r>
            <a:r>
              <a:rPr lang="fr-FR" sz="1200" noProof="0" dirty="0" err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Togger</a:t>
            </a: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1200" noProof="0" dirty="0"/>
          </a:p>
        </p:txBody>
      </p:sp>
      <p:sp>
        <p:nvSpPr>
          <p:cNvPr id="37" name="Shape 27"/>
          <p:cNvSpPr/>
          <p:nvPr/>
        </p:nvSpPr>
        <p:spPr>
          <a:xfrm>
            <a:off x="6400800" y="4581144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28"/>
          <p:cNvSpPr/>
          <p:nvPr/>
        </p:nvSpPr>
        <p:spPr>
          <a:xfrm>
            <a:off x="6492240" y="4581144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29"/>
          <p:cNvSpPr/>
          <p:nvPr/>
        </p:nvSpPr>
        <p:spPr>
          <a:xfrm>
            <a:off x="6720840" y="47183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QSE</a:t>
            </a:r>
            <a:endParaRPr lang="fr-FR" sz="1600" noProof="0" dirty="0"/>
          </a:p>
        </p:txBody>
      </p:sp>
      <p:sp>
        <p:nvSpPr>
          <p:cNvPr id="40" name="Text 30"/>
          <p:cNvSpPr/>
          <p:nvPr/>
        </p:nvSpPr>
        <p:spPr>
          <a:xfrm>
            <a:off x="6720840" y="508406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 les manipulations. Met à jour le DUERP. Pilote la maintenance préventive.</a:t>
            </a:r>
            <a:endParaRPr lang="fr-FR" sz="1200" noProof="0" dirty="0"/>
          </a:p>
        </p:txBody>
      </p:sp>
      <p:sp>
        <p:nvSpPr>
          <p:cNvPr id="41" name="Text 3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kern="0" spc="4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STD-PP-P15  •  Changement de batterie  •  CLR Champigneulles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4907128" y="1280160"/>
            <a:ext cx="2377440" cy="237744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6585" y="1969618"/>
            <a:ext cx="998525" cy="998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420624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rigueur</a:t>
            </a:r>
            <a:endParaRPr lang="fr-FR" sz="4400" noProof="0" dirty="0"/>
          </a:p>
        </p:txBody>
      </p:sp>
      <p:sp>
        <p:nvSpPr>
          <p:cNvPr id="5" name="Text 2"/>
          <p:cNvSpPr/>
          <p:nvPr/>
        </p:nvSpPr>
        <p:spPr>
          <a:xfrm>
            <a:off x="914400" y="493776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4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 ici.</a:t>
            </a:r>
            <a:endParaRPr lang="fr-FR" sz="4400" noProof="0" dirty="0"/>
          </a:p>
        </p:txBody>
      </p:sp>
      <p:sp>
        <p:nvSpPr>
          <p:cNvPr id="6" name="Text 3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kern="0" spc="6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P15   •   CHANGEMENT DE BATTERIE   •   REXEL CLR CHAMPIGNEULLES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402</Words>
  <Application>Microsoft Office PowerPoint</Application>
  <PresentationFormat>Grand écran</PresentationFormat>
  <Paragraphs>98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Rexel France — CLR Champigneulles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STD-PP-P15 — TOGGER</dc:title>
  <dc:subject>PptxGenJS Presentation</dc:subject>
  <dc:creator>PptxGenJS</dc:creator>
  <cp:lastModifiedBy>Georges, Charlene</cp:lastModifiedBy>
  <cp:revision>2</cp:revision>
  <dcterms:created xsi:type="dcterms:W3CDTF">2026-05-12T08:00:30Z</dcterms:created>
  <dcterms:modified xsi:type="dcterms:W3CDTF">2026-06-03T13:54:29Z</dcterms:modified>
</cp:coreProperties>
</file>