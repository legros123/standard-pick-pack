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7104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svg"/><Relationship Id="rId5" Type="http://schemas.openxmlformats.org/officeDocument/2006/relationships/image" Target="../media/image7.svg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svg"/><Relationship Id="rId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Icon"/>
          <p:cNvSpPr/>
          <p:nvPr/>
        </p:nvSpPr>
        <p:spPr>
          <a:xfrm>
            <a:off x="777240" y="1600200"/>
            <a:ext cx="3657600" cy="3657600"/>
          </a:xfrm>
          <a:prstGeom prst="ellipse">
            <a:avLst/>
          </a:prstGeom>
          <a:solidFill>
            <a:srgbClr val="1E2A44"/>
          </a:solidFill>
          <a:ln w="254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37944" y="2660904"/>
            <a:ext cx="1536192" cy="153619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698480" y="502920"/>
            <a:ext cx="164592" cy="164592"/>
          </a:xfrm>
          <a:prstGeom prst="ellipse">
            <a:avLst/>
          </a:prstGeom>
          <a:solidFill>
            <a:srgbClr val="E89B2C"/>
          </a:solidFill>
          <a:ln w="127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2"/>
          <p:cNvSpPr/>
          <p:nvPr/>
        </p:nvSpPr>
        <p:spPr>
          <a:xfrm>
            <a:off x="11064240" y="502920"/>
            <a:ext cx="164592" cy="164592"/>
          </a:xfrm>
          <a:prstGeom prst="ellipse">
            <a:avLst/>
          </a:prstGeom>
          <a:solidFill>
            <a:srgbClr val="E89B2C"/>
          </a:solidFill>
          <a:ln w="127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11430000" y="502920"/>
            <a:ext cx="164592" cy="164592"/>
          </a:xfrm>
          <a:prstGeom prst="ellipse">
            <a:avLst/>
          </a:prstGeom>
          <a:solidFill>
            <a:srgbClr val="E89B2C"/>
          </a:solidFill>
          <a:ln w="127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521208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REXEL FRANCE  •  CLR CHAMPIGNEULLES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212080" y="1371600"/>
            <a:ext cx="2011680" cy="457200"/>
          </a:xfrm>
          <a:prstGeom prst="roundRect">
            <a:avLst>
              <a:gd name="adj" fmla="val 10000"/>
            </a:avLst>
          </a:prstGeom>
          <a:solidFill>
            <a:srgbClr val="E89B2C"/>
          </a:solidFill>
          <a:ln w="127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5212080" y="1371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P18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120640" y="2011680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6000" dirty="0"/>
          </a:p>
        </p:txBody>
      </p:sp>
      <p:sp>
        <p:nvSpPr>
          <p:cNvPr id="11" name="Text 8"/>
          <p:cNvSpPr/>
          <p:nvPr/>
        </p:nvSpPr>
        <p:spPr>
          <a:xfrm>
            <a:off x="5120640" y="3063240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000" b="1" i="1" dirty="0">
                <a:solidFill>
                  <a:srgbClr val="E89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quotidien.</a:t>
            </a:r>
            <a:endParaRPr lang="en-US" sz="6000" dirty="0"/>
          </a:p>
        </p:txBody>
      </p:sp>
      <p:sp>
        <p:nvSpPr>
          <p:cNvPr id="12" name="Text 9"/>
          <p:cNvSpPr/>
          <p:nvPr/>
        </p:nvSpPr>
        <p:spPr>
          <a:xfrm>
            <a:off x="5212080" y="43434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i="1" dirty="0">
                <a:solidFill>
                  <a:srgbClr val="BF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Signaler, circuler, protéger — chaque jour dans le CLR.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5212080" y="50749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kern="0" spc="300" dirty="0">
                <a:solidFill>
                  <a:srgbClr val="A5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STD-PP-P18   •   Février 2026   •   Formation opérateur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0" y="63550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40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&amp; Pack  —  Document contrôlé  —  Usage interne</a:t>
            </a:r>
            <a:endParaRPr lang="en-US" sz="1100" dirty="0"/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Icon"/>
          <p:cNvSpPr/>
          <p:nvPr/>
        </p:nvSpPr>
        <p:spPr>
          <a:xfrm>
            <a:off x="4724248" y="822960"/>
            <a:ext cx="2743200" cy="2743200"/>
          </a:xfrm>
          <a:prstGeom prst="ellipse">
            <a:avLst/>
          </a:prstGeom>
          <a:solidFill>
            <a:srgbClr val="1E2A44"/>
          </a:solidFill>
          <a:ln w="254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19776" y="1618488"/>
            <a:ext cx="1152144" cy="11521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443484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Une anomalie,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914400" y="507492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i="1" dirty="0">
                <a:solidFill>
                  <a:srgbClr val="E89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signalement. »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0" y="598932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kern="0" spc="80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FONDATEUR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Icon"/>
          <p:cNvSpPr/>
          <p:nvPr/>
        </p:nvSpPr>
        <p:spPr>
          <a:xfrm>
            <a:off x="502920" y="411480"/>
            <a:ext cx="640080" cy="640080"/>
          </a:xfrm>
          <a:prstGeom prst="ellipse">
            <a:avLst/>
          </a:prstGeom>
          <a:solidFill>
            <a:srgbClr val="1E2A44"/>
          </a:solidFill>
          <a:ln w="254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8543" y="597103"/>
            <a:ext cx="268834" cy="2688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dans le CLR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371600" y="8412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trois axes du quotidien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332720" y="457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kern="0" spc="400" dirty="0">
                <a:solidFill>
                  <a:srgbClr val="E89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03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0332720" y="868680"/>
            <a:ext cx="1371600" cy="0"/>
          </a:xfrm>
          <a:prstGeom prst="line">
            <a:avLst/>
          </a:prstGeom>
          <a:noFill/>
          <a:ln w="1905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952348" y="1691640"/>
            <a:ext cx="3246120" cy="91440"/>
          </a:xfrm>
          <a:prstGeom prst="rect">
            <a:avLst/>
          </a:prstGeom>
          <a:solidFill>
            <a:srgbClr val="E89B2C"/>
          </a:solidFill>
          <a:ln w="127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952348" y="1783080"/>
            <a:ext cx="324612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1981048" y="2103120"/>
            <a:ext cx="1188720" cy="1188720"/>
          </a:xfrm>
          <a:prstGeom prst="ellipse">
            <a:avLst/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78228" y="2400300"/>
            <a:ext cx="594360" cy="5943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52348" y="36118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Signaler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1135228" y="416052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 anomalie </a:t>
            </a:r>
            <a:r>
              <a:rPr lang="en-US" sz="1300" dirty="0" err="1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palletier</a:t>
            </a:r>
            <a:r>
              <a:rPr lang="en-US" sz="130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engin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472788" y="1691640"/>
            <a:ext cx="3246120" cy="91440"/>
          </a:xfrm>
          <a:prstGeom prst="rect">
            <a:avLst/>
          </a:prstGeom>
          <a:solidFill>
            <a:srgbClr val="E89B2C"/>
          </a:solidFill>
          <a:ln w="127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1"/>
          <p:cNvSpPr/>
          <p:nvPr/>
        </p:nvSpPr>
        <p:spPr>
          <a:xfrm>
            <a:off x="4472788" y="1783080"/>
            <a:ext cx="324612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2"/>
          <p:cNvSpPr/>
          <p:nvPr/>
        </p:nvSpPr>
        <p:spPr>
          <a:xfrm>
            <a:off x="5501488" y="2103120"/>
            <a:ext cx="1188720" cy="1188720"/>
          </a:xfrm>
          <a:prstGeom prst="ellipse">
            <a:avLst/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98668" y="2400300"/>
            <a:ext cx="594360" cy="5943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472788" y="36118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Circuler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4655668" y="416052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Allées piétonnes, sens, stops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7993228" y="1691640"/>
            <a:ext cx="3246120" cy="91440"/>
          </a:xfrm>
          <a:prstGeom prst="rect">
            <a:avLst/>
          </a:prstGeom>
          <a:solidFill>
            <a:srgbClr val="E89B2C"/>
          </a:solidFill>
          <a:ln w="127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6"/>
          <p:cNvSpPr/>
          <p:nvPr/>
        </p:nvSpPr>
        <p:spPr>
          <a:xfrm>
            <a:off x="7993228" y="1783080"/>
            <a:ext cx="324612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17"/>
          <p:cNvSpPr/>
          <p:nvPr/>
        </p:nvSpPr>
        <p:spPr>
          <a:xfrm>
            <a:off x="9021928" y="2103120"/>
            <a:ext cx="1188720" cy="1188720"/>
          </a:xfrm>
          <a:prstGeom prst="ellipse">
            <a:avLst/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19108" y="2400300"/>
            <a:ext cx="594360" cy="5943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993228" y="36118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Protéger</a:t>
            </a:r>
            <a:endParaRPr lang="en-US" sz="2200" dirty="0"/>
          </a:p>
        </p:txBody>
      </p:sp>
      <p:sp>
        <p:nvSpPr>
          <p:cNvPr id="25" name="Text 19"/>
          <p:cNvSpPr/>
          <p:nvPr/>
        </p:nvSpPr>
        <p:spPr>
          <a:xfrm>
            <a:off x="8176108" y="416052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Gilet fermé, gants, cutter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457200" y="5989320"/>
            <a:ext cx="11277295" cy="50292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5800" y="6126480"/>
            <a:ext cx="228600" cy="2286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005840" y="5989320"/>
            <a:ext cx="103628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anomalie signalée = un risque évité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Icon"/>
          <p:cNvSpPr/>
          <p:nvPr/>
        </p:nvSpPr>
        <p:spPr>
          <a:xfrm>
            <a:off x="502920" y="411480"/>
            <a:ext cx="640080" cy="640080"/>
          </a:xfrm>
          <a:prstGeom prst="ellipse">
            <a:avLst/>
          </a:prstGeom>
          <a:solidFill>
            <a:srgbClr val="1E2A44"/>
          </a:solidFill>
          <a:ln w="254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8543" y="597103"/>
            <a:ext cx="268834" cy="2688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Bonnes pratiques &amp; interdits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371600" y="8412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quotidien dans les allées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332720" y="457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kern="0" spc="400" dirty="0">
                <a:solidFill>
                  <a:srgbClr val="E89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03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0332720" y="868680"/>
            <a:ext cx="1371600" cy="0"/>
          </a:xfrm>
          <a:prstGeom prst="line">
            <a:avLst/>
          </a:prstGeom>
          <a:noFill/>
          <a:ln w="1905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640080" y="1691640"/>
            <a:ext cx="91440" cy="4023360"/>
          </a:xfrm>
          <a:prstGeom prst="rect">
            <a:avLst/>
          </a:prstGeom>
          <a:solidFill>
            <a:srgbClr val="21A567"/>
          </a:solidFill>
          <a:ln w="12700">
            <a:solidFill>
              <a:srgbClr val="21A5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731520" y="1691640"/>
            <a:ext cx="534924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960120" y="1920240"/>
            <a:ext cx="502920" cy="502920"/>
          </a:xfrm>
          <a:prstGeom prst="ellipse">
            <a:avLst/>
          </a:prstGeom>
          <a:solidFill>
            <a:srgbClr val="21A567"/>
          </a:solidFill>
          <a:ln w="12700">
            <a:solidFill>
              <a:srgbClr val="21A5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5850" y="204597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19202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kern="0" spc="600" dirty="0">
                <a:solidFill>
                  <a:srgbClr val="21A5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FAIRE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960120" y="2788920"/>
            <a:ext cx="365760" cy="365760"/>
          </a:xfrm>
          <a:prstGeom prst="ellipse">
            <a:avLst/>
          </a:prstGeom>
          <a:solidFill>
            <a:srgbClr val="21A567"/>
          </a:solidFill>
          <a:ln w="12700">
            <a:solidFill>
              <a:srgbClr val="21A5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0"/>
          <p:cNvSpPr/>
          <p:nvPr/>
        </p:nvSpPr>
        <p:spPr>
          <a:xfrm>
            <a:off x="960120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463040" y="274320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Signaler palette cassée ou mal sanglée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960120" y="3566160"/>
            <a:ext cx="365760" cy="365760"/>
          </a:xfrm>
          <a:prstGeom prst="ellipse">
            <a:avLst/>
          </a:prstGeom>
          <a:solidFill>
            <a:srgbClr val="21A567"/>
          </a:solidFill>
          <a:ln w="12700">
            <a:solidFill>
              <a:srgbClr val="21A5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3"/>
          <p:cNvSpPr/>
          <p:nvPr/>
        </p:nvSpPr>
        <p:spPr>
          <a:xfrm>
            <a:off x="960120" y="3566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463040" y="352044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Marquer les stops en fin d'allée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960120" y="4343400"/>
            <a:ext cx="365760" cy="365760"/>
          </a:xfrm>
          <a:prstGeom prst="ellipse">
            <a:avLst/>
          </a:prstGeom>
          <a:solidFill>
            <a:srgbClr val="21A567"/>
          </a:solidFill>
          <a:ln w="12700">
            <a:solidFill>
              <a:srgbClr val="21A5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6"/>
          <p:cNvSpPr/>
          <p:nvPr/>
        </p:nvSpPr>
        <p:spPr>
          <a:xfrm>
            <a:off x="960120" y="4343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1463040" y="429768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signaler oralement devant/derrière engin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6355080" y="1691640"/>
            <a:ext cx="91440" cy="4023360"/>
          </a:xfrm>
          <a:prstGeom prst="rect">
            <a:avLst/>
          </a:prstGeom>
          <a:solidFill>
            <a:srgbClr val="D63B3B"/>
          </a:solidFill>
          <a:ln w="12700">
            <a:solidFill>
              <a:srgbClr val="D63B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19"/>
          <p:cNvSpPr/>
          <p:nvPr/>
        </p:nvSpPr>
        <p:spPr>
          <a:xfrm>
            <a:off x="6446520" y="1691640"/>
            <a:ext cx="534924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0"/>
          <p:cNvSpPr/>
          <p:nvPr/>
        </p:nvSpPr>
        <p:spPr>
          <a:xfrm>
            <a:off x="6675120" y="1920240"/>
            <a:ext cx="502920" cy="502920"/>
          </a:xfrm>
          <a:prstGeom prst="ellipse">
            <a:avLst/>
          </a:prstGeom>
          <a:solidFill>
            <a:srgbClr val="D63B3B"/>
          </a:solidFill>
          <a:ln w="12700">
            <a:solidFill>
              <a:srgbClr val="D63B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00850" y="2045970"/>
            <a:ext cx="251460" cy="25146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7315200" y="19202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kern="0" spc="600" dirty="0">
                <a:solidFill>
                  <a:srgbClr val="D6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JAMAIS</a:t>
            </a:r>
            <a:endParaRPr lang="en-US" sz="1800" dirty="0"/>
          </a:p>
        </p:txBody>
      </p:sp>
      <p:sp>
        <p:nvSpPr>
          <p:cNvPr id="27" name="Shape 22"/>
          <p:cNvSpPr/>
          <p:nvPr/>
        </p:nvSpPr>
        <p:spPr>
          <a:xfrm>
            <a:off x="6675120" y="2788920"/>
            <a:ext cx="365760" cy="365760"/>
          </a:xfrm>
          <a:prstGeom prst="ellipse">
            <a:avLst/>
          </a:prstGeom>
          <a:solidFill>
            <a:srgbClr val="D63B3B"/>
          </a:solidFill>
          <a:ln w="12700">
            <a:solidFill>
              <a:srgbClr val="D63B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48272" y="2862072"/>
            <a:ext cx="219456" cy="219456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178040" y="274320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marche arrière abusive</a:t>
            </a:r>
            <a:endParaRPr lang="en-US" sz="1400" dirty="0"/>
          </a:p>
        </p:txBody>
      </p:sp>
      <p:sp>
        <p:nvSpPr>
          <p:cNvPr id="30" name="Shape 24"/>
          <p:cNvSpPr/>
          <p:nvPr/>
        </p:nvSpPr>
        <p:spPr>
          <a:xfrm>
            <a:off x="6675120" y="3566160"/>
            <a:ext cx="365760" cy="365760"/>
          </a:xfrm>
          <a:prstGeom prst="ellipse">
            <a:avLst/>
          </a:prstGeom>
          <a:solidFill>
            <a:srgbClr val="D63B3B"/>
          </a:solidFill>
          <a:ln w="12700">
            <a:solidFill>
              <a:srgbClr val="D63B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48272" y="3639312"/>
            <a:ext cx="219456" cy="219456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178040" y="352044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se balancer sur les lisses</a:t>
            </a:r>
            <a:endParaRPr lang="en-US" sz="1400" dirty="0"/>
          </a:p>
        </p:txBody>
      </p:sp>
      <p:sp>
        <p:nvSpPr>
          <p:cNvPr id="33" name="Shape 26"/>
          <p:cNvSpPr/>
          <p:nvPr/>
        </p:nvSpPr>
        <p:spPr>
          <a:xfrm>
            <a:off x="6675120" y="4343400"/>
            <a:ext cx="365760" cy="365760"/>
          </a:xfrm>
          <a:prstGeom prst="ellipse">
            <a:avLst/>
          </a:prstGeom>
          <a:solidFill>
            <a:srgbClr val="D63B3B"/>
          </a:solidFill>
          <a:ln w="12700">
            <a:solidFill>
              <a:srgbClr val="D63B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48272" y="4416552"/>
            <a:ext cx="219456" cy="219456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7178040" y="429768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circulation à contresens</a:t>
            </a:r>
            <a:endParaRPr lang="en-US" sz="1400" dirty="0"/>
          </a:p>
        </p:txBody>
      </p:sp>
      <p:sp>
        <p:nvSpPr>
          <p:cNvPr id="36" name="Text 28"/>
          <p:cNvSpPr/>
          <p:nvPr/>
        </p:nvSpPr>
        <p:spPr>
          <a:xfrm>
            <a:off x="0" y="61264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allée respectée  =  une allée sûre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Icon"/>
          <p:cNvSpPr/>
          <p:nvPr/>
        </p:nvSpPr>
        <p:spPr>
          <a:xfrm>
            <a:off x="502920" y="411480"/>
            <a:ext cx="640080" cy="640080"/>
          </a:xfrm>
          <a:prstGeom prst="ellipse">
            <a:avLst/>
          </a:prstGeom>
          <a:solidFill>
            <a:srgbClr val="1E2A44"/>
          </a:solidFill>
          <a:ln w="254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8543" y="597103"/>
            <a:ext cx="268834" cy="2688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clés à surveiller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371600" y="8412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Engin, </a:t>
            </a:r>
            <a:r>
              <a:rPr lang="en-US" sz="1400" i="1" dirty="0" err="1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palletier</a:t>
            </a:r>
            <a:r>
              <a:rPr lang="en-US" sz="1400" i="1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comportement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332720" y="457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kern="0" spc="400" dirty="0">
                <a:solidFill>
                  <a:srgbClr val="E89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03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0332720" y="868680"/>
            <a:ext cx="1371600" cy="0"/>
          </a:xfrm>
          <a:prstGeom prst="line">
            <a:avLst/>
          </a:prstGeom>
          <a:noFill/>
          <a:ln w="1905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815188" y="1828800"/>
            <a:ext cx="333756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2964028" y="18745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400" b="1" dirty="0">
                <a:solidFill>
                  <a:srgbClr val="E1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400" dirty="0"/>
          </a:p>
        </p:txBody>
      </p:sp>
      <p:sp>
        <p:nvSpPr>
          <p:cNvPr id="10" name="Shape 7"/>
          <p:cNvSpPr/>
          <p:nvPr/>
        </p:nvSpPr>
        <p:spPr>
          <a:xfrm>
            <a:off x="1226668" y="2194560"/>
            <a:ext cx="960120" cy="96012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66698" y="2434590"/>
            <a:ext cx="480060" cy="4800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80948" y="33832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Signaler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1180948" y="38404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E89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1180948" y="4434840"/>
            <a:ext cx="548640" cy="0"/>
          </a:xfrm>
          <a:prstGeom prst="line">
            <a:avLst/>
          </a:prstGeom>
          <a:noFill/>
          <a:ln w="19050">
            <a:solidFill>
              <a:srgbClr val="1E2A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1"/>
          <p:cNvSpPr/>
          <p:nvPr/>
        </p:nvSpPr>
        <p:spPr>
          <a:xfrm>
            <a:off x="1180948" y="45720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Engin, </a:t>
            </a:r>
            <a:r>
              <a:rPr lang="en-US" sz="1200" dirty="0" err="1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palletier</a:t>
            </a:r>
            <a:r>
              <a:rPr lang="en-US" sz="120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comportement d'autrui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988156" y="31089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5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7" name="Shape 13"/>
          <p:cNvSpPr/>
          <p:nvPr/>
        </p:nvSpPr>
        <p:spPr>
          <a:xfrm>
            <a:off x="4427068" y="1828800"/>
            <a:ext cx="333756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4"/>
          <p:cNvSpPr/>
          <p:nvPr/>
        </p:nvSpPr>
        <p:spPr>
          <a:xfrm>
            <a:off x="6575908" y="18745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400" b="1" dirty="0">
                <a:solidFill>
                  <a:srgbClr val="E1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400" dirty="0"/>
          </a:p>
        </p:txBody>
      </p:sp>
      <p:sp>
        <p:nvSpPr>
          <p:cNvPr id="19" name="Shape 15"/>
          <p:cNvSpPr/>
          <p:nvPr/>
        </p:nvSpPr>
        <p:spPr>
          <a:xfrm>
            <a:off x="4838548" y="2194560"/>
            <a:ext cx="960120" cy="96012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78578" y="2434590"/>
            <a:ext cx="480060" cy="4800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792828" y="33832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Remplir</a:t>
            </a:r>
            <a:endParaRPr lang="en-US" sz="2200" dirty="0"/>
          </a:p>
        </p:txBody>
      </p:sp>
      <p:sp>
        <p:nvSpPr>
          <p:cNvPr id="22" name="Text 17"/>
          <p:cNvSpPr/>
          <p:nvPr/>
        </p:nvSpPr>
        <p:spPr>
          <a:xfrm>
            <a:off x="4792828" y="38404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E89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carnet</a:t>
            </a:r>
            <a:endParaRPr lang="en-US" sz="2000" dirty="0"/>
          </a:p>
        </p:txBody>
      </p:sp>
      <p:sp>
        <p:nvSpPr>
          <p:cNvPr id="23" name="Shape 18"/>
          <p:cNvSpPr/>
          <p:nvPr/>
        </p:nvSpPr>
        <p:spPr>
          <a:xfrm>
            <a:off x="4792828" y="4434840"/>
            <a:ext cx="548640" cy="0"/>
          </a:xfrm>
          <a:prstGeom prst="line">
            <a:avLst/>
          </a:prstGeom>
          <a:noFill/>
          <a:ln w="19050">
            <a:solidFill>
              <a:srgbClr val="1E2A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19"/>
          <p:cNvSpPr/>
          <p:nvPr/>
        </p:nvSpPr>
        <p:spPr>
          <a:xfrm>
            <a:off x="4792828" y="45720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Feuilles prévues après signalement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7600036" y="31089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5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26" name="Shape 21"/>
          <p:cNvSpPr/>
          <p:nvPr/>
        </p:nvSpPr>
        <p:spPr>
          <a:xfrm>
            <a:off x="8038948" y="1828800"/>
            <a:ext cx="333756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2"/>
          <p:cNvSpPr/>
          <p:nvPr/>
        </p:nvSpPr>
        <p:spPr>
          <a:xfrm>
            <a:off x="10187788" y="18745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400" b="1" dirty="0">
                <a:solidFill>
                  <a:srgbClr val="E1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400" dirty="0"/>
          </a:p>
        </p:txBody>
      </p:sp>
      <p:sp>
        <p:nvSpPr>
          <p:cNvPr id="28" name="Shape 23"/>
          <p:cNvSpPr/>
          <p:nvPr/>
        </p:nvSpPr>
        <p:spPr>
          <a:xfrm>
            <a:off x="8450428" y="2194560"/>
            <a:ext cx="960120" cy="96012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90458" y="2434590"/>
            <a:ext cx="480060" cy="48006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8404708" y="33832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Respecter</a:t>
            </a:r>
            <a:endParaRPr lang="en-US" sz="2200" dirty="0"/>
          </a:p>
        </p:txBody>
      </p:sp>
      <p:sp>
        <p:nvSpPr>
          <p:cNvPr id="31" name="Text 25"/>
          <p:cNvSpPr/>
          <p:nvPr/>
        </p:nvSpPr>
        <p:spPr>
          <a:xfrm>
            <a:off x="8404708" y="38404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E89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circulation</a:t>
            </a:r>
            <a:endParaRPr lang="en-US" sz="2000" dirty="0"/>
          </a:p>
        </p:txBody>
      </p:sp>
      <p:sp>
        <p:nvSpPr>
          <p:cNvPr id="32" name="Shape 26"/>
          <p:cNvSpPr/>
          <p:nvPr/>
        </p:nvSpPr>
        <p:spPr>
          <a:xfrm>
            <a:off x="8404708" y="4434840"/>
            <a:ext cx="548640" cy="0"/>
          </a:xfrm>
          <a:prstGeom prst="line">
            <a:avLst/>
          </a:prstGeom>
          <a:noFill/>
          <a:ln w="19050">
            <a:solidFill>
              <a:srgbClr val="1E2A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27"/>
          <p:cNvSpPr/>
          <p:nvPr/>
        </p:nvSpPr>
        <p:spPr>
          <a:xfrm>
            <a:off x="8404708" y="45720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Sens, marquage, environnement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Signaler  •  Remplir  •  Respecter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800" dirty="0">
                <a:solidFill>
                  <a:srgbClr val="D6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RISQUES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arrive en cas de manquement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94360" cy="45720"/>
          </a:xfrm>
          <a:prstGeom prst="rect">
            <a:avLst/>
          </a:prstGeom>
          <a:solidFill>
            <a:srgbClr val="D63B3B"/>
          </a:solidFill>
          <a:ln w="12700">
            <a:solidFill>
              <a:srgbClr val="D63B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586588" y="2057400"/>
            <a:ext cx="3520440" cy="91440"/>
          </a:xfrm>
          <a:prstGeom prst="rect">
            <a:avLst/>
          </a:prstGeom>
          <a:solidFill>
            <a:srgbClr val="D63B3B"/>
          </a:solidFill>
          <a:ln w="12700">
            <a:solidFill>
              <a:srgbClr val="D63B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586588" y="2148840"/>
            <a:ext cx="3520440" cy="4023360"/>
          </a:xfrm>
          <a:prstGeom prst="rect">
            <a:avLst/>
          </a:prstGeom>
          <a:solidFill>
            <a:srgbClr val="162338"/>
          </a:solidFill>
          <a:ln w="6350">
            <a:solidFill>
              <a:srgbClr val="1F2D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8068" y="242316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98068" y="310896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Chute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998068" y="36576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plein-pied / hauteur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98068" y="4206240"/>
            <a:ext cx="2697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D4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Cerclage au sol, palette mal sanglée,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D4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 qui tombe en hauteur.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98068" y="57607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6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Accident bénin ou grave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335628" y="2057400"/>
            <a:ext cx="3520440" cy="91440"/>
          </a:xfrm>
          <a:prstGeom prst="rect">
            <a:avLst/>
          </a:prstGeom>
          <a:solidFill>
            <a:srgbClr val="D63B3B"/>
          </a:solidFill>
          <a:ln w="12700">
            <a:solidFill>
              <a:srgbClr val="D63B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0"/>
          <p:cNvSpPr/>
          <p:nvPr/>
        </p:nvSpPr>
        <p:spPr>
          <a:xfrm>
            <a:off x="4335628" y="2148840"/>
            <a:ext cx="3520440" cy="4023360"/>
          </a:xfrm>
          <a:prstGeom prst="rect">
            <a:avLst/>
          </a:prstGeom>
          <a:solidFill>
            <a:srgbClr val="162338"/>
          </a:solidFill>
          <a:ln w="6350">
            <a:solidFill>
              <a:srgbClr val="1F2D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47108" y="2423160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747108" y="310896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Coupure</a:t>
            </a:r>
            <a:endParaRPr lang="en-US" sz="2800" dirty="0"/>
          </a:p>
        </p:txBody>
      </p:sp>
      <p:sp>
        <p:nvSpPr>
          <p:cNvPr id="16" name="Text 12"/>
          <p:cNvSpPr/>
          <p:nvPr/>
        </p:nvSpPr>
        <p:spPr>
          <a:xfrm>
            <a:off x="4747108" y="36576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blessure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747108" y="4206240"/>
            <a:ext cx="2697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D4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Cutter mal entretenu,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D4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gants non changés régulièrement.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747108" y="57607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6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Arrêt de travail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8084668" y="2057400"/>
            <a:ext cx="3520440" cy="91440"/>
          </a:xfrm>
          <a:prstGeom prst="rect">
            <a:avLst/>
          </a:prstGeom>
          <a:solidFill>
            <a:srgbClr val="D63B3B"/>
          </a:solidFill>
          <a:ln w="12700">
            <a:solidFill>
              <a:srgbClr val="D63B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6"/>
          <p:cNvSpPr/>
          <p:nvPr/>
        </p:nvSpPr>
        <p:spPr>
          <a:xfrm>
            <a:off x="8084668" y="2148840"/>
            <a:ext cx="3520440" cy="4023360"/>
          </a:xfrm>
          <a:prstGeom prst="rect">
            <a:avLst/>
          </a:prstGeom>
          <a:solidFill>
            <a:srgbClr val="162338"/>
          </a:solidFill>
          <a:ln w="6350">
            <a:solidFill>
              <a:srgbClr val="1F2D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96148" y="2423160"/>
            <a:ext cx="502920" cy="5029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496148" y="310896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</a:t>
            </a:r>
            <a:endParaRPr lang="en-US" sz="2800" dirty="0"/>
          </a:p>
        </p:txBody>
      </p:sp>
      <p:sp>
        <p:nvSpPr>
          <p:cNvPr id="23" name="Text 18"/>
          <p:cNvSpPr/>
          <p:nvPr/>
        </p:nvSpPr>
        <p:spPr>
          <a:xfrm>
            <a:off x="8496148" y="36576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 / piéton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8496148" y="4206240"/>
            <a:ext cx="2697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D4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Marche arrière, contresens,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D4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de signalement vocal.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8496148" y="57607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6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AT grave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0" y="63550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A5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signalement systématique protège chaque collaborateur.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Icon"/>
          <p:cNvSpPr/>
          <p:nvPr/>
        </p:nvSpPr>
        <p:spPr>
          <a:xfrm>
            <a:off x="502920" y="411480"/>
            <a:ext cx="640080" cy="640080"/>
          </a:xfrm>
          <a:prstGeom prst="ellipse">
            <a:avLst/>
          </a:prstGeom>
          <a:solidFill>
            <a:srgbClr val="1E2A44"/>
          </a:solidFill>
          <a:ln w="254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8543" y="597103"/>
            <a:ext cx="268834" cy="2688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&amp; responsabilités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371600" y="8412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quotidien, chaque opérateur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5486400" cy="59436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822960" y="1737360"/>
            <a:ext cx="320040" cy="320040"/>
          </a:xfrm>
          <a:prstGeom prst="ellipse">
            <a:avLst/>
          </a:prstGeom>
          <a:solidFill>
            <a:srgbClr val="E89B2C"/>
          </a:solidFill>
          <a:ln w="127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2970" y="1817370"/>
            <a:ext cx="160020" cy="1600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16002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CHECKLIST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640080" y="2194560"/>
            <a:ext cx="5486400" cy="3703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7"/>
          <p:cNvSpPr/>
          <p:nvPr/>
        </p:nvSpPr>
        <p:spPr>
          <a:xfrm>
            <a:off x="914400" y="251460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21A5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9264" y="2560320"/>
            <a:ext cx="182880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2478024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Gilet de sécurité fermé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914400" y="306324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21A5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9264" y="3108960"/>
            <a:ext cx="182880" cy="2011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71600" y="3026664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 signalées (engin, </a:t>
            </a:r>
            <a:r>
              <a:rPr lang="en-US" sz="1300" dirty="0" err="1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palletier</a:t>
            </a:r>
            <a:r>
              <a:rPr lang="en-US" sz="13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…)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914400" y="361188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21A5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9264" y="3657600"/>
            <a:ext cx="182880" cy="20116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371600" y="3575304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marqués en fin d'allée</a:t>
            </a:r>
            <a:endParaRPr lang="en-US" sz="1300" dirty="0"/>
          </a:p>
        </p:txBody>
      </p:sp>
      <p:sp>
        <p:nvSpPr>
          <p:cNvPr id="20" name="Shape 13"/>
          <p:cNvSpPr/>
          <p:nvPr/>
        </p:nvSpPr>
        <p:spPr>
          <a:xfrm>
            <a:off x="914400" y="416052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21A5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9264" y="4206240"/>
            <a:ext cx="182880" cy="20116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371600" y="4123944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 de circulation respecté</a:t>
            </a:r>
            <a:endParaRPr lang="en-US" sz="1300" dirty="0"/>
          </a:p>
        </p:txBody>
      </p:sp>
      <p:sp>
        <p:nvSpPr>
          <p:cNvPr id="23" name="Shape 15"/>
          <p:cNvSpPr/>
          <p:nvPr/>
        </p:nvSpPr>
        <p:spPr>
          <a:xfrm>
            <a:off x="914400" y="470916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21A5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9264" y="4754880"/>
            <a:ext cx="182880" cy="20116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371600" y="4672584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Cerclages/films ramassés au sol</a:t>
            </a:r>
            <a:endParaRPr lang="en-US" sz="1300" dirty="0"/>
          </a:p>
        </p:txBody>
      </p:sp>
      <p:sp>
        <p:nvSpPr>
          <p:cNvPr id="26" name="Shape 17"/>
          <p:cNvSpPr/>
          <p:nvPr/>
        </p:nvSpPr>
        <p:spPr>
          <a:xfrm>
            <a:off x="914400" y="525780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21A5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9264" y="5303520"/>
            <a:ext cx="182880" cy="201168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1371600" y="5221224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Cutter et gants vérifiés</a:t>
            </a:r>
            <a:endParaRPr lang="en-US" sz="1300" dirty="0"/>
          </a:p>
        </p:txBody>
      </p:sp>
      <p:sp>
        <p:nvSpPr>
          <p:cNvPr id="29" name="Shape 19"/>
          <p:cNvSpPr/>
          <p:nvPr/>
        </p:nvSpPr>
        <p:spPr>
          <a:xfrm>
            <a:off x="6400800" y="1600200"/>
            <a:ext cx="91440" cy="1325880"/>
          </a:xfrm>
          <a:prstGeom prst="rect">
            <a:avLst/>
          </a:prstGeom>
          <a:solidFill>
            <a:srgbClr val="E89B2C"/>
          </a:solidFill>
          <a:ln w="127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Shape 20"/>
          <p:cNvSpPr/>
          <p:nvPr/>
        </p:nvSpPr>
        <p:spPr>
          <a:xfrm>
            <a:off x="6492240" y="1600200"/>
            <a:ext cx="512064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1"/>
          <p:cNvSpPr/>
          <p:nvPr/>
        </p:nvSpPr>
        <p:spPr>
          <a:xfrm>
            <a:off x="6720840" y="17373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Opérateur</a:t>
            </a:r>
            <a:endParaRPr lang="en-US" sz="1600" dirty="0"/>
          </a:p>
        </p:txBody>
      </p:sp>
      <p:sp>
        <p:nvSpPr>
          <p:cNvPr id="32" name="Text 22"/>
          <p:cNvSpPr/>
          <p:nvPr/>
        </p:nvSpPr>
        <p:spPr>
          <a:xfrm>
            <a:off x="6720840" y="210312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Signale, remplit le carnet, respecte la circulation, ramasse les cerclages, change ses gants.</a:t>
            </a:r>
            <a:endParaRPr lang="en-US" sz="1200" dirty="0"/>
          </a:p>
        </p:txBody>
      </p:sp>
      <p:sp>
        <p:nvSpPr>
          <p:cNvPr id="33" name="Shape 23"/>
          <p:cNvSpPr/>
          <p:nvPr/>
        </p:nvSpPr>
        <p:spPr>
          <a:xfrm>
            <a:off x="6400800" y="3090672"/>
            <a:ext cx="91440" cy="1325880"/>
          </a:xfrm>
          <a:prstGeom prst="rect">
            <a:avLst/>
          </a:prstGeom>
          <a:solidFill>
            <a:srgbClr val="E89B2C"/>
          </a:solidFill>
          <a:ln w="127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Shape 24"/>
          <p:cNvSpPr/>
          <p:nvPr/>
        </p:nvSpPr>
        <p:spPr>
          <a:xfrm>
            <a:off x="6492240" y="3090672"/>
            <a:ext cx="512064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25"/>
          <p:cNvSpPr/>
          <p:nvPr/>
        </p:nvSpPr>
        <p:spPr>
          <a:xfrm>
            <a:off x="6720840" y="322783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Pilotes &amp; Superviseur</a:t>
            </a:r>
            <a:endParaRPr lang="en-US" sz="1600" dirty="0"/>
          </a:p>
        </p:txBody>
      </p:sp>
      <p:sp>
        <p:nvSpPr>
          <p:cNvPr id="36" name="Text 26"/>
          <p:cNvSpPr/>
          <p:nvPr/>
        </p:nvSpPr>
        <p:spPr>
          <a:xfrm>
            <a:off x="6720840" y="3593592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Reçoivent les signalements. Contrôlent les carnets. Font remonter les dysfonctionnements engin.</a:t>
            </a:r>
            <a:endParaRPr lang="en-US" sz="1200" dirty="0"/>
          </a:p>
        </p:txBody>
      </p:sp>
      <p:sp>
        <p:nvSpPr>
          <p:cNvPr id="37" name="Shape 27"/>
          <p:cNvSpPr/>
          <p:nvPr/>
        </p:nvSpPr>
        <p:spPr>
          <a:xfrm>
            <a:off x="6400800" y="4581144"/>
            <a:ext cx="91440" cy="1325880"/>
          </a:xfrm>
          <a:prstGeom prst="rect">
            <a:avLst/>
          </a:prstGeom>
          <a:solidFill>
            <a:srgbClr val="E89B2C"/>
          </a:solidFill>
          <a:ln w="127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Shape 28"/>
          <p:cNvSpPr/>
          <p:nvPr/>
        </p:nvSpPr>
        <p:spPr>
          <a:xfrm>
            <a:off x="6492240" y="4581144"/>
            <a:ext cx="512064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29"/>
          <p:cNvSpPr/>
          <p:nvPr/>
        </p:nvSpPr>
        <p:spPr>
          <a:xfrm>
            <a:off x="6720840" y="4718304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Resp. QSE</a:t>
            </a:r>
            <a:endParaRPr lang="en-US" sz="1600" dirty="0"/>
          </a:p>
        </p:txBody>
      </p:sp>
      <p:sp>
        <p:nvSpPr>
          <p:cNvPr id="40" name="Text 30"/>
          <p:cNvSpPr/>
          <p:nvPr/>
        </p:nvSpPr>
        <p:spPr>
          <a:xfrm>
            <a:off x="6720840" y="5084064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 les indicateurs sécurité. Met à jour le DUERP. Suit les AT et presqu'accidents.</a:t>
            </a:r>
            <a:endParaRPr lang="en-US" sz="1200" dirty="0"/>
          </a:p>
        </p:txBody>
      </p:sp>
      <p:sp>
        <p:nvSpPr>
          <p:cNvPr id="41" name="Text 31"/>
          <p:cNvSpPr/>
          <p:nvPr/>
        </p:nvSpPr>
        <p:spPr>
          <a:xfrm>
            <a:off x="0" y="63550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40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STD-PP-P18  •  Sécurité  •  CLR Champigneulles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Icon"/>
          <p:cNvSpPr/>
          <p:nvPr/>
        </p:nvSpPr>
        <p:spPr>
          <a:xfrm>
            <a:off x="4907128" y="1280160"/>
            <a:ext cx="2377440" cy="2377440"/>
          </a:xfrm>
          <a:prstGeom prst="ellipse">
            <a:avLst/>
          </a:prstGeom>
          <a:solidFill>
            <a:srgbClr val="1E2A44"/>
          </a:solidFill>
          <a:ln w="254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96585" y="1969618"/>
            <a:ext cx="998525" cy="9985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4206240"/>
            <a:ext cx="103628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sécurité,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914400" y="4937760"/>
            <a:ext cx="103628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i="1" dirty="0">
                <a:solidFill>
                  <a:srgbClr val="E89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l'affaire de tous.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0" y="63550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60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P18   •   SÉCURITÉ   •   REXEL CLR CHAMPIGNEULLES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389</Words>
  <Application>Microsoft Office PowerPoint</Application>
  <PresentationFormat>Grand écran</PresentationFormat>
  <Paragraphs>98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Rexel France — CLR Champigneulles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STD-PP-P18 — SÉCURITÉ</dc:title>
  <dc:subject>PptxGenJS Presentation</dc:subject>
  <dc:creator>PptxGenJS</dc:creator>
  <cp:lastModifiedBy>Georges, Charlene</cp:lastModifiedBy>
  <cp:revision>2</cp:revision>
  <dcterms:created xsi:type="dcterms:W3CDTF">2026-05-12T08:00:31Z</dcterms:created>
  <dcterms:modified xsi:type="dcterms:W3CDTF">2026-06-03T14:45:14Z</dcterms:modified>
</cp:coreProperties>
</file>