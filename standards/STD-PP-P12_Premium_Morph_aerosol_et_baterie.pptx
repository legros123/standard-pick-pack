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1588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8138160" y="36576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2"/>
          <p:cNvSpPr/>
          <p:nvPr/>
        </p:nvSpPr>
        <p:spPr>
          <a:xfrm>
            <a:off x="8503920" y="36576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926080" cy="292608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82880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31920" y="457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b="1" kern="0" spc="600" noProof="0" dirty="0">
                <a:solidFill>
                  <a:srgbClr val="94A3B8"/>
                </a:solidFill>
                <a:latin typeface="Calibri" pitchFamily="34" charset="0"/>
              </a:rPr>
              <a:t>REXEL FRANCE  •  CLR CHAMPIGNEULLES</a:t>
            </a:r>
          </a:p>
        </p:txBody>
      </p:sp>
      <p:sp>
        <p:nvSpPr>
          <p:cNvPr id="8" name="Shape 5"/>
          <p:cNvSpPr/>
          <p:nvPr/>
        </p:nvSpPr>
        <p:spPr>
          <a:xfrm>
            <a:off x="3931920" y="1005840"/>
            <a:ext cx="160020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6"/>
          <p:cNvSpPr/>
          <p:nvPr/>
        </p:nvSpPr>
        <p:spPr>
          <a:xfrm>
            <a:off x="3931920" y="1005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kern="0" spc="300" noProof="0" dirty="0">
                <a:solidFill>
                  <a:srgbClr val="0A1628"/>
                </a:solidFill>
                <a:latin typeface="Calibri" pitchFamily="34" charset="0"/>
              </a:rPr>
              <a:t>STANDARD P12</a:t>
            </a:r>
          </a:p>
        </p:txBody>
      </p:sp>
      <p:sp>
        <p:nvSpPr>
          <p:cNvPr id="10" name="Text 7"/>
          <p:cNvSpPr/>
          <p:nvPr/>
        </p:nvSpPr>
        <p:spPr>
          <a:xfrm>
            <a:off x="3931920" y="14173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6000" b="1" noProof="0" dirty="0">
                <a:solidFill>
                  <a:srgbClr val="F5F7FA"/>
                </a:solidFill>
                <a:latin typeface="Calibri" pitchFamily="34" charset="0"/>
              </a:rPr>
              <a:t>Aérosol</a:t>
            </a:r>
          </a:p>
        </p:txBody>
      </p:sp>
      <p:sp>
        <p:nvSpPr>
          <p:cNvPr id="11" name="Text 8"/>
          <p:cNvSpPr/>
          <p:nvPr/>
        </p:nvSpPr>
        <p:spPr>
          <a:xfrm>
            <a:off x="3931920" y="21488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6000" b="1" i="1" noProof="0" dirty="0">
                <a:solidFill>
                  <a:srgbClr val="F59E0B"/>
                </a:solidFill>
                <a:latin typeface="Calibri" pitchFamily="34" charset="0"/>
              </a:rPr>
              <a:t>&amp; Batterie.</a:t>
            </a:r>
          </a:p>
        </p:txBody>
      </p:sp>
      <p:sp>
        <p:nvSpPr>
          <p:cNvPr id="12" name="Text 9"/>
          <p:cNvSpPr/>
          <p:nvPr/>
        </p:nvSpPr>
        <p:spPr>
          <a:xfrm>
            <a:off x="3931920" y="3063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i="1" noProof="0" dirty="0">
                <a:solidFill>
                  <a:srgbClr val="94A3B8"/>
                </a:solidFill>
                <a:latin typeface="Calibri" pitchFamily="34" charset="0"/>
              </a:rPr>
              <a:t>Produits à risque — Zéro tolérance sur le conditionnement.</a:t>
            </a:r>
          </a:p>
        </p:txBody>
      </p:sp>
      <p:sp>
        <p:nvSpPr>
          <p:cNvPr id="13" name="Shape 10"/>
          <p:cNvSpPr/>
          <p:nvPr/>
        </p:nvSpPr>
        <p:spPr>
          <a:xfrm>
            <a:off x="3931920" y="3657600"/>
            <a:ext cx="54864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1"/>
          <p:cNvSpPr/>
          <p:nvPr/>
        </p:nvSpPr>
        <p:spPr>
          <a:xfrm>
            <a:off x="3931920" y="3840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kern="0" spc="200" noProof="0" dirty="0">
                <a:solidFill>
                  <a:srgbClr val="94A3B8"/>
                </a:solidFill>
                <a:latin typeface="Calibri" pitchFamily="34" charset="0"/>
              </a:rPr>
              <a:t>STD-PP-P12   •   Mars 2026   •   Formation opérateur</a:t>
            </a:r>
          </a:p>
        </p:txBody>
      </p:sp>
      <p:sp>
        <p:nvSpPr>
          <p:cNvPr id="15" name="Text 1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kern="0" spc="300" noProof="0" dirty="0">
                <a:solidFill>
                  <a:srgbClr val="334155"/>
                </a:solidFill>
                <a:latin typeface="Calibri" pitchFamily="34" charset="0"/>
              </a:rPr>
              <a:t>Pick &amp; Pack  —  Document contrôlé  —  Usage interne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274320"/>
            <a:ext cx="3108960" cy="310896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09728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800" b="1" noProof="0" dirty="0">
                <a:solidFill>
                  <a:srgbClr val="F5F7FA"/>
                </a:solidFill>
                <a:latin typeface="Calibri" pitchFamily="34" charset="0"/>
              </a:rPr>
              <a:t>« Un aérosol non calé,</a:t>
            </a:r>
          </a:p>
        </p:txBody>
      </p:sp>
      <p:sp>
        <p:nvSpPr>
          <p:cNvPr id="5" name="Text 2"/>
          <p:cNvSpPr/>
          <p:nvPr/>
        </p:nvSpPr>
        <p:spPr>
          <a:xfrm>
            <a:off x="548640" y="4160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800" b="1" i="1" noProof="0" dirty="0">
                <a:solidFill>
                  <a:srgbClr val="F59E0B"/>
                </a:solidFill>
                <a:latin typeface="Calibri" pitchFamily="34" charset="0"/>
              </a:rPr>
              <a:t>une batterie non protégée = incident. »</a:t>
            </a:r>
          </a:p>
        </p:txBody>
      </p:sp>
      <p:sp>
        <p:nvSpPr>
          <p:cNvPr id="6" name="Text 3"/>
          <p:cNvSpPr/>
          <p:nvPr/>
        </p:nvSpPr>
        <p:spPr>
          <a:xfrm>
            <a:off x="54864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kern="0" spc="800" noProof="0" dirty="0">
                <a:solidFill>
                  <a:srgbClr val="94A3B8"/>
                </a:solidFill>
                <a:latin typeface="Calibri" pitchFamily="34" charset="0"/>
              </a:rPr>
              <a:t>PRINCIPE FONDATEUR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A1628"/>
                </a:solidFill>
                <a:latin typeface="Calibri" pitchFamily="34" charset="0"/>
              </a:rPr>
              <a:t>Aérosol — 3 gestes clés</a:t>
            </a:r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</a:rPr>
              <a:t>Protéger, scotcher, refermer — zéro exception</a:t>
            </a:r>
          </a:p>
        </p:txBody>
      </p:sp>
      <p:sp>
        <p:nvSpPr>
          <p:cNvPr id="6" name="Text 3"/>
          <p:cNvSpPr/>
          <p:nvPr/>
        </p:nvSpPr>
        <p:spPr>
          <a:xfrm>
            <a:off x="7772400" y="502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b="1" kern="0" spc="400" noProof="0" dirty="0">
                <a:solidFill>
                  <a:srgbClr val="F59E0B"/>
                </a:solidFill>
                <a:latin typeface="Calibri" pitchFamily="34" charset="0"/>
              </a:rPr>
              <a:t>01 / 03</a:t>
            </a:r>
          </a:p>
        </p:txBody>
      </p:sp>
      <p:sp>
        <p:nvSpPr>
          <p:cNvPr id="7" name="Shape 4"/>
          <p:cNvSpPr/>
          <p:nvPr/>
        </p:nvSpPr>
        <p:spPr>
          <a:xfrm>
            <a:off x="7772400" y="822960"/>
            <a:ext cx="91440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7"/>
          <p:cNvSpPr/>
          <p:nvPr/>
        </p:nvSpPr>
        <p:spPr>
          <a:xfrm>
            <a:off x="1280160" y="1783080"/>
            <a:ext cx="1005840" cy="100584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Icon1"/>
          <p:cNvSpPr/>
          <p:nvPr/>
        </p:nvSpPr>
        <p:spPr>
          <a:xfrm>
            <a:off x="1280160" y="1783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800" b="1" noProof="0" dirty="0">
                <a:solidFill>
                  <a:srgbClr val="F59E0B"/>
                </a:solidFill>
                <a:latin typeface="Calibri" pitchFamily="34" charset="0"/>
              </a:rPr>
              <a:t>■</a:t>
            </a:r>
          </a:p>
        </p:txBody>
      </p:sp>
      <p:sp>
        <p:nvSpPr>
          <p:cNvPr id="12" name="Text Card1Title"/>
          <p:cNvSpPr/>
          <p:nvPr/>
        </p:nvSpPr>
        <p:spPr>
          <a:xfrm>
            <a:off x="68580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b="1" noProof="0" dirty="0">
                <a:solidFill>
                  <a:srgbClr val="0A1628"/>
                </a:solidFill>
                <a:latin typeface="Calibri" pitchFamily="34" charset="0"/>
              </a:rPr>
              <a:t>Protéger</a:t>
            </a:r>
            <a:endParaRPr lang="fr-FR" sz="1800" b="1" noProof="0" dirty="0">
              <a:solidFill>
                <a:srgbClr val="0A1628"/>
              </a:solidFill>
              <a:latin typeface="Calibri" pitchFamily="34" charset="0"/>
            </a:endParaRPr>
          </a:p>
        </p:txBody>
      </p:sp>
      <p:sp>
        <p:nvSpPr>
          <p:cNvPr id="13" name="Text Card1Sub"/>
          <p:cNvSpPr/>
          <p:nvPr/>
        </p:nvSpPr>
        <p:spPr>
          <a:xfrm>
            <a:off x="68580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</a:rPr>
              <a:t>Emballer les produits.</a:t>
            </a:r>
          </a:p>
          <a:p>
            <a:pPr marL="0" indent="0" algn="ctr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</a:rPr>
              <a:t>Pas étiquette sur les aérosol/batterie.</a:t>
            </a:r>
          </a:p>
        </p:txBody>
      </p:sp>
      <p:sp>
        <p:nvSpPr>
          <p:cNvPr id="14" name="Shape C2"/>
          <p:cNvSpPr/>
          <p:nvPr/>
        </p:nvSpPr>
        <p:spPr>
          <a:xfrm>
            <a:off x="3291840" y="141732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C2top"/>
          <p:cNvSpPr/>
          <p:nvPr/>
        </p:nvSpPr>
        <p:spPr>
          <a:xfrm>
            <a:off x="3291840" y="141732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C2circle"/>
          <p:cNvSpPr/>
          <p:nvPr/>
        </p:nvSpPr>
        <p:spPr>
          <a:xfrm>
            <a:off x="4069080" y="1783080"/>
            <a:ext cx="1005840" cy="100584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C2icon"/>
          <p:cNvSpPr/>
          <p:nvPr/>
        </p:nvSpPr>
        <p:spPr>
          <a:xfrm>
            <a:off x="4069080" y="1783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800" b="1" noProof="0" dirty="0">
                <a:solidFill>
                  <a:srgbClr val="F59E0B"/>
                </a:solidFill>
                <a:latin typeface="Calibri" pitchFamily="34" charset="0"/>
              </a:rPr>
              <a:t>✦</a:t>
            </a:r>
          </a:p>
        </p:txBody>
      </p:sp>
      <p:sp>
        <p:nvSpPr>
          <p:cNvPr id="18" name="Text C2title"/>
          <p:cNvSpPr/>
          <p:nvPr/>
        </p:nvSpPr>
        <p:spPr>
          <a:xfrm>
            <a:off x="347472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0A1628"/>
                </a:solidFill>
                <a:latin typeface="Calibri" pitchFamily="34" charset="0"/>
              </a:rPr>
              <a:t>Scotcher</a:t>
            </a:r>
          </a:p>
        </p:txBody>
      </p:sp>
      <p:sp>
        <p:nvSpPr>
          <p:cNvPr id="19" name="Text C2sub"/>
          <p:cNvSpPr/>
          <p:nvPr/>
        </p:nvSpPr>
        <p:spPr>
          <a:xfrm>
            <a:off x="347472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</a:rPr>
              <a:t>Scotch en complément</a:t>
            </a:r>
          </a:p>
          <a:p>
            <a:pPr marL="0" indent="0" algn="ctr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</a:rPr>
              <a:t>sur tout contenant C16</a:t>
            </a:r>
          </a:p>
        </p:txBody>
      </p:sp>
      <p:sp>
        <p:nvSpPr>
          <p:cNvPr id="20" name="Shape C3"/>
          <p:cNvSpPr/>
          <p:nvPr/>
        </p:nvSpPr>
        <p:spPr>
          <a:xfrm>
            <a:off x="6080760" y="141732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C3top"/>
          <p:cNvSpPr/>
          <p:nvPr/>
        </p:nvSpPr>
        <p:spPr>
          <a:xfrm>
            <a:off x="6080760" y="141732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C3circle"/>
          <p:cNvSpPr/>
          <p:nvPr/>
        </p:nvSpPr>
        <p:spPr>
          <a:xfrm>
            <a:off x="6858000" y="1783080"/>
            <a:ext cx="1005840" cy="100584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C3icon"/>
          <p:cNvSpPr/>
          <p:nvPr/>
        </p:nvSpPr>
        <p:spPr>
          <a:xfrm>
            <a:off x="6858000" y="1783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800" b="1" noProof="0" dirty="0">
                <a:solidFill>
                  <a:srgbClr val="F59E0B"/>
                </a:solidFill>
                <a:latin typeface="Calibri" pitchFamily="34" charset="0"/>
              </a:rPr>
              <a:t>◎</a:t>
            </a:r>
          </a:p>
        </p:txBody>
      </p:sp>
      <p:sp>
        <p:nvSpPr>
          <p:cNvPr id="24" name="Text C3title"/>
          <p:cNvSpPr/>
          <p:nvPr/>
        </p:nvSpPr>
        <p:spPr>
          <a:xfrm>
            <a:off x="626364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0A1628"/>
                </a:solidFill>
                <a:latin typeface="Calibri" pitchFamily="34" charset="0"/>
              </a:rPr>
              <a:t>Refermer</a:t>
            </a:r>
          </a:p>
        </p:txBody>
      </p:sp>
      <p:sp>
        <p:nvSpPr>
          <p:cNvPr id="25" name="Text C3sub"/>
          <p:cNvSpPr/>
          <p:nvPr/>
        </p:nvSpPr>
        <p:spPr>
          <a:xfrm>
            <a:off x="626364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</a:rPr>
              <a:t>Après chaque prélèvement</a:t>
            </a:r>
          </a:p>
          <a:p>
            <a:pPr marL="0" indent="0" algn="ctr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</a:rPr>
              <a:t>les portes de stockage</a:t>
            </a:r>
          </a:p>
        </p:txBody>
      </p:sp>
      <p:sp>
        <p:nvSpPr>
          <p:cNvPr id="26" name="Shape banner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banner"/>
          <p:cNvSpPr/>
          <p:nvPr/>
        </p:nvSpPr>
        <p:spPr>
          <a:xfrm>
            <a:off x="1143000" y="4434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>
                <a:solidFill>
                  <a:srgbClr val="F5F7FA"/>
                </a:solidFill>
                <a:latin typeface="Calibri" pitchFamily="34" charset="0"/>
              </a:rPr>
              <a:t>Protéger  •  Scotcher C16  •  Refermer les portes — zéro exception.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2400" b="1" noProof="0" dirty="0">
                <a:solidFill>
                  <a:srgbClr val="0A1628"/>
                </a:solidFill>
                <a:latin typeface="Calibri" pitchFamily="34" charset="0"/>
              </a:rPr>
              <a:t>Batterie — Bonnes pratiques &amp; interdits</a:t>
            </a:r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</a:rPr>
              <a:t>Emballer, étiqueter, signaler — zéro tolérance</a:t>
            </a:r>
          </a:p>
        </p:txBody>
      </p:sp>
      <p:sp>
        <p:nvSpPr>
          <p:cNvPr id="6" name="Text 3"/>
          <p:cNvSpPr/>
          <p:nvPr/>
        </p:nvSpPr>
        <p:spPr>
          <a:xfrm>
            <a:off x="7772400" y="502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b="1" kern="0" spc="400" noProof="0" dirty="0">
                <a:solidFill>
                  <a:srgbClr val="F59E0B"/>
                </a:solidFill>
                <a:latin typeface="Calibri" pitchFamily="34" charset="0"/>
              </a:rPr>
              <a:t>02 / 03</a:t>
            </a:r>
          </a:p>
        </p:txBody>
      </p:sp>
      <p:sp>
        <p:nvSpPr>
          <p:cNvPr id="7" name="Shape 4"/>
          <p:cNvSpPr/>
          <p:nvPr/>
        </p:nvSpPr>
        <p:spPr>
          <a:xfrm>
            <a:off x="7772400" y="822960"/>
            <a:ext cx="91440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3977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548640" y="1417320"/>
            <a:ext cx="73152" cy="2926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7"/>
          <p:cNvSpPr/>
          <p:nvPr/>
        </p:nvSpPr>
        <p:spPr>
          <a:xfrm>
            <a:off x="114300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b="1" kern="0" spc="400" noProof="0" dirty="0">
                <a:solidFill>
                  <a:srgbClr val="10B981"/>
                </a:solidFill>
                <a:latin typeface="Calibri" pitchFamily="34" charset="0"/>
              </a:rPr>
              <a:t>À FAIRE</a:t>
            </a:r>
          </a:p>
        </p:txBody>
      </p:sp>
      <p:sp>
        <p:nvSpPr>
          <p:cNvPr id="11" name="Shape 8"/>
          <p:cNvSpPr/>
          <p:nvPr/>
        </p:nvSpPr>
        <p:spPr>
          <a:xfrm>
            <a:off x="777240" y="2103120"/>
            <a:ext cx="228600" cy="228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9"/>
          <p:cNvSpPr/>
          <p:nvPr/>
        </p:nvSpPr>
        <p:spPr>
          <a:xfrm>
            <a:off x="777240" y="21031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7" name="Text17"/>
          <p:cNvSpPr/>
          <p:nvPr/>
        </p:nvSpPr>
        <p:spPr>
          <a:xfrm>
            <a:off x="1143000" y="20574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</a:rPr>
              <a:t>Emballer chaque batterie individuellement (enveloppe bulle)</a:t>
            </a:r>
          </a:p>
        </p:txBody>
      </p:sp>
      <p:sp>
        <p:nvSpPr>
          <p:cNvPr id="13" name="Shape 10"/>
          <p:cNvSpPr/>
          <p:nvPr/>
        </p:nvSpPr>
        <p:spPr>
          <a:xfrm>
            <a:off x="777240" y="2788920"/>
            <a:ext cx="228600" cy="228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1"/>
          <p:cNvSpPr/>
          <p:nvPr/>
        </p:nvSpPr>
        <p:spPr>
          <a:xfrm>
            <a:off x="777240" y="27889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18" name="Text18"/>
          <p:cNvSpPr/>
          <p:nvPr/>
        </p:nvSpPr>
        <p:spPr>
          <a:xfrm>
            <a:off x="1143000" y="2743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</a:rPr>
              <a:t>Apposer étiquette DANGER BATTERIE visible</a:t>
            </a:r>
          </a:p>
        </p:txBody>
      </p:sp>
      <p:sp>
        <p:nvSpPr>
          <p:cNvPr id="15" name="Shape 12"/>
          <p:cNvSpPr/>
          <p:nvPr/>
        </p:nvSpPr>
        <p:spPr>
          <a:xfrm>
            <a:off x="777240" y="3474720"/>
            <a:ext cx="228600" cy="228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3"/>
          <p:cNvSpPr/>
          <p:nvPr/>
        </p:nvSpPr>
        <p:spPr>
          <a:xfrm>
            <a:off x="777240" y="3474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19" name="Text19"/>
          <p:cNvSpPr/>
          <p:nvPr/>
        </p:nvSpPr>
        <p:spPr>
          <a:xfrm>
            <a:off x="1143000" y="34290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</a:rPr>
              <a:t>Signaler toute anomalie au Superviseur</a:t>
            </a:r>
          </a:p>
        </p:txBody>
      </p:sp>
      <p:sp>
        <p:nvSpPr>
          <p:cNvPr id="20" name="Shape 17"/>
          <p:cNvSpPr/>
          <p:nvPr/>
        </p:nvSpPr>
        <p:spPr>
          <a:xfrm>
            <a:off x="4617720" y="1417320"/>
            <a:ext cx="3977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8"/>
          <p:cNvSpPr/>
          <p:nvPr/>
        </p:nvSpPr>
        <p:spPr>
          <a:xfrm>
            <a:off x="4617720" y="1417320"/>
            <a:ext cx="73152" cy="292608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19"/>
          <p:cNvSpPr/>
          <p:nvPr/>
        </p:nvSpPr>
        <p:spPr>
          <a:xfrm>
            <a:off x="521208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b="1" kern="0" spc="400" noProof="0" dirty="0">
                <a:solidFill>
                  <a:srgbClr val="E53E3E"/>
                </a:solidFill>
                <a:latin typeface="Calibri" pitchFamily="34" charset="0"/>
              </a:rPr>
              <a:t>JAMAIS</a:t>
            </a:r>
          </a:p>
        </p:txBody>
      </p:sp>
      <p:sp>
        <p:nvSpPr>
          <p:cNvPr id="23" name="Shape 20"/>
          <p:cNvSpPr/>
          <p:nvPr/>
        </p:nvSpPr>
        <p:spPr>
          <a:xfrm>
            <a:off x="4846320" y="2103120"/>
            <a:ext cx="228600" cy="22860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X24"/>
          <p:cNvSpPr/>
          <p:nvPr/>
        </p:nvSpPr>
        <p:spPr>
          <a:xfrm>
            <a:off x="4846320" y="21031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</a:rPr>
              <a:t>✕</a:t>
            </a:r>
          </a:p>
        </p:txBody>
      </p:sp>
      <p:sp>
        <p:nvSpPr>
          <p:cNvPr id="29" name="Text29"/>
          <p:cNvSpPr/>
          <p:nvPr/>
        </p:nvSpPr>
        <p:spPr>
          <a:xfrm>
            <a:off x="5212080" y="20574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</a:rPr>
              <a:t>De batterie sans emballage bulle</a:t>
            </a:r>
          </a:p>
        </p:txBody>
      </p:sp>
      <p:sp>
        <p:nvSpPr>
          <p:cNvPr id="25" name="Shape 22"/>
          <p:cNvSpPr/>
          <p:nvPr/>
        </p:nvSpPr>
        <p:spPr>
          <a:xfrm>
            <a:off x="4846320" y="2788920"/>
            <a:ext cx="228600" cy="22860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X26"/>
          <p:cNvSpPr/>
          <p:nvPr/>
        </p:nvSpPr>
        <p:spPr>
          <a:xfrm>
            <a:off x="4846320" y="27889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</a:rPr>
              <a:t>✕</a:t>
            </a:r>
          </a:p>
        </p:txBody>
      </p:sp>
      <p:sp>
        <p:nvSpPr>
          <p:cNvPr id="30" name="Text30"/>
          <p:cNvSpPr/>
          <p:nvPr/>
        </p:nvSpPr>
        <p:spPr>
          <a:xfrm>
            <a:off x="5212080" y="2743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</a:rPr>
              <a:t>D'étiquette DANGER absente ou illisible</a:t>
            </a:r>
          </a:p>
        </p:txBody>
      </p:sp>
      <p:sp>
        <p:nvSpPr>
          <p:cNvPr id="27" name="Shape 24"/>
          <p:cNvSpPr/>
          <p:nvPr/>
        </p:nvSpPr>
        <p:spPr>
          <a:xfrm>
            <a:off x="4846320" y="3474720"/>
            <a:ext cx="228600" cy="22860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X28"/>
          <p:cNvSpPr/>
          <p:nvPr/>
        </p:nvSpPr>
        <p:spPr>
          <a:xfrm>
            <a:off x="4846320" y="3474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</a:rPr>
              <a:t>✕</a:t>
            </a:r>
          </a:p>
        </p:txBody>
      </p:sp>
      <p:sp>
        <p:nvSpPr>
          <p:cNvPr id="31" name="Text31"/>
          <p:cNvSpPr/>
          <p:nvPr/>
        </p:nvSpPr>
        <p:spPr>
          <a:xfrm>
            <a:off x="5212080" y="34290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</a:rPr>
              <a:t>D'anomalie non signalée</a:t>
            </a:r>
          </a:p>
        </p:txBody>
      </p:sp>
      <p:sp>
        <p:nvSpPr>
          <p:cNvPr id="32" name="Text bottom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b="1" i="1" noProof="0" dirty="0">
                <a:solidFill>
                  <a:srgbClr val="1E3A5F"/>
                </a:solidFill>
                <a:latin typeface="Calibri" pitchFamily="34" charset="0"/>
              </a:rPr>
              <a:t>Batterie non-protégée  =  risque d'incendie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 — 3 gestes obligatoires</a:t>
            </a:r>
            <a:endParaRPr lang="fr-FR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Emballer, étiqueter, signaler — sans exception</a:t>
            </a:r>
            <a:endParaRPr lang="fr-FR" sz="1100" noProof="0" dirty="0"/>
          </a:p>
        </p:txBody>
      </p:sp>
      <p:sp>
        <p:nvSpPr>
          <p:cNvPr id="6" name="Text 3"/>
          <p:cNvSpPr/>
          <p:nvPr/>
        </p:nvSpPr>
        <p:spPr>
          <a:xfrm>
            <a:off x="7772400" y="502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03</a:t>
            </a:r>
            <a:endParaRPr lang="fr-FR" sz="1100" noProof="0" dirty="0"/>
          </a:p>
        </p:txBody>
      </p:sp>
      <p:sp>
        <p:nvSpPr>
          <p:cNvPr id="7" name="Shape 4"/>
          <p:cNvSpPr/>
          <p:nvPr/>
        </p:nvSpPr>
        <p:spPr>
          <a:xfrm>
            <a:off x="7772400" y="822960"/>
            <a:ext cx="91440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777240" y="1463040"/>
            <a:ext cx="2377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6"/>
          <p:cNvSpPr/>
          <p:nvPr/>
        </p:nvSpPr>
        <p:spPr>
          <a:xfrm>
            <a:off x="2331720" y="1508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60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6000" noProof="0" dirty="0"/>
          </a:p>
        </p:txBody>
      </p:sp>
      <p:sp>
        <p:nvSpPr>
          <p:cNvPr id="10" name="Shape 7"/>
          <p:cNvSpPr/>
          <p:nvPr/>
        </p:nvSpPr>
        <p:spPr>
          <a:xfrm>
            <a:off x="1051560" y="1737360"/>
            <a:ext cx="777240" cy="77724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2" y="190195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Emballer</a:t>
            </a:r>
            <a:endParaRPr lang="fr-FR" sz="1900" noProof="0" dirty="0"/>
          </a:p>
        </p:txBody>
      </p:sp>
      <p:sp>
        <p:nvSpPr>
          <p:cNvPr id="13" name="Text 9"/>
          <p:cNvSpPr/>
          <p:nvPr/>
        </p:nvSpPr>
        <p:spPr>
          <a:xfrm>
            <a:off x="105156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individuellement</a:t>
            </a:r>
            <a:endParaRPr lang="fr-FR" sz="1900" noProof="0" dirty="0"/>
          </a:p>
        </p:txBody>
      </p:sp>
      <p:sp>
        <p:nvSpPr>
          <p:cNvPr id="14" name="Shape 10"/>
          <p:cNvSpPr/>
          <p:nvPr/>
        </p:nvSpPr>
        <p:spPr>
          <a:xfrm>
            <a:off x="1051560" y="3429000"/>
            <a:ext cx="365760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1"/>
          <p:cNvSpPr/>
          <p:nvPr/>
        </p:nvSpPr>
        <p:spPr>
          <a:xfrm>
            <a:off x="105156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Enveloppe bulle. Sans exception.</a:t>
            </a:r>
            <a:endParaRPr lang="fr-FR" sz="1050" noProof="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1820" y="2697480"/>
            <a:ext cx="274320" cy="2743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383280" y="1463040"/>
            <a:ext cx="2377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3"/>
          <p:cNvSpPr/>
          <p:nvPr/>
        </p:nvSpPr>
        <p:spPr>
          <a:xfrm>
            <a:off x="4937760" y="1508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60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6000" noProof="0" dirty="0"/>
          </a:p>
        </p:txBody>
      </p:sp>
      <p:sp>
        <p:nvSpPr>
          <p:cNvPr id="19" name="Shape 14"/>
          <p:cNvSpPr/>
          <p:nvPr/>
        </p:nvSpPr>
        <p:spPr>
          <a:xfrm>
            <a:off x="3657600" y="1737360"/>
            <a:ext cx="777240" cy="77724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192" y="190195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6576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Étiqueter</a:t>
            </a:r>
            <a:endParaRPr lang="fr-FR" sz="1900" noProof="0" dirty="0"/>
          </a:p>
        </p:txBody>
      </p:sp>
      <p:sp>
        <p:nvSpPr>
          <p:cNvPr id="22" name="Text 16"/>
          <p:cNvSpPr/>
          <p:nvPr/>
        </p:nvSpPr>
        <p:spPr>
          <a:xfrm>
            <a:off x="365760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</a:t>
            </a:r>
            <a:endParaRPr lang="fr-FR" sz="1900" noProof="0" dirty="0"/>
          </a:p>
        </p:txBody>
      </p:sp>
      <p:sp>
        <p:nvSpPr>
          <p:cNvPr id="23" name="Shape 17"/>
          <p:cNvSpPr/>
          <p:nvPr/>
        </p:nvSpPr>
        <p:spPr>
          <a:xfrm>
            <a:off x="3657600" y="3429000"/>
            <a:ext cx="365760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18"/>
          <p:cNvSpPr/>
          <p:nvPr/>
        </p:nvSpPr>
        <p:spPr>
          <a:xfrm>
            <a:off x="365760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visible. Toujours lisible.</a:t>
            </a:r>
            <a:endParaRPr lang="fr-FR" sz="1050" noProof="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7860" y="2697480"/>
            <a:ext cx="274320" cy="27432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989320" y="1463040"/>
            <a:ext cx="2377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0"/>
          <p:cNvSpPr/>
          <p:nvPr/>
        </p:nvSpPr>
        <p:spPr>
          <a:xfrm>
            <a:off x="7543800" y="1508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60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6000" noProof="0" dirty="0"/>
          </a:p>
        </p:txBody>
      </p:sp>
      <p:sp>
        <p:nvSpPr>
          <p:cNvPr id="28" name="Shape 21"/>
          <p:cNvSpPr/>
          <p:nvPr/>
        </p:nvSpPr>
        <p:spPr>
          <a:xfrm>
            <a:off x="6263640" y="1737360"/>
            <a:ext cx="777240" cy="77724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1901952"/>
            <a:ext cx="457200" cy="4572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26364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Signaler</a:t>
            </a:r>
            <a:endParaRPr lang="fr-FR" sz="1900" noProof="0" dirty="0"/>
          </a:p>
        </p:txBody>
      </p:sp>
      <p:sp>
        <p:nvSpPr>
          <p:cNvPr id="31" name="Text 23"/>
          <p:cNvSpPr/>
          <p:nvPr/>
        </p:nvSpPr>
        <p:spPr>
          <a:xfrm>
            <a:off x="626364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anomalie</a:t>
            </a:r>
            <a:endParaRPr lang="fr-FR" sz="1900" noProof="0" dirty="0"/>
          </a:p>
        </p:txBody>
      </p:sp>
      <p:sp>
        <p:nvSpPr>
          <p:cNvPr id="32" name="Shape 24"/>
          <p:cNvSpPr/>
          <p:nvPr/>
        </p:nvSpPr>
        <p:spPr>
          <a:xfrm>
            <a:off x="6263640" y="3429000"/>
            <a:ext cx="365760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25"/>
          <p:cNvSpPr/>
          <p:nvPr/>
        </p:nvSpPr>
        <p:spPr>
          <a:xfrm>
            <a:off x="626364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 non-protégée → Superviseur.</a:t>
            </a:r>
            <a:endParaRPr lang="fr-FR" sz="1050" noProof="0" dirty="0"/>
          </a:p>
        </p:txBody>
      </p:sp>
      <p:sp>
        <p:nvSpPr>
          <p:cNvPr id="34" name="Text 26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Emballer  •  Étiqueter  •  Signaler — chaque batterie, chaque fois</a:t>
            </a:r>
            <a:endParaRPr lang="fr-FR" sz="12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00" b="1" kern="0" spc="800" noProof="0" dirty="0">
                <a:solidFill>
                  <a:srgbClr val="E53E3E"/>
                </a:solidFill>
                <a:latin typeface="Calibri" pitchFamily="34" charset="0"/>
              </a:rPr>
              <a:t>LES RISQUES RÉELS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2800" b="1" noProof="0" dirty="0">
                <a:solidFill>
                  <a:srgbClr val="F5F7FA"/>
                </a:solidFill>
                <a:latin typeface="Calibri" pitchFamily="34" charset="0"/>
              </a:rPr>
              <a:t>Ce qui arrive si les règles ne sont pas appliquées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" cy="27432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5"/>
          <p:cNvSpPr/>
          <p:nvPr/>
        </p:nvSpPr>
        <p:spPr>
          <a:xfrm>
            <a:off x="342900" y="1783080"/>
            <a:ext cx="2697480" cy="2651760"/>
          </a:xfrm>
          <a:prstGeom prst="rect">
            <a:avLst/>
          </a:prstGeom>
          <a:solidFill>
            <a:srgbClr val="13253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6"/>
          <p:cNvSpPr/>
          <p:nvPr/>
        </p:nvSpPr>
        <p:spPr>
          <a:xfrm>
            <a:off x="342900" y="1783080"/>
            <a:ext cx="2697480" cy="54864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7"/>
          <p:cNvSpPr/>
          <p:nvPr/>
        </p:nvSpPr>
        <p:spPr>
          <a:xfrm>
            <a:off x="617220" y="2606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2400" b="1" noProof="0" dirty="0">
                <a:solidFill>
                  <a:srgbClr val="F5F7FA"/>
                </a:solidFill>
                <a:latin typeface="Calibri" pitchFamily="34" charset="0"/>
              </a:rPr>
              <a:t>Ouverture</a:t>
            </a:r>
          </a:p>
        </p:txBody>
      </p:sp>
      <p:sp>
        <p:nvSpPr>
          <p:cNvPr id="8" name="Text 8"/>
          <p:cNvSpPr/>
          <p:nvPr/>
        </p:nvSpPr>
        <p:spPr>
          <a:xfrm>
            <a:off x="617220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i="1" noProof="0" dirty="0">
                <a:solidFill>
                  <a:srgbClr val="94A3B8"/>
                </a:solidFill>
                <a:latin typeface="Calibri" pitchFamily="34" charset="0"/>
              </a:rPr>
              <a:t>contenant</a:t>
            </a:r>
          </a:p>
        </p:txBody>
      </p:sp>
      <p:sp>
        <p:nvSpPr>
          <p:cNvPr id="9" name="Text 9"/>
          <p:cNvSpPr/>
          <p:nvPr/>
        </p:nvSpPr>
        <p:spPr>
          <a:xfrm>
            <a:off x="61722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</a:rPr>
              <a:t> C16 non scotché.</a:t>
            </a:r>
          </a:p>
          <a:p>
            <a:pPr marL="0" indent="0" algn="l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</a:rPr>
              <a:t>Convoyeur bloqué.</a:t>
            </a:r>
          </a:p>
        </p:txBody>
      </p:sp>
      <p:sp>
        <p:nvSpPr>
          <p:cNvPr id="10" name="Shape 10"/>
          <p:cNvSpPr/>
          <p:nvPr/>
        </p:nvSpPr>
        <p:spPr>
          <a:xfrm>
            <a:off x="342900" y="4023360"/>
            <a:ext cx="2697480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conseq0"/>
          <p:cNvSpPr/>
          <p:nvPr/>
        </p:nvSpPr>
        <p:spPr>
          <a:xfrm>
            <a:off x="617220" y="4023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E53E3E"/>
                </a:solidFill>
                <a:latin typeface="Calibri" pitchFamily="34" charset="0"/>
              </a:rPr>
              <a:t>→ Arrêt presse</a:t>
            </a:r>
          </a:p>
        </p:txBody>
      </p:sp>
      <p:sp>
        <p:nvSpPr>
          <p:cNvPr id="24" name="Shape 11"/>
          <p:cNvSpPr/>
          <p:nvPr/>
        </p:nvSpPr>
        <p:spPr>
          <a:xfrm>
            <a:off x="3223260" y="1783080"/>
            <a:ext cx="2697480" cy="2651760"/>
          </a:xfrm>
          <a:prstGeom prst="rect">
            <a:avLst/>
          </a:prstGeom>
          <a:solidFill>
            <a:srgbClr val="13253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Shape 12"/>
          <p:cNvSpPr/>
          <p:nvPr/>
        </p:nvSpPr>
        <p:spPr>
          <a:xfrm>
            <a:off x="3223260" y="1783080"/>
            <a:ext cx="2697480" cy="54864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3"/>
          <p:cNvSpPr/>
          <p:nvPr/>
        </p:nvSpPr>
        <p:spPr>
          <a:xfrm>
            <a:off x="3497580" y="2606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2400" b="1" noProof="0" dirty="0">
                <a:solidFill>
                  <a:srgbClr val="F5F7FA"/>
                </a:solidFill>
                <a:latin typeface="Calibri" pitchFamily="34" charset="0"/>
              </a:rPr>
              <a:t>Départ</a:t>
            </a:r>
          </a:p>
        </p:txBody>
      </p:sp>
      <p:sp>
        <p:nvSpPr>
          <p:cNvPr id="14" name="Text 14"/>
          <p:cNvSpPr/>
          <p:nvPr/>
        </p:nvSpPr>
        <p:spPr>
          <a:xfrm>
            <a:off x="3497580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i="1" noProof="0" dirty="0">
                <a:solidFill>
                  <a:srgbClr val="94A3B8"/>
                </a:solidFill>
                <a:latin typeface="Calibri" pitchFamily="34" charset="0"/>
              </a:rPr>
              <a:t>de feu</a:t>
            </a:r>
          </a:p>
        </p:txBody>
      </p:sp>
      <p:sp>
        <p:nvSpPr>
          <p:cNvPr id="15" name="Text 15"/>
          <p:cNvSpPr/>
          <p:nvPr/>
        </p:nvSpPr>
        <p:spPr>
          <a:xfrm>
            <a:off x="349758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</a:rPr>
              <a:t>Court-circuit batterie,</a:t>
            </a:r>
          </a:p>
          <a:p>
            <a:pPr marL="0" indent="0" algn="l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</a:rPr>
              <a:t>fuite aérosol.</a:t>
            </a:r>
          </a:p>
        </p:txBody>
      </p:sp>
      <p:sp>
        <p:nvSpPr>
          <p:cNvPr id="16" name="Shape 16"/>
          <p:cNvSpPr/>
          <p:nvPr/>
        </p:nvSpPr>
        <p:spPr>
          <a:xfrm>
            <a:off x="3223260" y="4023360"/>
            <a:ext cx="2697480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conseq1"/>
          <p:cNvSpPr/>
          <p:nvPr/>
        </p:nvSpPr>
        <p:spPr>
          <a:xfrm>
            <a:off x="3497580" y="4023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E53E3E"/>
                </a:solidFill>
                <a:latin typeface="Calibri" pitchFamily="34" charset="0"/>
              </a:rPr>
              <a:t>→ Incendie / blessure</a:t>
            </a:r>
          </a:p>
        </p:txBody>
      </p:sp>
      <p:sp>
        <p:nvSpPr>
          <p:cNvPr id="25" name="Shape 17"/>
          <p:cNvSpPr/>
          <p:nvPr/>
        </p:nvSpPr>
        <p:spPr>
          <a:xfrm>
            <a:off x="6103620" y="1783080"/>
            <a:ext cx="2697480" cy="2651760"/>
          </a:xfrm>
          <a:prstGeom prst="rect">
            <a:avLst/>
          </a:prstGeom>
          <a:solidFill>
            <a:srgbClr val="13253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Shape 18"/>
          <p:cNvSpPr/>
          <p:nvPr/>
        </p:nvSpPr>
        <p:spPr>
          <a:xfrm>
            <a:off x="6103620" y="1783080"/>
            <a:ext cx="2697480" cy="54864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9"/>
          <p:cNvSpPr/>
          <p:nvPr/>
        </p:nvSpPr>
        <p:spPr>
          <a:xfrm>
            <a:off x="6377940" y="2606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2400" b="1" noProof="0" dirty="0">
                <a:solidFill>
                  <a:srgbClr val="F5F7FA"/>
                </a:solidFill>
                <a:latin typeface="Calibri" pitchFamily="34" charset="0"/>
              </a:rPr>
              <a:t>Non-</a:t>
            </a:r>
          </a:p>
        </p:txBody>
      </p:sp>
      <p:sp>
        <p:nvSpPr>
          <p:cNvPr id="20" name="Text 20"/>
          <p:cNvSpPr/>
          <p:nvPr/>
        </p:nvSpPr>
        <p:spPr>
          <a:xfrm>
            <a:off x="6377940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i="1" noProof="0" dirty="0">
                <a:solidFill>
                  <a:srgbClr val="94A3B8"/>
                </a:solidFill>
                <a:latin typeface="Calibri" pitchFamily="34" charset="0"/>
              </a:rPr>
              <a:t>conformité</a:t>
            </a:r>
          </a:p>
        </p:txBody>
      </p:sp>
      <p:sp>
        <p:nvSpPr>
          <p:cNvPr id="21" name="Text 21"/>
          <p:cNvSpPr/>
          <p:nvPr/>
        </p:nvSpPr>
        <p:spPr>
          <a:xfrm>
            <a:off x="637794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</a:rPr>
              <a:t>Aérosol ou batterie</a:t>
            </a:r>
          </a:p>
          <a:p>
            <a:pPr marL="0" indent="0" algn="l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</a:rPr>
              <a:t>non conforme expédiée.</a:t>
            </a:r>
          </a:p>
        </p:txBody>
      </p:sp>
      <p:sp>
        <p:nvSpPr>
          <p:cNvPr id="22" name="Shape 22"/>
          <p:cNvSpPr/>
          <p:nvPr/>
        </p:nvSpPr>
        <p:spPr>
          <a:xfrm>
            <a:off x="6103620" y="4023360"/>
            <a:ext cx="2697480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conseq2"/>
          <p:cNvSpPr/>
          <p:nvPr/>
        </p:nvSpPr>
        <p:spPr>
          <a:xfrm>
            <a:off x="6377940" y="4023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E53E3E"/>
                </a:solidFill>
                <a:latin typeface="Calibri" pitchFamily="34" charset="0"/>
              </a:rPr>
              <a:t>→ Réclamation client</a:t>
            </a:r>
          </a:p>
        </p:txBody>
      </p:sp>
      <p:sp>
        <p:nvSpPr>
          <p:cNvPr id="23" name="Text bottom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</a:rPr>
              <a:t>Un conditionnement rigoureux évite ces risques.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&amp; responsabilités</a:t>
            </a:r>
            <a:endParaRPr lang="fr-FR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fait quoi, à chaque opération aérosol / batterie</a:t>
            </a:r>
            <a:endParaRPr lang="fr-FR" sz="1100" noProof="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4114800" cy="4114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0876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600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CHECKLIST</a:t>
            </a:r>
            <a:endParaRPr lang="fr-FR" sz="1200" noProof="0" dirty="0"/>
          </a:p>
        </p:txBody>
      </p:sp>
      <p:sp>
        <p:nvSpPr>
          <p:cNvPr id="10" name="Shape 6"/>
          <p:cNvSpPr/>
          <p:nvPr/>
        </p:nvSpPr>
        <p:spPr>
          <a:xfrm>
            <a:off x="822960" y="203911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7"/>
          <p:cNvSpPr/>
          <p:nvPr/>
        </p:nvSpPr>
        <p:spPr>
          <a:xfrm>
            <a:off x="822960" y="2011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12" name="Text 8"/>
          <p:cNvSpPr/>
          <p:nvPr/>
        </p:nvSpPr>
        <p:spPr>
          <a:xfrm>
            <a:off x="114300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Aérosol sécurisé</a:t>
            </a:r>
            <a:endParaRPr lang="fr-FR" sz="1200" noProof="0" dirty="0"/>
          </a:p>
        </p:txBody>
      </p:sp>
      <p:sp>
        <p:nvSpPr>
          <p:cNvPr id="13" name="Shape 9"/>
          <p:cNvSpPr/>
          <p:nvPr/>
        </p:nvSpPr>
        <p:spPr>
          <a:xfrm>
            <a:off x="822960" y="245059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0"/>
          <p:cNvSpPr/>
          <p:nvPr/>
        </p:nvSpPr>
        <p:spPr>
          <a:xfrm>
            <a:off x="822960" y="2423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15" name="Text 11"/>
          <p:cNvSpPr/>
          <p:nvPr/>
        </p:nvSpPr>
        <p:spPr>
          <a:xfrm>
            <a:off x="114300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C16 aérosol scotché</a:t>
            </a:r>
            <a:endParaRPr lang="fr-FR" sz="1200" noProof="0" dirty="0"/>
          </a:p>
        </p:txBody>
      </p:sp>
      <p:sp>
        <p:nvSpPr>
          <p:cNvPr id="16" name="Shape 12"/>
          <p:cNvSpPr/>
          <p:nvPr/>
        </p:nvSpPr>
        <p:spPr>
          <a:xfrm>
            <a:off x="822960" y="286207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3"/>
          <p:cNvSpPr/>
          <p:nvPr/>
        </p:nvSpPr>
        <p:spPr>
          <a:xfrm>
            <a:off x="822960" y="28346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18" name="Text 14"/>
          <p:cNvSpPr/>
          <p:nvPr/>
        </p:nvSpPr>
        <p:spPr>
          <a:xfrm>
            <a:off x="1143000" y="2788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Portes de stockage refermées</a:t>
            </a:r>
            <a:endParaRPr lang="fr-FR" sz="1200" noProof="0" dirty="0"/>
          </a:p>
        </p:txBody>
      </p:sp>
      <p:sp>
        <p:nvSpPr>
          <p:cNvPr id="19" name="Shape 15"/>
          <p:cNvSpPr/>
          <p:nvPr/>
        </p:nvSpPr>
        <p:spPr>
          <a:xfrm>
            <a:off x="822960" y="327355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6"/>
          <p:cNvSpPr/>
          <p:nvPr/>
        </p:nvSpPr>
        <p:spPr>
          <a:xfrm>
            <a:off x="822960" y="32461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21" name="Text 17"/>
          <p:cNvSpPr/>
          <p:nvPr/>
        </p:nvSpPr>
        <p:spPr>
          <a:xfrm>
            <a:off x="1143000" y="3200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 emballée individuellement (bulle)</a:t>
            </a:r>
            <a:endParaRPr lang="fr-FR" sz="1200" noProof="0" dirty="0"/>
          </a:p>
        </p:txBody>
      </p:sp>
      <p:sp>
        <p:nvSpPr>
          <p:cNvPr id="22" name="Shape 18"/>
          <p:cNvSpPr/>
          <p:nvPr/>
        </p:nvSpPr>
        <p:spPr>
          <a:xfrm>
            <a:off x="822960" y="368503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19"/>
          <p:cNvSpPr/>
          <p:nvPr/>
        </p:nvSpPr>
        <p:spPr>
          <a:xfrm>
            <a:off x="822960" y="36576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24" name="Text 20"/>
          <p:cNvSpPr/>
          <p:nvPr/>
        </p:nvSpPr>
        <p:spPr>
          <a:xfrm>
            <a:off x="1143000" y="3611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Étiquette DANGER BATTERIE visible</a:t>
            </a:r>
            <a:endParaRPr lang="fr-FR" sz="1200" noProof="0" dirty="0"/>
          </a:p>
        </p:txBody>
      </p:sp>
      <p:sp>
        <p:nvSpPr>
          <p:cNvPr id="25" name="Shape 21"/>
          <p:cNvSpPr/>
          <p:nvPr/>
        </p:nvSpPr>
        <p:spPr>
          <a:xfrm>
            <a:off x="822960" y="409651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2"/>
          <p:cNvSpPr/>
          <p:nvPr/>
        </p:nvSpPr>
        <p:spPr>
          <a:xfrm>
            <a:off x="822960" y="4069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27" name="Text 23"/>
          <p:cNvSpPr/>
          <p:nvPr/>
        </p:nvSpPr>
        <p:spPr>
          <a:xfrm>
            <a:off x="1143000" y="4023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 signalée au Superviseur</a:t>
            </a:r>
            <a:endParaRPr lang="fr-FR" sz="1200" noProof="0" dirty="0"/>
          </a:p>
        </p:txBody>
      </p:sp>
      <p:sp>
        <p:nvSpPr>
          <p:cNvPr id="28" name="Shape 24"/>
          <p:cNvSpPr/>
          <p:nvPr/>
        </p:nvSpPr>
        <p:spPr>
          <a:xfrm>
            <a:off x="4800600" y="1417320"/>
            <a:ext cx="3794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Shape 25"/>
          <p:cNvSpPr/>
          <p:nvPr/>
        </p:nvSpPr>
        <p:spPr>
          <a:xfrm>
            <a:off x="4800600" y="141732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Text 26"/>
          <p:cNvSpPr/>
          <p:nvPr/>
        </p:nvSpPr>
        <p:spPr>
          <a:xfrm>
            <a:off x="5029200" y="15087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</a:t>
            </a:r>
            <a:endParaRPr lang="fr-FR" sz="1400" noProof="0" dirty="0"/>
          </a:p>
        </p:txBody>
      </p:sp>
      <p:sp>
        <p:nvSpPr>
          <p:cNvPr id="31" name="Text 27"/>
          <p:cNvSpPr/>
          <p:nvPr/>
        </p:nvSpPr>
        <p:spPr>
          <a:xfrm>
            <a:off x="5029200" y="18288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 toutes les exigences. Signale toute anomalie immédiatement.</a:t>
            </a:r>
            <a:endParaRPr lang="fr-FR" sz="1050" noProof="0" dirty="0"/>
          </a:p>
        </p:txBody>
      </p:sp>
      <p:sp>
        <p:nvSpPr>
          <p:cNvPr id="32" name="Shape 28"/>
          <p:cNvSpPr/>
          <p:nvPr/>
        </p:nvSpPr>
        <p:spPr>
          <a:xfrm>
            <a:off x="4800600" y="2514600"/>
            <a:ext cx="3794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Shape 29"/>
          <p:cNvSpPr/>
          <p:nvPr/>
        </p:nvSpPr>
        <p:spPr>
          <a:xfrm>
            <a:off x="4800600" y="251460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Text 30"/>
          <p:cNvSpPr/>
          <p:nvPr/>
        </p:nvSpPr>
        <p:spPr>
          <a:xfrm>
            <a:off x="5029200" y="26060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Pilotes &amp; Superviseur</a:t>
            </a:r>
            <a:endParaRPr lang="fr-FR" sz="1400" noProof="0" dirty="0"/>
          </a:p>
        </p:txBody>
      </p:sp>
      <p:sp>
        <p:nvSpPr>
          <p:cNvPr id="35" name="Text 31"/>
          <p:cNvSpPr/>
          <p:nvPr/>
        </p:nvSpPr>
        <p:spPr>
          <a:xfrm>
            <a:off x="5029200" y="29260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Contrôlent l'application. Forment les nouveaux entrants.</a:t>
            </a:r>
            <a:endParaRPr lang="fr-FR" sz="1050" noProof="0" dirty="0"/>
          </a:p>
        </p:txBody>
      </p:sp>
      <p:sp>
        <p:nvSpPr>
          <p:cNvPr id="36" name="Shape 32"/>
          <p:cNvSpPr/>
          <p:nvPr/>
        </p:nvSpPr>
        <p:spPr>
          <a:xfrm>
            <a:off x="4800600" y="3611880"/>
            <a:ext cx="3794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Shape 33"/>
          <p:cNvSpPr/>
          <p:nvPr/>
        </p:nvSpPr>
        <p:spPr>
          <a:xfrm>
            <a:off x="4800600" y="361188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Text 34"/>
          <p:cNvSpPr/>
          <p:nvPr/>
        </p:nvSpPr>
        <p:spPr>
          <a:xfrm>
            <a:off x="5029200" y="3703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QSE</a:t>
            </a:r>
            <a:endParaRPr lang="fr-FR" sz="1400" noProof="0" dirty="0"/>
          </a:p>
        </p:txBody>
      </p:sp>
      <p:sp>
        <p:nvSpPr>
          <p:cNvPr id="39" name="Text 35"/>
          <p:cNvSpPr/>
          <p:nvPr/>
        </p:nvSpPr>
        <p:spPr>
          <a:xfrm>
            <a:off x="5029200" y="40233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le standard. Audite la conformité. Pilote les indicateurs.</a:t>
            </a:r>
            <a:endParaRPr lang="fr-FR" sz="1050" noProof="0" dirty="0"/>
          </a:p>
        </p:txBody>
      </p:sp>
      <p:sp>
        <p:nvSpPr>
          <p:cNvPr id="40" name="Text 36"/>
          <p:cNvSpPr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kern="0" spc="3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STD-PP-P12  •  Aérosol / Batterie  •  CLR Champigneulles</a:t>
            </a:r>
            <a:endParaRPr lang="fr-FR" sz="9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4173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6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conditionnement</a:t>
            </a:r>
            <a:endParaRPr lang="fr-FR" sz="3600" noProof="0" dirty="0"/>
          </a:p>
        </p:txBody>
      </p:sp>
      <p:sp>
        <p:nvSpPr>
          <p:cNvPr id="5" name="Text 2"/>
          <p:cNvSpPr/>
          <p:nvPr/>
        </p:nvSpPr>
        <p:spPr>
          <a:xfrm>
            <a:off x="54864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6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 ici.</a:t>
            </a:r>
            <a:endParaRPr lang="fr-FR" sz="3600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48006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kern="0" spc="5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P12   •   AÉROSOL / BATTERIE   •   REXEL CLR CHAMPIGNEULLES</a:t>
            </a:r>
            <a:endParaRPr lang="fr-FR" sz="9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399</Words>
  <Application>Microsoft Office PowerPoint</Application>
  <PresentationFormat>Affichage à l'écran (16:9)</PresentationFormat>
  <Paragraphs>111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P1 - Prise de poste</dc:title>
  <dc:subject>PptxGenJS Presentation</dc:subject>
  <dc:creator>Rexel CLR Champigneulles</dc:creator>
  <cp:lastModifiedBy>Georges, Charlene</cp:lastModifiedBy>
  <cp:revision>5</cp:revision>
  <dcterms:created xsi:type="dcterms:W3CDTF">2026-04-21T20:30:49Z</dcterms:created>
  <dcterms:modified xsi:type="dcterms:W3CDTF">2026-09-10T12:24:23Z</dcterms:modified>
</cp:coreProperties>
</file>