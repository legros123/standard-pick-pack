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041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777240" y="1600200"/>
            <a:ext cx="3657600" cy="36576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7944" y="2660904"/>
            <a:ext cx="1536192" cy="1536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69848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"/>
          <p:cNvSpPr/>
          <p:nvPr/>
        </p:nvSpPr>
        <p:spPr>
          <a:xfrm>
            <a:off x="1106424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3"/>
          <p:cNvSpPr/>
          <p:nvPr/>
        </p:nvSpPr>
        <p:spPr>
          <a:xfrm>
            <a:off x="1143000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5212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kern="0" spc="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5212080" y="1371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52120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kern="0" spc="400" noProof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P17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5120640" y="2011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6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5120640" y="30632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6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5212080" y="4343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700" i="1" noProof="0" dirty="0">
                <a:solidFill>
                  <a:srgbClr val="BF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Évacuer, alerter, intervenir — chacun son rôle.</a:t>
            </a:r>
            <a:endParaRPr lang="fr-FR" sz="1700" noProof="0" dirty="0"/>
          </a:p>
        </p:txBody>
      </p:sp>
      <p:sp>
        <p:nvSpPr>
          <p:cNvPr id="13" name="Text 10"/>
          <p:cNvSpPr/>
          <p:nvPr/>
        </p:nvSpPr>
        <p:spPr>
          <a:xfrm>
            <a:off x="5212080" y="5074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kern="0" spc="300" noProof="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STD-PP-P17   •   Février 2026   •   Formation opérateur</a:t>
            </a:r>
            <a:endParaRPr lang="fr-FR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4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110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724248" y="822960"/>
            <a:ext cx="2743200" cy="27432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9776" y="161848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434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Alerter,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914400" y="507492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évacuer, agir. »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kern="0" spc="8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rôles d'évacuation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 err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Guide-file</a:t>
            </a: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serre-file, ESI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95234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95234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98104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8228" y="240030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234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Guide-file</a:t>
            </a:r>
            <a:endParaRPr lang="fr-FR" sz="2200" noProof="0" dirty="0"/>
          </a:p>
        </p:txBody>
      </p:sp>
      <p:sp>
        <p:nvSpPr>
          <p:cNvPr id="13" name="Text 9"/>
          <p:cNvSpPr/>
          <p:nvPr/>
        </p:nvSpPr>
        <p:spPr>
          <a:xfrm>
            <a:off x="113522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Transmet, regroupe, conduit</a:t>
            </a:r>
            <a:endParaRPr lang="fr-FR" sz="1300" noProof="0" dirty="0"/>
          </a:p>
        </p:txBody>
      </p:sp>
      <p:sp>
        <p:nvSpPr>
          <p:cNvPr id="14" name="Shape 10"/>
          <p:cNvSpPr/>
          <p:nvPr/>
        </p:nvSpPr>
        <p:spPr>
          <a:xfrm>
            <a:off x="447278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447278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550148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8668" y="240030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7278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Serre-file</a:t>
            </a:r>
            <a:endParaRPr lang="fr-FR" sz="2200" noProof="0" dirty="0"/>
          </a:p>
        </p:txBody>
      </p:sp>
      <p:sp>
        <p:nvSpPr>
          <p:cNvPr id="19" name="Text 14"/>
          <p:cNvSpPr/>
          <p:nvPr/>
        </p:nvSpPr>
        <p:spPr>
          <a:xfrm>
            <a:off x="465566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Veille, vérifie, ferme</a:t>
            </a:r>
            <a:endParaRPr lang="fr-FR" sz="1300" noProof="0" dirty="0"/>
          </a:p>
        </p:txBody>
      </p:sp>
      <p:sp>
        <p:nvSpPr>
          <p:cNvPr id="20" name="Shape 15"/>
          <p:cNvSpPr/>
          <p:nvPr/>
        </p:nvSpPr>
        <p:spPr>
          <a:xfrm>
            <a:off x="799322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799322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902192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9108" y="240030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9322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</a:t>
            </a:r>
            <a:endParaRPr lang="fr-FR" sz="2200" noProof="0" dirty="0"/>
          </a:p>
        </p:txBody>
      </p:sp>
      <p:sp>
        <p:nvSpPr>
          <p:cNvPr id="25" name="Text 19"/>
          <p:cNvSpPr/>
          <p:nvPr/>
        </p:nvSpPr>
        <p:spPr>
          <a:xfrm>
            <a:off x="817610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Extincteur + RIA = formé</a:t>
            </a:r>
            <a:endParaRPr lang="fr-FR" sz="1300" noProof="0" dirty="0"/>
          </a:p>
        </p:txBody>
      </p:sp>
      <p:sp>
        <p:nvSpPr>
          <p:cNvPr id="26" name="Shape 20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61264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5989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rôle exige une formation préalable</a:t>
            </a:r>
            <a:endParaRPr lang="fr-FR" sz="14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Extincteurs &amp; types de feu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extincteur pour le bon feu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91440" cy="4023360"/>
          </a:xfrm>
          <a:prstGeom prst="rect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50" y="20459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800" b="1" kern="0" spc="600" noProof="0" dirty="0">
                <a:solidFill>
                  <a:srgbClr val="21A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400" noProof="0" dirty="0"/>
          </a:p>
        </p:txBody>
      </p:sp>
      <p:sp>
        <p:nvSpPr>
          <p:cNvPr id="15" name="Text 11"/>
          <p:cNvSpPr/>
          <p:nvPr/>
        </p:nvSpPr>
        <p:spPr>
          <a:xfrm>
            <a:off x="1463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 (bois, carton) : eau, poudre, mousse</a:t>
            </a:r>
            <a:endParaRPr lang="fr-FR" sz="1400" noProof="0" dirty="0"/>
          </a:p>
        </p:txBody>
      </p:sp>
      <p:sp>
        <p:nvSpPr>
          <p:cNvPr id="16" name="Shape 12"/>
          <p:cNvSpPr/>
          <p:nvPr/>
        </p:nvSpPr>
        <p:spPr>
          <a:xfrm>
            <a:off x="960120" y="356616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9601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400" noProof="0" dirty="0"/>
          </a:p>
        </p:txBody>
      </p:sp>
      <p:sp>
        <p:nvSpPr>
          <p:cNvPr id="18" name="Text 14"/>
          <p:cNvSpPr/>
          <p:nvPr/>
        </p:nvSpPr>
        <p:spPr>
          <a:xfrm>
            <a:off x="1463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 (essence, huile) : poudre, CO2, mousse</a:t>
            </a:r>
            <a:endParaRPr lang="fr-FR" sz="1400" noProof="0" dirty="0"/>
          </a:p>
        </p:txBody>
      </p:sp>
      <p:sp>
        <p:nvSpPr>
          <p:cNvPr id="19" name="Shape 15"/>
          <p:cNvSpPr/>
          <p:nvPr/>
        </p:nvSpPr>
        <p:spPr>
          <a:xfrm>
            <a:off x="960120" y="434340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9601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400" noProof="0" dirty="0"/>
          </a:p>
        </p:txBody>
      </p:sp>
      <p:sp>
        <p:nvSpPr>
          <p:cNvPr id="21" name="Text 17"/>
          <p:cNvSpPr/>
          <p:nvPr/>
        </p:nvSpPr>
        <p:spPr>
          <a:xfrm>
            <a:off x="1463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Électrique : CO2, eau avec additif</a:t>
            </a:r>
            <a:endParaRPr lang="fr-FR" sz="1400" noProof="0" dirty="0"/>
          </a:p>
        </p:txBody>
      </p:sp>
      <p:sp>
        <p:nvSpPr>
          <p:cNvPr id="22" name="Shape 18"/>
          <p:cNvSpPr/>
          <p:nvPr/>
        </p:nvSpPr>
        <p:spPr>
          <a:xfrm>
            <a:off x="6355080" y="1691640"/>
            <a:ext cx="91440" cy="402336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9"/>
          <p:cNvSpPr/>
          <p:nvPr/>
        </p:nvSpPr>
        <p:spPr>
          <a:xfrm>
            <a:off x="6446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0"/>
          <p:cNvSpPr/>
          <p:nvPr/>
        </p:nvSpPr>
        <p:spPr>
          <a:xfrm>
            <a:off x="6675120" y="1920240"/>
            <a:ext cx="502920" cy="50292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850" y="204597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15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800" b="1" kern="0" spc="600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800" noProof="0" dirty="0"/>
          </a:p>
        </p:txBody>
      </p:sp>
      <p:sp>
        <p:nvSpPr>
          <p:cNvPr id="27" name="Shape 22"/>
          <p:cNvSpPr/>
          <p:nvPr/>
        </p:nvSpPr>
        <p:spPr>
          <a:xfrm>
            <a:off x="6675120" y="278892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286207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78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D'extincteur eau sur feu électrique</a:t>
            </a:r>
            <a:endParaRPr lang="fr-FR" sz="1400" noProof="0" dirty="0"/>
          </a:p>
        </p:txBody>
      </p:sp>
      <p:sp>
        <p:nvSpPr>
          <p:cNvPr id="30" name="Shape 24"/>
          <p:cNvSpPr/>
          <p:nvPr/>
        </p:nvSpPr>
        <p:spPr>
          <a:xfrm>
            <a:off x="6675120" y="356616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363931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78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D'utilisation trop près = brûlure</a:t>
            </a:r>
            <a:endParaRPr lang="fr-FR" sz="1400" noProof="0" dirty="0"/>
          </a:p>
        </p:txBody>
      </p:sp>
      <p:sp>
        <p:nvSpPr>
          <p:cNvPr id="33" name="Shape 26"/>
          <p:cNvSpPr/>
          <p:nvPr/>
        </p:nvSpPr>
        <p:spPr>
          <a:xfrm>
            <a:off x="6675120" y="434340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441655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78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D'utilisation trop loin = inefficace</a:t>
            </a:r>
            <a:endParaRPr lang="fr-FR" sz="1400" noProof="0" dirty="0"/>
          </a:p>
        </p:txBody>
      </p:sp>
      <p:sp>
        <p:nvSpPr>
          <p:cNvPr id="36" name="Text 28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 =  consulter les instructions extincteur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surveiller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Réagir en cas de départ de feu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81518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96402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400" noProof="0" dirty="0"/>
          </a:p>
        </p:txBody>
      </p:sp>
      <p:sp>
        <p:nvSpPr>
          <p:cNvPr id="10" name="Shape 7"/>
          <p:cNvSpPr/>
          <p:nvPr/>
        </p:nvSpPr>
        <p:spPr>
          <a:xfrm>
            <a:off x="122666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6698" y="24345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094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</a:t>
            </a:r>
            <a:endParaRPr lang="fr-FR" sz="2200" noProof="0" dirty="0"/>
          </a:p>
        </p:txBody>
      </p:sp>
      <p:sp>
        <p:nvSpPr>
          <p:cNvPr id="13" name="Text 9"/>
          <p:cNvSpPr/>
          <p:nvPr/>
        </p:nvSpPr>
        <p:spPr>
          <a:xfrm>
            <a:off x="118094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</a:t>
            </a:r>
            <a:endParaRPr lang="fr-FR" sz="2000" noProof="0" dirty="0"/>
          </a:p>
        </p:txBody>
      </p:sp>
      <p:sp>
        <p:nvSpPr>
          <p:cNvPr id="14" name="Shape 10"/>
          <p:cNvSpPr/>
          <p:nvPr/>
        </p:nvSpPr>
        <p:spPr>
          <a:xfrm>
            <a:off x="118094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18094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l'alarme immédiatement</a:t>
            </a:r>
            <a:endParaRPr lang="fr-FR" sz="1200" noProof="0" dirty="0"/>
          </a:p>
        </p:txBody>
      </p:sp>
      <p:sp>
        <p:nvSpPr>
          <p:cNvPr id="16" name="Text 12"/>
          <p:cNvSpPr/>
          <p:nvPr/>
        </p:nvSpPr>
        <p:spPr>
          <a:xfrm>
            <a:off x="398815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800" noProof="0" dirty="0"/>
          </a:p>
        </p:txBody>
      </p:sp>
      <p:sp>
        <p:nvSpPr>
          <p:cNvPr id="17" name="Shape 13"/>
          <p:cNvSpPr/>
          <p:nvPr/>
        </p:nvSpPr>
        <p:spPr>
          <a:xfrm>
            <a:off x="442706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4"/>
          <p:cNvSpPr/>
          <p:nvPr/>
        </p:nvSpPr>
        <p:spPr>
          <a:xfrm>
            <a:off x="657590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400" noProof="0" dirty="0"/>
          </a:p>
        </p:txBody>
      </p:sp>
      <p:sp>
        <p:nvSpPr>
          <p:cNvPr id="19" name="Shape 15"/>
          <p:cNvSpPr/>
          <p:nvPr/>
        </p:nvSpPr>
        <p:spPr>
          <a:xfrm>
            <a:off x="483854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8578" y="2434590"/>
            <a:ext cx="480060" cy="480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282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Évacuer</a:t>
            </a:r>
            <a:endParaRPr lang="fr-FR" sz="2200" noProof="0" dirty="0"/>
          </a:p>
        </p:txBody>
      </p:sp>
      <p:sp>
        <p:nvSpPr>
          <p:cNvPr id="22" name="Text 17"/>
          <p:cNvSpPr/>
          <p:nvPr/>
        </p:nvSpPr>
        <p:spPr>
          <a:xfrm>
            <a:off x="479282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point</a:t>
            </a:r>
            <a:endParaRPr lang="fr-FR" sz="2000" noProof="0" dirty="0"/>
          </a:p>
        </p:txBody>
      </p:sp>
      <p:sp>
        <p:nvSpPr>
          <p:cNvPr id="23" name="Shape 18"/>
          <p:cNvSpPr/>
          <p:nvPr/>
        </p:nvSpPr>
        <p:spPr>
          <a:xfrm>
            <a:off x="479282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9"/>
          <p:cNvSpPr/>
          <p:nvPr/>
        </p:nvSpPr>
        <p:spPr>
          <a:xfrm>
            <a:off x="479282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rassemblement, vérifier présents</a:t>
            </a:r>
            <a:endParaRPr lang="fr-FR" sz="1200" noProof="0" dirty="0"/>
          </a:p>
        </p:txBody>
      </p:sp>
      <p:sp>
        <p:nvSpPr>
          <p:cNvPr id="25" name="Text 20"/>
          <p:cNvSpPr/>
          <p:nvPr/>
        </p:nvSpPr>
        <p:spPr>
          <a:xfrm>
            <a:off x="760003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800" noProof="0" dirty="0"/>
          </a:p>
        </p:txBody>
      </p:sp>
      <p:sp>
        <p:nvSpPr>
          <p:cNvPr id="26" name="Shape 21"/>
          <p:cNvSpPr/>
          <p:nvPr/>
        </p:nvSpPr>
        <p:spPr>
          <a:xfrm>
            <a:off x="803894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/>
          <p:cNvSpPr/>
          <p:nvPr/>
        </p:nvSpPr>
        <p:spPr>
          <a:xfrm>
            <a:off x="1018778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400" noProof="0" dirty="0"/>
          </a:p>
        </p:txBody>
      </p:sp>
      <p:sp>
        <p:nvSpPr>
          <p:cNvPr id="28" name="Shape 23"/>
          <p:cNvSpPr/>
          <p:nvPr/>
        </p:nvSpPr>
        <p:spPr>
          <a:xfrm>
            <a:off x="845042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0458" y="2434590"/>
            <a:ext cx="480060" cy="4800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0470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</a:t>
            </a:r>
            <a:endParaRPr lang="fr-FR" sz="2200" noProof="0" dirty="0"/>
          </a:p>
        </p:txBody>
      </p:sp>
      <p:sp>
        <p:nvSpPr>
          <p:cNvPr id="31" name="Text 25"/>
          <p:cNvSpPr/>
          <p:nvPr/>
        </p:nvSpPr>
        <p:spPr>
          <a:xfrm>
            <a:off x="840470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formé</a:t>
            </a:r>
            <a:endParaRPr lang="fr-FR" sz="2000" noProof="0" dirty="0"/>
          </a:p>
        </p:txBody>
      </p:sp>
      <p:sp>
        <p:nvSpPr>
          <p:cNvPr id="32" name="Shape 26"/>
          <p:cNvSpPr/>
          <p:nvPr/>
        </p:nvSpPr>
        <p:spPr>
          <a:xfrm>
            <a:off x="840470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7"/>
          <p:cNvSpPr/>
          <p:nvPr/>
        </p:nvSpPr>
        <p:spPr>
          <a:xfrm>
            <a:off x="840470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extincteur ou RIA, sinon évacuer</a:t>
            </a:r>
            <a:endParaRPr lang="fr-FR" sz="1200" noProof="0" dirty="0"/>
          </a:p>
        </p:txBody>
      </p:sp>
      <p:sp>
        <p:nvSpPr>
          <p:cNvPr id="34" name="Text 28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i="1" noProof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  •  Évacuer  •  Agir si formé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kern="0" spc="800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</a:t>
            </a:r>
            <a:endParaRPr lang="fr-F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en cas de mauvaise réaction</a:t>
            </a:r>
            <a:endParaRPr lang="fr-F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4572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8658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58658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068" y="2423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806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Inaction</a:t>
            </a:r>
            <a:endParaRPr lang="fr-FR" sz="2800" noProof="0" dirty="0"/>
          </a:p>
        </p:txBody>
      </p:sp>
      <p:sp>
        <p:nvSpPr>
          <p:cNvPr id="9" name="Text 6"/>
          <p:cNvSpPr/>
          <p:nvPr/>
        </p:nvSpPr>
        <p:spPr>
          <a:xfrm>
            <a:off x="99806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formation</a:t>
            </a:r>
            <a:endParaRPr lang="fr-F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99806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formé mais ne pas agir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mettre des vies en danger.</a:t>
            </a:r>
            <a:endParaRPr lang="fr-FR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99806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Vies en danger</a:t>
            </a:r>
            <a:endParaRPr lang="fr-FR" sz="1400" noProof="0" dirty="0"/>
          </a:p>
        </p:txBody>
      </p:sp>
      <p:sp>
        <p:nvSpPr>
          <p:cNvPr id="12" name="Shape 9"/>
          <p:cNvSpPr/>
          <p:nvPr/>
        </p:nvSpPr>
        <p:spPr>
          <a:xfrm>
            <a:off x="433562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433562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108" y="2423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4710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Brûlures</a:t>
            </a:r>
            <a:endParaRPr lang="fr-FR" sz="2800" noProof="0" dirty="0"/>
          </a:p>
        </p:txBody>
      </p:sp>
      <p:sp>
        <p:nvSpPr>
          <p:cNvPr id="16" name="Text 12"/>
          <p:cNvSpPr/>
          <p:nvPr/>
        </p:nvSpPr>
        <p:spPr>
          <a:xfrm>
            <a:off x="474710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extincteur</a:t>
            </a:r>
            <a:endParaRPr lang="fr-FR" sz="1400" noProof="0" dirty="0"/>
          </a:p>
        </p:txBody>
      </p:sp>
      <p:sp>
        <p:nvSpPr>
          <p:cNvPr id="17" name="Text 13"/>
          <p:cNvSpPr/>
          <p:nvPr/>
        </p:nvSpPr>
        <p:spPr>
          <a:xfrm>
            <a:off x="474710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près = brûlure.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loin = inefficace.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474710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Blessure grave</a:t>
            </a:r>
            <a:endParaRPr lang="fr-FR" sz="1400" noProof="0" dirty="0"/>
          </a:p>
        </p:txBody>
      </p:sp>
      <p:sp>
        <p:nvSpPr>
          <p:cNvPr id="19" name="Shape 15"/>
          <p:cNvSpPr/>
          <p:nvPr/>
        </p:nvSpPr>
        <p:spPr>
          <a:xfrm>
            <a:off x="808466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6"/>
          <p:cNvSpPr/>
          <p:nvPr/>
        </p:nvSpPr>
        <p:spPr>
          <a:xfrm>
            <a:off x="808466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6148" y="24231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9614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Aggravation</a:t>
            </a:r>
            <a:endParaRPr lang="fr-FR" sz="2800" noProof="0" dirty="0"/>
          </a:p>
        </p:txBody>
      </p:sp>
      <p:sp>
        <p:nvSpPr>
          <p:cNvPr id="23" name="Text 18"/>
          <p:cNvSpPr/>
          <p:nvPr/>
        </p:nvSpPr>
        <p:spPr>
          <a:xfrm>
            <a:off x="849614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feu</a:t>
            </a:r>
            <a:endParaRPr lang="fr-FR" sz="1400" noProof="0" dirty="0"/>
          </a:p>
        </p:txBody>
      </p:sp>
      <p:sp>
        <p:nvSpPr>
          <p:cNvPr id="24" name="Text 19"/>
          <p:cNvSpPr/>
          <p:nvPr/>
        </p:nvSpPr>
        <p:spPr>
          <a:xfrm>
            <a:off x="849614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extincteur sur mauvais feu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incendie aggravé.</a:t>
            </a:r>
            <a:endParaRPr lang="fr-FR" sz="1300" noProof="0" dirty="0"/>
          </a:p>
        </p:txBody>
      </p:sp>
      <p:sp>
        <p:nvSpPr>
          <p:cNvPr id="25" name="Text 20"/>
          <p:cNvSpPr/>
          <p:nvPr/>
        </p:nvSpPr>
        <p:spPr>
          <a:xfrm>
            <a:off x="849614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Brûlures graves</a:t>
            </a:r>
            <a:endParaRPr lang="fr-FR" sz="1400" noProof="0" dirty="0"/>
          </a:p>
        </p:txBody>
      </p:sp>
      <p:sp>
        <p:nvSpPr>
          <p:cNvPr id="26" name="Text 2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i="1" noProof="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réaction rigoureuse protège des vies et le site.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Avant, pendant, après l'alerte</a:t>
            </a:r>
            <a:endParaRPr lang="fr-FR" sz="1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8640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70" y="1817370"/>
            <a:ext cx="160020" cy="1600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kern="0" spc="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600" noProof="0" dirty="0"/>
          </a:p>
        </p:txBody>
      </p:sp>
      <p:sp>
        <p:nvSpPr>
          <p:cNvPr id="10" name="Shape 6"/>
          <p:cNvSpPr/>
          <p:nvPr/>
        </p:nvSpPr>
        <p:spPr>
          <a:xfrm>
            <a:off x="640080" y="2194560"/>
            <a:ext cx="5486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7"/>
          <p:cNvSpPr/>
          <p:nvPr/>
        </p:nvSpPr>
        <p:spPr>
          <a:xfrm>
            <a:off x="914400" y="25146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2560320"/>
            <a:ext cx="182880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780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 et donner l'alarme</a:t>
            </a:r>
            <a:endParaRPr lang="fr-FR" sz="1300" noProof="0" dirty="0"/>
          </a:p>
        </p:txBody>
      </p:sp>
      <p:sp>
        <p:nvSpPr>
          <p:cNvPr id="14" name="Shape 9"/>
          <p:cNvSpPr/>
          <p:nvPr/>
        </p:nvSpPr>
        <p:spPr>
          <a:xfrm>
            <a:off x="914400" y="30632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108960"/>
            <a:ext cx="182880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0266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sécurité (évacuer)</a:t>
            </a:r>
            <a:endParaRPr lang="fr-FR" sz="1300" noProof="0" dirty="0"/>
          </a:p>
        </p:txBody>
      </p:sp>
      <p:sp>
        <p:nvSpPr>
          <p:cNvPr id="17" name="Shape 11"/>
          <p:cNvSpPr/>
          <p:nvPr/>
        </p:nvSpPr>
        <p:spPr>
          <a:xfrm>
            <a:off x="914400" y="361188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657600"/>
            <a:ext cx="182880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35753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le point de rassemblement par la porte la plus proche de soi au plus vite</a:t>
            </a:r>
            <a:endParaRPr lang="fr-FR" sz="1300" noProof="0" dirty="0"/>
          </a:p>
        </p:txBody>
      </p:sp>
      <p:sp>
        <p:nvSpPr>
          <p:cNvPr id="20" name="Shape 13"/>
          <p:cNvSpPr/>
          <p:nvPr/>
        </p:nvSpPr>
        <p:spPr>
          <a:xfrm>
            <a:off x="914400" y="41605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206240"/>
            <a:ext cx="182880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4123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S'assurer que tout le monde est présent</a:t>
            </a:r>
            <a:endParaRPr lang="fr-FR" sz="1300" noProof="0" dirty="0"/>
          </a:p>
        </p:txBody>
      </p:sp>
      <p:sp>
        <p:nvSpPr>
          <p:cNvPr id="23" name="Shape 15"/>
          <p:cNvSpPr/>
          <p:nvPr/>
        </p:nvSpPr>
        <p:spPr>
          <a:xfrm>
            <a:off x="914400" y="470916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754880"/>
            <a:ext cx="182880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46725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son rôle (guide / serre-file / ESI=équipier seconde intervention)</a:t>
            </a:r>
            <a:endParaRPr lang="fr-FR" sz="1300" noProof="0" dirty="0"/>
          </a:p>
        </p:txBody>
      </p:sp>
      <p:sp>
        <p:nvSpPr>
          <p:cNvPr id="26" name="Shape 17"/>
          <p:cNvSpPr/>
          <p:nvPr/>
        </p:nvSpPr>
        <p:spPr>
          <a:xfrm>
            <a:off x="914400" y="52578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5303520"/>
            <a:ext cx="182880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37160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le bon extincteur si formé</a:t>
            </a:r>
            <a:endParaRPr lang="fr-FR" sz="1300" noProof="0" dirty="0"/>
          </a:p>
        </p:txBody>
      </p:sp>
      <p:sp>
        <p:nvSpPr>
          <p:cNvPr id="29" name="Shape 19"/>
          <p:cNvSpPr/>
          <p:nvPr/>
        </p:nvSpPr>
        <p:spPr>
          <a:xfrm>
            <a:off x="6400800" y="1600200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0"/>
          <p:cNvSpPr/>
          <p:nvPr/>
        </p:nvSpPr>
        <p:spPr>
          <a:xfrm>
            <a:off x="6492240" y="1600200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1"/>
          <p:cNvSpPr/>
          <p:nvPr/>
        </p:nvSpPr>
        <p:spPr>
          <a:xfrm>
            <a:off x="6720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600" noProof="0" dirty="0"/>
          </a:p>
        </p:txBody>
      </p:sp>
      <p:sp>
        <p:nvSpPr>
          <p:cNvPr id="32" name="Text 22"/>
          <p:cNvSpPr/>
          <p:nvPr/>
        </p:nvSpPr>
        <p:spPr>
          <a:xfrm>
            <a:off x="67208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Alerte, évacue, rejoint le point de rassemblement. N'intervient que s'il est formé.</a:t>
            </a:r>
            <a:endParaRPr lang="fr-FR" sz="1200" noProof="0" dirty="0"/>
          </a:p>
        </p:txBody>
      </p:sp>
      <p:sp>
        <p:nvSpPr>
          <p:cNvPr id="33" name="Shape 23"/>
          <p:cNvSpPr/>
          <p:nvPr/>
        </p:nvSpPr>
        <p:spPr>
          <a:xfrm>
            <a:off x="6400800" y="3090672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24"/>
          <p:cNvSpPr/>
          <p:nvPr/>
        </p:nvSpPr>
        <p:spPr>
          <a:xfrm>
            <a:off x="6492240" y="3090672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25"/>
          <p:cNvSpPr/>
          <p:nvPr/>
        </p:nvSpPr>
        <p:spPr>
          <a:xfrm>
            <a:off x="6720840" y="3227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600" noProof="0" dirty="0"/>
          </a:p>
        </p:txBody>
      </p:sp>
      <p:sp>
        <p:nvSpPr>
          <p:cNvPr id="36" name="Text 26"/>
          <p:cNvSpPr/>
          <p:nvPr/>
        </p:nvSpPr>
        <p:spPr>
          <a:xfrm>
            <a:off x="6720840" y="359359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Coordonnent l'évacuation. Contrôlent la présence au point de rassemblement.</a:t>
            </a:r>
            <a:endParaRPr lang="fr-FR" sz="1200" noProof="0" dirty="0"/>
          </a:p>
        </p:txBody>
      </p:sp>
      <p:sp>
        <p:nvSpPr>
          <p:cNvPr id="37" name="Shape 27"/>
          <p:cNvSpPr/>
          <p:nvPr/>
        </p:nvSpPr>
        <p:spPr>
          <a:xfrm>
            <a:off x="6400800" y="4581144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28"/>
          <p:cNvSpPr/>
          <p:nvPr/>
        </p:nvSpPr>
        <p:spPr>
          <a:xfrm>
            <a:off x="6492240" y="4581144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29"/>
          <p:cNvSpPr/>
          <p:nvPr/>
        </p:nvSpPr>
        <p:spPr>
          <a:xfrm>
            <a:off x="6720840" y="47183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QSE</a:t>
            </a:r>
            <a:endParaRPr lang="fr-FR" sz="1600" noProof="0" dirty="0"/>
          </a:p>
        </p:txBody>
      </p:sp>
      <p:sp>
        <p:nvSpPr>
          <p:cNvPr id="40" name="Text 30"/>
          <p:cNvSpPr/>
          <p:nvPr/>
        </p:nvSpPr>
        <p:spPr>
          <a:xfrm>
            <a:off x="6720840" y="508406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Désigne </a:t>
            </a:r>
            <a:r>
              <a:rPr lang="fr-FR" sz="1200" noProof="0" dirty="0" err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guide-file</a:t>
            </a: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serre-file, ESI. Pilote les exercices d'évacuation et formations.</a:t>
            </a:r>
            <a:endParaRPr lang="fr-FR" sz="1200" noProof="0" dirty="0"/>
          </a:p>
        </p:txBody>
      </p:sp>
      <p:sp>
        <p:nvSpPr>
          <p:cNvPr id="41" name="Text 3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4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STD-PP-P17  •  Sécurité incendie  •  CLR Champigneulles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907128" y="1280160"/>
            <a:ext cx="2377440" cy="237744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6585" y="1969618"/>
            <a:ext cx="998525" cy="998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</a:t>
            </a:r>
            <a:endParaRPr lang="fr-FR" sz="4400" noProof="0" dirty="0"/>
          </a:p>
        </p:txBody>
      </p:sp>
      <p:sp>
        <p:nvSpPr>
          <p:cNvPr id="5" name="Text 2"/>
          <p:cNvSpPr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 des vies.</a:t>
            </a:r>
            <a:endParaRPr lang="fr-FR" sz="44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6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P17   •   SÉCURITÉ INCENDIE   •   REXEL CLR CHAMPIGNEULLES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421</Words>
  <Application>Microsoft Office PowerPoint</Application>
  <PresentationFormat>Grand écran</PresentationFormat>
  <Paragraphs>98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Rexel France — CLR Champigneulles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STD-PP-P17 — INCENDIE</dc:title>
  <dc:subject>PptxGenJS Presentation</dc:subject>
  <dc:creator>PptxGenJS</dc:creator>
  <cp:lastModifiedBy>Georges, Charlene</cp:lastModifiedBy>
  <cp:revision>3</cp:revision>
  <dcterms:created xsi:type="dcterms:W3CDTF">2026-05-12T08:00:30Z</dcterms:created>
  <dcterms:modified xsi:type="dcterms:W3CDTF">2026-09-10T12:28:53Z</dcterms:modified>
</cp:coreProperties>
</file>