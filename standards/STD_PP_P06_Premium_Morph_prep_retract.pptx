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64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813816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850392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926080" cy="2926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457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kern="0" spc="6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fr-FR" sz="1000" noProof="0" dirty="0"/>
          </a:p>
        </p:txBody>
      </p:sp>
      <p:sp>
        <p:nvSpPr>
          <p:cNvPr id="8" name="Shape 5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P6</a:t>
            </a:r>
            <a:endParaRPr lang="fr-F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93192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fr-FR" sz="6000" noProof="0" dirty="0"/>
          </a:p>
        </p:txBody>
      </p:sp>
      <p:sp>
        <p:nvSpPr>
          <p:cNvPr id="11" name="Text 8"/>
          <p:cNvSpPr/>
          <p:nvPr/>
        </p:nvSpPr>
        <p:spPr>
          <a:xfrm>
            <a:off x="3931920" y="2148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i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6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6000" noProof="0" dirty="0"/>
          </a:p>
        </p:txBody>
      </p:sp>
      <p:sp>
        <p:nvSpPr>
          <p:cNvPr id="12" name="Text 9"/>
          <p:cNvSpPr/>
          <p:nvPr/>
        </p:nvSpPr>
        <p:spPr>
          <a:xfrm>
            <a:off x="3931920" y="3063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chaque palette avant de gerber.</a:t>
            </a:r>
            <a:endParaRPr lang="fr-FR" sz="1500" noProof="0" dirty="0"/>
          </a:p>
        </p:txBody>
      </p:sp>
      <p:sp>
        <p:nvSpPr>
          <p:cNvPr id="13" name="Shape 10"/>
          <p:cNvSpPr/>
          <p:nvPr/>
        </p:nvSpPr>
        <p:spPr>
          <a:xfrm>
            <a:off x="3931920" y="365760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393192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kern="0" spc="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STD-PP-P6   •   Mars 2026   •   Formation opérateur</a:t>
            </a:r>
            <a:endParaRPr lang="fr-FR" sz="1000" noProof="0" dirty="0"/>
          </a:p>
        </p:txBody>
      </p:sp>
      <p:sp>
        <p:nvSpPr>
          <p:cNvPr id="15" name="Text 1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kern="0" spc="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85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274320"/>
            <a:ext cx="3108960" cy="31089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97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Toute palette gerbée</a:t>
            </a:r>
            <a:endParaRPr lang="fr-FR" sz="3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doit être sécurisée. »</a:t>
            </a:r>
            <a:endParaRPr lang="fr-FR" sz="38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8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&amp; préparer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N°96 et colis sur convoyeur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28016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011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</a:t>
            </a:r>
            <a:endParaRPr lang="fr-FR" sz="1800" noProof="0" dirty="0"/>
          </a:p>
        </p:txBody>
      </p:sp>
      <p:sp>
        <p:nvSpPr>
          <p:cNvPr id="13" name="Text 9"/>
          <p:cNvSpPr/>
          <p:nvPr/>
        </p:nvSpPr>
        <p:spPr>
          <a:xfrm>
            <a:off x="68580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fr-FR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endParaRPr lang="fr-FR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329184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329184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406908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0116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</a:t>
            </a:r>
            <a:endParaRPr lang="fr-FR" sz="1800" noProof="0" dirty="0"/>
          </a:p>
        </p:txBody>
      </p:sp>
      <p:sp>
        <p:nvSpPr>
          <p:cNvPr id="19" name="Text 14"/>
          <p:cNvSpPr/>
          <p:nvPr/>
        </p:nvSpPr>
        <p:spPr>
          <a:xfrm>
            <a:off x="347472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colis</a:t>
            </a:r>
            <a:endParaRPr lang="fr-FR" sz="1100" noProof="0" dirty="0"/>
          </a:p>
        </p:txBody>
      </p:sp>
      <p:sp>
        <p:nvSpPr>
          <p:cNvPr id="20" name="Shape 15"/>
          <p:cNvSpPr/>
          <p:nvPr/>
        </p:nvSpPr>
        <p:spPr>
          <a:xfrm>
            <a:off x="608076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6"/>
          <p:cNvSpPr/>
          <p:nvPr/>
        </p:nvSpPr>
        <p:spPr>
          <a:xfrm>
            <a:off x="608076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7"/>
          <p:cNvSpPr/>
          <p:nvPr/>
        </p:nvSpPr>
        <p:spPr>
          <a:xfrm>
            <a:off x="685800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0116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36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</a:t>
            </a:r>
            <a:endParaRPr lang="fr-FR" sz="1800" noProof="0" dirty="0"/>
          </a:p>
        </p:txBody>
      </p:sp>
      <p:sp>
        <p:nvSpPr>
          <p:cNvPr id="25" name="Text 19"/>
          <p:cNvSpPr/>
          <p:nvPr/>
        </p:nvSpPr>
        <p:spPr>
          <a:xfrm>
            <a:off x="62636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emplacements,</a:t>
            </a:r>
            <a:endParaRPr lang="fr-FR" sz="1100" noProof="0" dirty="0"/>
          </a:p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cartons</a:t>
            </a:r>
            <a:endParaRPr lang="fr-FR" sz="1100" noProof="0" dirty="0"/>
          </a:p>
        </p:txBody>
      </p:sp>
      <p:sp>
        <p:nvSpPr>
          <p:cNvPr id="26" name="Shape 2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4456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 err="1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13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N°96 au bout de l'allée 21, emplacement dédié.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au gerbage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Périmètre, distance, sangle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73152" cy="2926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300" noProof="0" dirty="0"/>
          </a:p>
        </p:txBody>
      </p:sp>
      <p:sp>
        <p:nvSpPr>
          <p:cNvPr id="12" name="Shape 8"/>
          <p:cNvSpPr/>
          <p:nvPr/>
        </p:nvSpPr>
        <p:spPr>
          <a:xfrm>
            <a:off x="777240" y="21031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9"/>
          <p:cNvSpPr/>
          <p:nvPr/>
        </p:nvSpPr>
        <p:spPr>
          <a:xfrm>
            <a:off x="77724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000" noProof="0" dirty="0"/>
          </a:p>
        </p:txBody>
      </p:sp>
      <p:sp>
        <p:nvSpPr>
          <p:cNvPr id="14" name="Text 10"/>
          <p:cNvSpPr/>
          <p:nvPr/>
        </p:nvSpPr>
        <p:spPr>
          <a:xfrm>
            <a:off x="114300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la palette (filmée ou sanglée)</a:t>
            </a:r>
            <a:endParaRPr lang="fr-FR" sz="1300" noProof="0" dirty="0"/>
          </a:p>
        </p:txBody>
      </p:sp>
      <p:sp>
        <p:nvSpPr>
          <p:cNvPr id="15" name="Shape 11"/>
          <p:cNvSpPr/>
          <p:nvPr/>
        </p:nvSpPr>
        <p:spPr>
          <a:xfrm>
            <a:off x="777240" y="27889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2"/>
          <p:cNvSpPr/>
          <p:nvPr/>
        </p:nvSpPr>
        <p:spPr>
          <a:xfrm>
            <a:off x="77724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000" noProof="0" dirty="0"/>
          </a:p>
        </p:txBody>
      </p:sp>
      <p:sp>
        <p:nvSpPr>
          <p:cNvPr id="17" name="Text 13"/>
          <p:cNvSpPr/>
          <p:nvPr/>
        </p:nvSpPr>
        <p:spPr>
          <a:xfrm>
            <a:off x="114300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la distance 1,5× la hauteur du mât</a:t>
            </a:r>
            <a:endParaRPr lang="fr-FR" sz="1300" noProof="0" dirty="0"/>
          </a:p>
        </p:txBody>
      </p:sp>
      <p:sp>
        <p:nvSpPr>
          <p:cNvPr id="18" name="Shape 14"/>
          <p:cNvSpPr/>
          <p:nvPr/>
        </p:nvSpPr>
        <p:spPr>
          <a:xfrm>
            <a:off x="777240" y="34747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77724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000" noProof="0" dirty="0"/>
          </a:p>
        </p:txBody>
      </p:sp>
      <p:sp>
        <p:nvSpPr>
          <p:cNvPr id="20" name="Text 16"/>
          <p:cNvSpPr/>
          <p:nvPr/>
        </p:nvSpPr>
        <p:spPr>
          <a:xfrm>
            <a:off x="114300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Remettre le </a:t>
            </a:r>
            <a:r>
              <a:rPr lang="fr-FR" sz="1300" noProof="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sa zone en fin de tournée</a:t>
            </a:r>
            <a:endParaRPr lang="fr-FR" sz="1300" noProof="0" dirty="0"/>
          </a:p>
        </p:txBody>
      </p:sp>
      <p:sp>
        <p:nvSpPr>
          <p:cNvPr id="21" name="Shape 17"/>
          <p:cNvSpPr/>
          <p:nvPr/>
        </p:nvSpPr>
        <p:spPr>
          <a:xfrm>
            <a:off x="461772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4617720" y="1417320"/>
            <a:ext cx="73152" cy="29260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60020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120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300" noProof="0" dirty="0"/>
          </a:p>
        </p:txBody>
      </p:sp>
      <p:sp>
        <p:nvSpPr>
          <p:cNvPr id="25" name="Shape 20"/>
          <p:cNvSpPr/>
          <p:nvPr/>
        </p:nvSpPr>
        <p:spPr>
          <a:xfrm>
            <a:off x="4846320" y="21031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1"/>
          <p:cNvSpPr/>
          <p:nvPr/>
        </p:nvSpPr>
        <p:spPr>
          <a:xfrm>
            <a:off x="484632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27" name="Text 22"/>
          <p:cNvSpPr/>
          <p:nvPr/>
        </p:nvSpPr>
        <p:spPr>
          <a:xfrm>
            <a:off x="521208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piétons dans le périmètre de gerbage</a:t>
            </a:r>
            <a:endParaRPr lang="fr-FR" sz="1300" noProof="0" dirty="0"/>
          </a:p>
        </p:txBody>
      </p:sp>
      <p:sp>
        <p:nvSpPr>
          <p:cNvPr id="28" name="Shape 23"/>
          <p:cNvSpPr/>
          <p:nvPr/>
        </p:nvSpPr>
        <p:spPr>
          <a:xfrm>
            <a:off x="4846320" y="27889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4"/>
          <p:cNvSpPr/>
          <p:nvPr/>
        </p:nvSpPr>
        <p:spPr>
          <a:xfrm>
            <a:off x="4846320" y="2770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0" name="Text 25"/>
          <p:cNvSpPr/>
          <p:nvPr/>
        </p:nvSpPr>
        <p:spPr>
          <a:xfrm>
            <a:off x="521208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D'engins dans la zone pendant le gerbage</a:t>
            </a:r>
            <a:endParaRPr lang="fr-FR" sz="1300" noProof="0" dirty="0"/>
          </a:p>
        </p:txBody>
      </p:sp>
      <p:sp>
        <p:nvSpPr>
          <p:cNvPr id="31" name="Shape 26"/>
          <p:cNvSpPr/>
          <p:nvPr/>
        </p:nvSpPr>
        <p:spPr>
          <a:xfrm>
            <a:off x="4846320" y="34747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7"/>
          <p:cNvSpPr/>
          <p:nvPr/>
        </p:nvSpPr>
        <p:spPr>
          <a:xfrm>
            <a:off x="484632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3" name="Text 28"/>
          <p:cNvSpPr/>
          <p:nvPr/>
        </p:nvSpPr>
        <p:spPr>
          <a:xfrm>
            <a:off x="521208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dépasser le sabot de la lisse (50 mm)</a:t>
            </a:r>
            <a:endParaRPr lang="fr-FR" sz="1300" noProof="0" dirty="0"/>
          </a:p>
        </p:txBody>
      </p:sp>
      <p:sp>
        <p:nvSpPr>
          <p:cNvPr id="34" name="Text 29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i="1" noProof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sécurisée  =  équipe protégée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temps du </a:t>
            </a:r>
            <a:r>
              <a:rPr lang="fr-FR" sz="2400" b="1" noProof="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rétract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prise à la remise — chaîne complète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77724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233172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000" noProof="0" dirty="0"/>
          </a:p>
        </p:txBody>
      </p:sp>
      <p:sp>
        <p:nvSpPr>
          <p:cNvPr id="10" name="Shape 7"/>
          <p:cNvSpPr/>
          <p:nvPr/>
        </p:nvSpPr>
        <p:spPr>
          <a:xfrm>
            <a:off x="105156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19019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</a:t>
            </a:r>
            <a:endParaRPr lang="fr-FR" sz="1900" noProof="0" dirty="0"/>
          </a:p>
        </p:txBody>
      </p:sp>
      <p:sp>
        <p:nvSpPr>
          <p:cNvPr id="13" name="Text 9"/>
          <p:cNvSpPr/>
          <p:nvPr/>
        </p:nvSpPr>
        <p:spPr>
          <a:xfrm>
            <a:off x="1051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fr-FR" sz="1900" b="1" i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rétract</a:t>
            </a:r>
            <a:endParaRPr lang="fr-FR" sz="1900" noProof="0" dirty="0"/>
          </a:p>
        </p:txBody>
      </p:sp>
      <p:sp>
        <p:nvSpPr>
          <p:cNvPr id="14" name="Shape 10"/>
          <p:cNvSpPr/>
          <p:nvPr/>
        </p:nvSpPr>
        <p:spPr>
          <a:xfrm>
            <a:off x="105156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05156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</a:t>
            </a:r>
            <a:r>
              <a:rPr lang="fr-F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bout allée 21</a:t>
            </a:r>
            <a:endParaRPr lang="fr-FR" sz="1050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269748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8328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3"/>
          <p:cNvSpPr/>
          <p:nvPr/>
        </p:nvSpPr>
        <p:spPr>
          <a:xfrm>
            <a:off x="493776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000" noProof="0" dirty="0"/>
          </a:p>
        </p:txBody>
      </p:sp>
      <p:sp>
        <p:nvSpPr>
          <p:cNvPr id="19" name="Shape 14"/>
          <p:cNvSpPr/>
          <p:nvPr/>
        </p:nvSpPr>
        <p:spPr>
          <a:xfrm>
            <a:off x="365760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19019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576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S'affecter</a:t>
            </a:r>
            <a:endParaRPr lang="fr-FR" sz="1900" noProof="0" dirty="0"/>
          </a:p>
        </p:txBody>
      </p:sp>
      <p:sp>
        <p:nvSpPr>
          <p:cNvPr id="22" name="Text 16"/>
          <p:cNvSpPr/>
          <p:nvPr/>
        </p:nvSpPr>
        <p:spPr>
          <a:xfrm>
            <a:off x="36576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envoyer</a:t>
            </a:r>
            <a:endParaRPr lang="fr-FR" sz="1900" noProof="0" dirty="0"/>
          </a:p>
        </p:txBody>
      </p:sp>
      <p:sp>
        <p:nvSpPr>
          <p:cNvPr id="23" name="Shape 17"/>
          <p:cNvSpPr/>
          <p:nvPr/>
        </p:nvSpPr>
        <p:spPr>
          <a:xfrm>
            <a:off x="365760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8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à l'avant, convoyeur</a:t>
            </a:r>
            <a:endParaRPr lang="fr-FR" sz="1050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2697480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98932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0"/>
          <p:cNvSpPr/>
          <p:nvPr/>
        </p:nvSpPr>
        <p:spPr>
          <a:xfrm>
            <a:off x="754380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000" noProof="0" dirty="0"/>
          </a:p>
        </p:txBody>
      </p:sp>
      <p:sp>
        <p:nvSpPr>
          <p:cNvPr id="28" name="Shape 21"/>
          <p:cNvSpPr/>
          <p:nvPr/>
        </p:nvSpPr>
        <p:spPr>
          <a:xfrm>
            <a:off x="626364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1901952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2636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Remettre</a:t>
            </a:r>
            <a:endParaRPr lang="fr-FR" sz="1900" noProof="0" dirty="0"/>
          </a:p>
        </p:txBody>
      </p:sp>
      <p:sp>
        <p:nvSpPr>
          <p:cNvPr id="31" name="Text 23"/>
          <p:cNvSpPr/>
          <p:nvPr/>
        </p:nvSpPr>
        <p:spPr>
          <a:xfrm>
            <a:off x="6263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fr-FR" sz="1900" b="1" i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rétract</a:t>
            </a:r>
            <a:endParaRPr lang="fr-FR" sz="1900" noProof="0" dirty="0"/>
          </a:p>
        </p:txBody>
      </p:sp>
      <p:sp>
        <p:nvSpPr>
          <p:cNvPr id="32" name="Shape 24"/>
          <p:cNvSpPr/>
          <p:nvPr/>
        </p:nvSpPr>
        <p:spPr>
          <a:xfrm>
            <a:off x="626364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5"/>
          <p:cNvSpPr/>
          <p:nvPr/>
        </p:nvSpPr>
        <p:spPr>
          <a:xfrm>
            <a:off x="626364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sa zone en fin de tournée</a:t>
            </a:r>
            <a:endParaRPr lang="fr-FR" sz="1050" noProof="0" dirty="0"/>
          </a:p>
        </p:txBody>
      </p:sp>
      <p:sp>
        <p:nvSpPr>
          <p:cNvPr id="34" name="Text 2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palette sanglée  •  Un périmètre dégagé  •  Un </a:t>
            </a:r>
            <a:r>
              <a:rPr lang="fr-FR" sz="1200" i="1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12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rangé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8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RÉELS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si la palette n'est pas sécurisée</a:t>
            </a:r>
            <a:endParaRPr lang="fr-F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2743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34290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34290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</a:t>
            </a:r>
            <a:endParaRPr lang="fr-FR" sz="2400" noProof="0" dirty="0"/>
          </a:p>
        </p:txBody>
      </p:sp>
      <p:sp>
        <p:nvSpPr>
          <p:cNvPr id="9" name="Text 6"/>
          <p:cNvSpPr/>
          <p:nvPr/>
        </p:nvSpPr>
        <p:spPr>
          <a:xfrm>
            <a:off x="61722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d'objets</a:t>
            </a:r>
            <a:endParaRPr lang="fr-F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6172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non sécurisée,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non arrimés.</a:t>
            </a:r>
            <a:endParaRPr lang="fr-FR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34290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61722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 grave, casse</a:t>
            </a:r>
            <a:endParaRPr lang="fr-FR" sz="1200" noProof="0" dirty="0"/>
          </a:p>
        </p:txBody>
      </p:sp>
      <p:sp>
        <p:nvSpPr>
          <p:cNvPr id="13" name="Shape 10"/>
          <p:cNvSpPr/>
          <p:nvPr/>
        </p:nvSpPr>
        <p:spPr>
          <a:xfrm>
            <a:off x="322326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1"/>
          <p:cNvSpPr/>
          <p:nvPr/>
        </p:nvSpPr>
        <p:spPr>
          <a:xfrm>
            <a:off x="322326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21031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758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fr-FR" sz="2400" noProof="0" dirty="0"/>
          </a:p>
        </p:txBody>
      </p:sp>
      <p:sp>
        <p:nvSpPr>
          <p:cNvPr id="17" name="Text 13"/>
          <p:cNvSpPr/>
          <p:nvPr/>
        </p:nvSpPr>
        <p:spPr>
          <a:xfrm>
            <a:off x="349758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 / piéton</a:t>
            </a:r>
            <a:endParaRPr lang="fr-FR" sz="1300" noProof="0" dirty="0"/>
          </a:p>
        </p:txBody>
      </p:sp>
      <p:sp>
        <p:nvSpPr>
          <p:cNvPr id="18" name="Text 14"/>
          <p:cNvSpPr/>
          <p:nvPr/>
        </p:nvSpPr>
        <p:spPr>
          <a:xfrm>
            <a:off x="349758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Piéton présent dans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 de gerbage.</a:t>
            </a:r>
            <a:endParaRPr lang="fr-FR" sz="1100" noProof="0" dirty="0"/>
          </a:p>
        </p:txBody>
      </p:sp>
      <p:sp>
        <p:nvSpPr>
          <p:cNvPr id="19" name="Shape 15"/>
          <p:cNvSpPr/>
          <p:nvPr/>
        </p:nvSpPr>
        <p:spPr>
          <a:xfrm>
            <a:off x="322326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349758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Blessure grave</a:t>
            </a:r>
            <a:endParaRPr lang="fr-FR" sz="1200" noProof="0" dirty="0"/>
          </a:p>
        </p:txBody>
      </p:sp>
      <p:sp>
        <p:nvSpPr>
          <p:cNvPr id="21" name="Shape 17"/>
          <p:cNvSpPr/>
          <p:nvPr/>
        </p:nvSpPr>
        <p:spPr>
          <a:xfrm>
            <a:off x="610362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610362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210312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794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Désorganisation</a:t>
            </a:r>
            <a:endParaRPr lang="fr-FR" sz="2400" noProof="0" dirty="0"/>
          </a:p>
        </p:txBody>
      </p:sp>
      <p:sp>
        <p:nvSpPr>
          <p:cNvPr id="25" name="Text 20"/>
          <p:cNvSpPr/>
          <p:nvPr/>
        </p:nvSpPr>
        <p:spPr>
          <a:xfrm>
            <a:off x="637794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zone</a:t>
            </a:r>
            <a:endParaRPr lang="fr-FR" sz="1300" noProof="0" dirty="0"/>
          </a:p>
        </p:txBody>
      </p:sp>
      <p:sp>
        <p:nvSpPr>
          <p:cNvPr id="26" name="Text 21"/>
          <p:cNvSpPr/>
          <p:nvPr/>
        </p:nvSpPr>
        <p:spPr>
          <a:xfrm>
            <a:off x="63779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mal rangé,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non remise en ordre.</a:t>
            </a:r>
            <a:endParaRPr lang="fr-FR" sz="1100" noProof="0" dirty="0"/>
          </a:p>
        </p:txBody>
      </p:sp>
      <p:sp>
        <p:nvSpPr>
          <p:cNvPr id="27" name="Shape 22"/>
          <p:cNvSpPr/>
          <p:nvPr/>
        </p:nvSpPr>
        <p:spPr>
          <a:xfrm>
            <a:off x="610362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637794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Perte de temps</a:t>
            </a:r>
            <a:endParaRPr lang="fr-FR" sz="1200" noProof="0" dirty="0"/>
          </a:p>
        </p:txBody>
      </p:sp>
      <p:sp>
        <p:nvSpPr>
          <p:cNvPr id="29" name="Text 2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au gerbage n'est pas une option.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préparation </a:t>
            </a:r>
            <a:r>
              <a:rPr lang="fr-FR" sz="1100" i="1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rétract</a:t>
            </a:r>
            <a:endParaRPr lang="fr-FR" sz="11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600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200" noProof="0" dirty="0"/>
          </a:p>
        </p:txBody>
      </p:sp>
      <p:sp>
        <p:nvSpPr>
          <p:cNvPr id="10" name="Shape 6"/>
          <p:cNvSpPr/>
          <p:nvPr/>
        </p:nvSpPr>
        <p:spPr>
          <a:xfrm>
            <a:off x="822960" y="20391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7"/>
          <p:cNvSpPr/>
          <p:nvPr/>
        </p:nvSpPr>
        <p:spPr>
          <a:xfrm>
            <a:off x="82296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2" name="Text 8"/>
          <p:cNvSpPr/>
          <p:nvPr/>
        </p:nvSpPr>
        <p:spPr>
          <a:xfrm>
            <a:off x="11430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N°96 récupéré dans sa zone</a:t>
            </a:r>
            <a:endParaRPr lang="fr-FR" sz="1200" noProof="0" dirty="0"/>
          </a:p>
        </p:txBody>
      </p:sp>
      <p:sp>
        <p:nvSpPr>
          <p:cNvPr id="13" name="Shape 9"/>
          <p:cNvSpPr/>
          <p:nvPr/>
        </p:nvSpPr>
        <p:spPr>
          <a:xfrm>
            <a:off x="822960" y="24505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822960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5" name="Text 11"/>
          <p:cNvSpPr/>
          <p:nvPr/>
        </p:nvSpPr>
        <p:spPr>
          <a:xfrm>
            <a:off x="11430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 préparés et envoyés (étiquette avant)</a:t>
            </a:r>
            <a:endParaRPr lang="fr-FR" sz="1200" noProof="0" dirty="0"/>
          </a:p>
        </p:txBody>
      </p:sp>
      <p:sp>
        <p:nvSpPr>
          <p:cNvPr id="16" name="Shape 12"/>
          <p:cNvSpPr/>
          <p:nvPr/>
        </p:nvSpPr>
        <p:spPr>
          <a:xfrm>
            <a:off x="822960" y="286207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822960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8" name="Text 14"/>
          <p:cNvSpPr/>
          <p:nvPr/>
        </p:nvSpPr>
        <p:spPr>
          <a:xfrm>
            <a:off x="114300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sécurisée (filmée ou sanglée)</a:t>
            </a:r>
            <a:endParaRPr lang="fr-FR" sz="1200" noProof="0" dirty="0"/>
          </a:p>
        </p:txBody>
      </p:sp>
      <p:sp>
        <p:nvSpPr>
          <p:cNvPr id="19" name="Shape 15"/>
          <p:cNvSpPr/>
          <p:nvPr/>
        </p:nvSpPr>
        <p:spPr>
          <a:xfrm>
            <a:off x="822960" y="327355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822960" y="3246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1" name="Text 17"/>
          <p:cNvSpPr/>
          <p:nvPr/>
        </p:nvSpPr>
        <p:spPr>
          <a:xfrm>
            <a:off x="114300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/ support en bon état vérifié</a:t>
            </a:r>
            <a:endParaRPr lang="fr-FR" sz="1200" noProof="0" dirty="0"/>
          </a:p>
        </p:txBody>
      </p:sp>
      <p:sp>
        <p:nvSpPr>
          <p:cNvPr id="22" name="Shape 18"/>
          <p:cNvSpPr/>
          <p:nvPr/>
        </p:nvSpPr>
        <p:spPr>
          <a:xfrm>
            <a:off x="822960" y="368503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19"/>
          <p:cNvSpPr/>
          <p:nvPr/>
        </p:nvSpPr>
        <p:spPr>
          <a:xfrm>
            <a:off x="82296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4" name="Text 20"/>
          <p:cNvSpPr/>
          <p:nvPr/>
        </p:nvSpPr>
        <p:spPr>
          <a:xfrm>
            <a:off x="114300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sécurisé (zéro piéton / engin)</a:t>
            </a:r>
            <a:endParaRPr lang="fr-FR" sz="1200" noProof="0" dirty="0"/>
          </a:p>
        </p:txBody>
      </p:sp>
      <p:sp>
        <p:nvSpPr>
          <p:cNvPr id="25" name="Shape 21"/>
          <p:cNvSpPr/>
          <p:nvPr/>
        </p:nvSpPr>
        <p:spPr>
          <a:xfrm>
            <a:off x="822960" y="40965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2"/>
          <p:cNvSpPr/>
          <p:nvPr/>
        </p:nvSpPr>
        <p:spPr>
          <a:xfrm>
            <a:off x="822960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11430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remis dans sa zone en fin de tournée</a:t>
            </a:r>
            <a:endParaRPr lang="fr-FR" sz="1200" noProof="0" dirty="0"/>
          </a:p>
        </p:txBody>
      </p:sp>
      <p:sp>
        <p:nvSpPr>
          <p:cNvPr id="28" name="Shape 24"/>
          <p:cNvSpPr/>
          <p:nvPr/>
        </p:nvSpPr>
        <p:spPr>
          <a:xfrm>
            <a:off x="4800600" y="141732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5"/>
          <p:cNvSpPr/>
          <p:nvPr/>
        </p:nvSpPr>
        <p:spPr>
          <a:xfrm>
            <a:off x="4800600" y="14173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6"/>
          <p:cNvSpPr/>
          <p:nvPr/>
        </p:nvSpPr>
        <p:spPr>
          <a:xfrm>
            <a:off x="5029200" y="1508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400" noProof="0" dirty="0"/>
          </a:p>
        </p:txBody>
      </p:sp>
      <p:sp>
        <p:nvSpPr>
          <p:cNvPr id="31" name="Text 27"/>
          <p:cNvSpPr/>
          <p:nvPr/>
        </p:nvSpPr>
        <p:spPr>
          <a:xfrm>
            <a:off x="5029200" y="1828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le </a:t>
            </a:r>
            <a:r>
              <a:rPr lang="fr-F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conforme. Sécurise la palette. Range. Respecte le périmètre.</a:t>
            </a:r>
            <a:endParaRPr lang="fr-FR" sz="1050" noProof="0" dirty="0"/>
          </a:p>
        </p:txBody>
      </p:sp>
      <p:sp>
        <p:nvSpPr>
          <p:cNvPr id="32" name="Shape 28"/>
          <p:cNvSpPr/>
          <p:nvPr/>
        </p:nvSpPr>
        <p:spPr>
          <a:xfrm>
            <a:off x="4800600" y="251460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9"/>
          <p:cNvSpPr/>
          <p:nvPr/>
        </p:nvSpPr>
        <p:spPr>
          <a:xfrm>
            <a:off x="4800600" y="251460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0"/>
          <p:cNvSpPr/>
          <p:nvPr/>
        </p:nvSpPr>
        <p:spPr>
          <a:xfrm>
            <a:off x="502920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400" noProof="0" dirty="0"/>
          </a:p>
        </p:txBody>
      </p:sp>
      <p:sp>
        <p:nvSpPr>
          <p:cNvPr id="35" name="Text 31"/>
          <p:cNvSpPr/>
          <p:nvPr/>
        </p:nvSpPr>
        <p:spPr>
          <a:xfrm>
            <a:off x="502920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Contrôlent les palettes. Forment au gerbage sécurisé. Suivent les écarts.</a:t>
            </a:r>
            <a:endParaRPr lang="fr-FR" sz="1050" noProof="0" dirty="0"/>
          </a:p>
        </p:txBody>
      </p:sp>
      <p:sp>
        <p:nvSpPr>
          <p:cNvPr id="36" name="Shape 32"/>
          <p:cNvSpPr/>
          <p:nvPr/>
        </p:nvSpPr>
        <p:spPr>
          <a:xfrm>
            <a:off x="4800600" y="361188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3"/>
          <p:cNvSpPr/>
          <p:nvPr/>
        </p:nvSpPr>
        <p:spPr>
          <a:xfrm>
            <a:off x="4800600" y="36118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4"/>
          <p:cNvSpPr/>
          <p:nvPr/>
        </p:nvSpPr>
        <p:spPr>
          <a:xfrm>
            <a:off x="502920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exploitation</a:t>
            </a:r>
            <a:endParaRPr lang="fr-FR" sz="1400" noProof="0" dirty="0"/>
          </a:p>
        </p:txBody>
      </p:sp>
      <p:sp>
        <p:nvSpPr>
          <p:cNvPr id="39" name="Text 35"/>
          <p:cNvSpPr/>
          <p:nvPr/>
        </p:nvSpPr>
        <p:spPr>
          <a:xfrm>
            <a:off x="5029200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les incidents de gerbage. Maintient le </a:t>
            </a:r>
            <a:r>
              <a:rPr lang="fr-FR" sz="10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Anime les actions correctives.</a:t>
            </a:r>
            <a:endParaRPr lang="fr-FR" sz="1050" noProof="0" dirty="0"/>
          </a:p>
        </p:txBody>
      </p:sp>
      <p:sp>
        <p:nvSpPr>
          <p:cNvPr id="40" name="Text 36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STD-PP-P6  •  Préparation </a:t>
            </a:r>
            <a:r>
              <a:rPr lang="fr-FR" sz="900" kern="0" spc="3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r>
              <a:rPr lang="fr-FR" sz="900" kern="0" spc="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palette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sécurisée.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5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P6   •   PRÉPARATION RETRACT   •   REXEL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432</Words>
  <Application>Microsoft Office PowerPoint</Application>
  <PresentationFormat>Affichage à l'écran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P1 - Prise de poste</dc:title>
  <dc:subject>PptxGenJS Presentation</dc:subject>
  <dc:creator>Rexel CLR Champigneulles</dc:creator>
  <cp:lastModifiedBy>Georges, Charlene</cp:lastModifiedBy>
  <cp:revision>3</cp:revision>
  <dcterms:created xsi:type="dcterms:W3CDTF">2026-04-21T20:30:49Z</dcterms:created>
  <dcterms:modified xsi:type="dcterms:W3CDTF">2026-06-03T14:50:03Z</dcterms:modified>
</cp:coreProperties>
</file>